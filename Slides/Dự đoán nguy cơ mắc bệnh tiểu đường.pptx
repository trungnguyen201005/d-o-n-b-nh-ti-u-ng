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8" r:id="rId3"/>
    <p:sldId id="272" r:id="rId4"/>
    <p:sldId id="257" r:id="rId5"/>
    <p:sldId id="274" r:id="rId6"/>
    <p:sldId id="273" r:id="rId7"/>
    <p:sldId id="275" r:id="rId8"/>
    <p:sldId id="276" r:id="rId9"/>
    <p:sldId id="261" r:id="rId10"/>
    <p:sldId id="262" r:id="rId11"/>
    <p:sldId id="260"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mbria Math" panose="02040503050406030204" pitchFamily="18" charset="0"/>
      <p:regular r:id="rId23"/>
    </p:embeddedFont>
    <p:embeddedFont>
      <p:font typeface="Muli" panose="020B0604020202020204" charset="0"/>
      <p:regular r:id="rId24"/>
    </p:embeddedFont>
    <p:embeddedFont>
      <p:font typeface="Muli Bold" panose="020B0604020202020204" charset="0"/>
      <p:regular r:id="rId25"/>
    </p:embeddedFont>
    <p:embeddedFont>
      <p:font typeface="Muli Light" panose="020B0604020202020204" charset="0"/>
      <p:regular r:id="rId26"/>
    </p:embeddedFont>
    <p:embeddedFont>
      <p:font typeface="Muli Semi-Bold" panose="020B0604020202020204" charset="0"/>
      <p:regular r:id="rId27"/>
    </p:embeddedFont>
    <p:embeddedFont>
      <p:font typeface="Muli Ultra-Bold" panose="020B0604020202020204" charset="0"/>
      <p:regular r:id="rId28"/>
    </p:embeddedFont>
    <p:embeddedFont>
      <p:font typeface="Noto Sans" panose="020B0502040504020204" pitchFamily="34" charset="0"/>
      <p:regular r:id="rId29"/>
      <p:bold r:id="rId30"/>
      <p:italic r:id="rId31"/>
      <p:boldItalic r:id="rId32"/>
    </p:embeddedFont>
    <p:embeddedFont>
      <p:font typeface="Noto Sans Bold" panose="020B0802040504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0874" autoAdjust="0"/>
  </p:normalViewPr>
  <p:slideViewPr>
    <p:cSldViewPr>
      <p:cViewPr varScale="1">
        <p:scale>
          <a:sx n="55" d="100"/>
          <a:sy n="55" d="100"/>
        </p:scale>
        <p:origin x="744" y="3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80C57E-6804-4B7A-8C31-750D8389E2D4}"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3EC248-DF91-43A7-A2A6-1EF8348B15F3}" type="slidenum">
              <a:rPr lang="en-US" smtClean="0"/>
              <a:t>‹#›</a:t>
            </a:fld>
            <a:endParaRPr lang="en-US"/>
          </a:p>
        </p:txBody>
      </p:sp>
    </p:spTree>
    <p:extLst>
      <p:ext uri="{BB962C8B-B14F-4D97-AF65-F5344CB8AC3E}">
        <p14:creationId xmlns:p14="http://schemas.microsoft.com/office/powerpoint/2010/main" val="2159931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Kính chào thầy/cô. Em là Nguyễn Trung Nguyên.</a:t>
            </a:r>
            <a:br>
              <a:rPr lang="vi-VN" dirty="0"/>
            </a:br>
            <a:r>
              <a:rPr lang="vi-VN" dirty="0"/>
              <a:t>Hôm nay em xin trình bày đề tài </a:t>
            </a:r>
            <a:r>
              <a:rPr lang="vi-VN" i="1" dirty="0"/>
              <a:t>Dự đoán nguy cơ mắc bệnh tiểu đường bằng Machine Learning</a:t>
            </a:r>
            <a:r>
              <a:rPr lang="vi-VN" dirty="0"/>
              <a:t>.</a:t>
            </a:r>
            <a:br>
              <a:rPr lang="vi-VN" dirty="0"/>
            </a:br>
            <a:r>
              <a:rPr lang="vi-VN" dirty="0"/>
              <a:t>Mục tiêu là tìm ra mô hình tối ưu và những yếu tố quan trọng ảnh hưởng đến khả năng mắc tiểu đường.</a:t>
            </a:r>
            <a:endParaRPr lang="en-US" dirty="0"/>
          </a:p>
        </p:txBody>
      </p:sp>
      <p:sp>
        <p:nvSpPr>
          <p:cNvPr id="4" name="Slide Number Placeholder 3"/>
          <p:cNvSpPr>
            <a:spLocks noGrp="1"/>
          </p:cNvSpPr>
          <p:nvPr>
            <p:ph type="sldNum" sz="quarter" idx="5"/>
          </p:nvPr>
        </p:nvSpPr>
        <p:spPr/>
        <p:txBody>
          <a:bodyPr/>
          <a:lstStyle/>
          <a:p>
            <a:fld id="{A13EC248-DF91-43A7-A2A6-1EF8348B15F3}" type="slidenum">
              <a:rPr lang="en-US" smtClean="0"/>
              <a:t>1</a:t>
            </a:fld>
            <a:endParaRPr lang="en-US"/>
          </a:p>
        </p:txBody>
      </p:sp>
    </p:spTree>
    <p:extLst>
      <p:ext uri="{BB962C8B-B14F-4D97-AF65-F5344CB8AC3E}">
        <p14:creationId xmlns:p14="http://schemas.microsoft.com/office/powerpoint/2010/main" val="2004331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Tỉ lệ tiểu đường type 2 đang tăng rất nhanh, nhất là ở các nước đang phát triển.</a:t>
            </a:r>
            <a:br>
              <a:rPr lang="vi-VN" dirty="0"/>
            </a:br>
            <a:r>
              <a:rPr lang="vi-VN" dirty="0"/>
              <a:t>Việc phát hiện sớm giúp giảm nguy cơ biến chứng như tim mạch, suy thận hoặc mất thị lực.</a:t>
            </a:r>
            <a:br>
              <a:rPr lang="vi-VN" dirty="0"/>
            </a:br>
            <a:r>
              <a:rPr lang="vi-VN" dirty="0"/>
              <a:t>Machine Learning cho phép dự đoán nhanh và chính xác, hỗ trợ sàng lọc ban đầu rất hiệu quả.</a:t>
            </a:r>
            <a:br>
              <a:rPr lang="vi-VN" dirty="0"/>
            </a:br>
            <a:r>
              <a:rPr lang="vi-VN" dirty="0"/>
              <a:t>Đó là lý do em chọn đề tài này.</a:t>
            </a:r>
            <a:endParaRPr lang="en-US" dirty="0"/>
          </a:p>
        </p:txBody>
      </p:sp>
      <p:sp>
        <p:nvSpPr>
          <p:cNvPr id="4" name="Slide Number Placeholder 3"/>
          <p:cNvSpPr>
            <a:spLocks noGrp="1"/>
          </p:cNvSpPr>
          <p:nvPr>
            <p:ph type="sldNum" sz="quarter" idx="5"/>
          </p:nvPr>
        </p:nvSpPr>
        <p:spPr/>
        <p:txBody>
          <a:bodyPr/>
          <a:lstStyle/>
          <a:p>
            <a:fld id="{A13EC248-DF91-43A7-A2A6-1EF8348B15F3}" type="slidenum">
              <a:rPr lang="en-US" smtClean="0"/>
              <a:t>2</a:t>
            </a:fld>
            <a:endParaRPr lang="en-US"/>
          </a:p>
        </p:txBody>
      </p:sp>
    </p:spTree>
    <p:extLst>
      <p:ext uri="{BB962C8B-B14F-4D97-AF65-F5344CB8AC3E}">
        <p14:creationId xmlns:p14="http://schemas.microsoft.com/office/powerpoint/2010/main" val="3886864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Em sử dụng 4 mô hình cơ bản nhưng phổ biến trong phân loại:</a:t>
            </a:r>
            <a:br>
              <a:rPr lang="vi-VN" dirty="0"/>
            </a:br>
            <a:r>
              <a:rPr lang="vi-VN" dirty="0"/>
              <a:t>Logistic Regression, Naive Bayes, Random Forest và KNN.</a:t>
            </a:r>
            <a:br>
              <a:rPr lang="vi-VN" dirty="0"/>
            </a:br>
            <a:r>
              <a:rPr lang="vi-VN" dirty="0"/>
              <a:t>Mục tiêu là tìm mô hình phù hợp nhất cho bộ dữ liệu tiểu đường.</a:t>
            </a:r>
            <a:endParaRPr lang="en-US" dirty="0"/>
          </a:p>
        </p:txBody>
      </p:sp>
      <p:sp>
        <p:nvSpPr>
          <p:cNvPr id="4" name="Slide Number Placeholder 3"/>
          <p:cNvSpPr>
            <a:spLocks noGrp="1"/>
          </p:cNvSpPr>
          <p:nvPr>
            <p:ph type="sldNum" sz="quarter" idx="5"/>
          </p:nvPr>
        </p:nvSpPr>
        <p:spPr/>
        <p:txBody>
          <a:bodyPr/>
          <a:lstStyle/>
          <a:p>
            <a:fld id="{A13EC248-DF91-43A7-A2A6-1EF8348B15F3}" type="slidenum">
              <a:rPr lang="en-US" smtClean="0"/>
              <a:t>4</a:t>
            </a:fld>
            <a:endParaRPr lang="en-US"/>
          </a:p>
        </p:txBody>
      </p:sp>
    </p:spTree>
    <p:extLst>
      <p:ext uri="{BB962C8B-B14F-4D97-AF65-F5344CB8AC3E}">
        <p14:creationId xmlns:p14="http://schemas.microsoft.com/office/powerpoint/2010/main" val="4115635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Lời dẫn:</a:t>
            </a:r>
            <a:endParaRPr lang="vi-VN" dirty="0"/>
          </a:p>
          <a:p>
            <a:r>
              <a:rPr lang="vi-VN" dirty="0"/>
              <a:t>Dataset sử dụng là Pima Indians Diabetes, bao gồm khoảng 768 mẫu, 8 đặc trưng: Pregnancies, Glucose, BloodPressure, SkinThickness, Insulin, BMI, DiabetesPedigreeFunction, Age và nhãn Outcome (0/1).</a:t>
            </a:r>
          </a:p>
          <a:p>
            <a:r>
              <a:rPr lang="vi-VN" b="1" dirty="0"/>
              <a:t>Giải thích chi tiết:</a:t>
            </a:r>
            <a:endParaRPr lang="vi-VN" dirty="0"/>
          </a:p>
          <a:p>
            <a:r>
              <a:rPr lang="vi-VN" dirty="0"/>
              <a:t>Mô tả ngắn từng feature (ý nghĩa y học): Glucose: đường huyết; BMI: chỉ số khối cơ thể; DPF: yếu tố di truyền; v.v.</a:t>
            </a:r>
          </a:p>
          <a:p>
            <a:r>
              <a:rPr lang="vi-VN" dirty="0"/>
              <a:t>Nêu vấn đề: nhiều biến có giá trị 0 không hợp lệ (ví dụ Glucose=0) → cần xử lý.</a:t>
            </a:r>
          </a:p>
          <a:p>
            <a:endParaRPr lang="en-US" dirty="0"/>
          </a:p>
        </p:txBody>
      </p:sp>
      <p:sp>
        <p:nvSpPr>
          <p:cNvPr id="4" name="Slide Number Placeholder 3"/>
          <p:cNvSpPr>
            <a:spLocks noGrp="1"/>
          </p:cNvSpPr>
          <p:nvPr>
            <p:ph type="sldNum" sz="quarter" idx="5"/>
          </p:nvPr>
        </p:nvSpPr>
        <p:spPr/>
        <p:txBody>
          <a:bodyPr/>
          <a:lstStyle/>
          <a:p>
            <a:fld id="{A13EC248-DF91-43A7-A2A6-1EF8348B15F3}" type="slidenum">
              <a:rPr lang="en-US" smtClean="0"/>
              <a:t>6</a:t>
            </a:fld>
            <a:endParaRPr lang="en-US"/>
          </a:p>
        </p:txBody>
      </p:sp>
    </p:spTree>
    <p:extLst>
      <p:ext uri="{BB962C8B-B14F-4D97-AF65-F5344CB8AC3E}">
        <p14:creationId xmlns:p14="http://schemas.microsoft.com/office/powerpoint/2010/main" val="260394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Biểu đồ tuổi cho thấy dữ liệu bị lệch trái, nghĩa là phần lớn mẫu thuộc nhóm tuổi trẻ–trung niên.</a:t>
            </a:r>
            <a:br>
              <a:rPr lang="vi-VN" dirty="0"/>
            </a:br>
            <a:r>
              <a:rPr lang="vi-VN" dirty="0"/>
              <a:t>Điều này có thể làm mô hình học thiên lệch nếu không được xử lý cẩn thận.</a:t>
            </a:r>
            <a:endParaRPr lang="en-US" dirty="0"/>
          </a:p>
        </p:txBody>
      </p:sp>
      <p:sp>
        <p:nvSpPr>
          <p:cNvPr id="4" name="Slide Number Placeholder 3"/>
          <p:cNvSpPr>
            <a:spLocks noGrp="1"/>
          </p:cNvSpPr>
          <p:nvPr>
            <p:ph type="sldNum" sz="quarter" idx="5"/>
          </p:nvPr>
        </p:nvSpPr>
        <p:spPr/>
        <p:txBody>
          <a:bodyPr/>
          <a:lstStyle/>
          <a:p>
            <a:fld id="{A13EC248-DF91-43A7-A2A6-1EF8348B15F3}" type="slidenum">
              <a:rPr lang="en-US" smtClean="0"/>
              <a:t>8</a:t>
            </a:fld>
            <a:endParaRPr lang="en-US"/>
          </a:p>
        </p:txBody>
      </p:sp>
    </p:spTree>
    <p:extLst>
      <p:ext uri="{BB962C8B-B14F-4D97-AF65-F5344CB8AC3E}">
        <p14:creationId xmlns:p14="http://schemas.microsoft.com/office/powerpoint/2010/main" val="2646664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Lời dẫn:</a:t>
            </a:r>
            <a:endParaRPr lang="vi-VN" dirty="0"/>
          </a:p>
          <a:p>
            <a:r>
              <a:rPr lang="vi-VN" dirty="0"/>
              <a:t>Đây là biểu đồ mật độ Glucose (KDE). Ta thấy đỉnh phân bố của nhóm “có bệnh” chuyển về phía phải — tức giá trị glucose cao hơn.</a:t>
            </a:r>
          </a:p>
          <a:p>
            <a:r>
              <a:rPr lang="vi-VN" b="1" dirty="0"/>
              <a:t>Giải thích sâu:</a:t>
            </a:r>
            <a:endParaRPr lang="vi-VN" dirty="0"/>
          </a:p>
          <a:p>
            <a:r>
              <a:rPr lang="vi-VN" dirty="0"/>
              <a:t>Nêu ngưỡng y khoa: glucose ≥ 126 mg/dL nghi ngờ tiểu đường, 100–125 tiền tiểu đường.</a:t>
            </a:r>
          </a:p>
          <a:p>
            <a:r>
              <a:rPr lang="vi-VN" dirty="0"/>
              <a:t>Giải thích vì sao Glucose là feature quan trọng: trực tiếp phản ánh rối loạn chuyển hóa đường.</a:t>
            </a:r>
          </a:p>
          <a:p>
            <a:r>
              <a:rPr lang="vi-VN" b="1" dirty="0"/>
              <a:t>Takeaways:</a:t>
            </a:r>
            <a:endParaRPr lang="vi-VN" dirty="0"/>
          </a:p>
          <a:p>
            <a:r>
              <a:rPr lang="vi-VN" dirty="0"/>
              <a:t>Glucose là chỉ số quyết định → mô hình học dễ phân tách 2 lớp dựa trên biến này.</a:t>
            </a:r>
          </a:p>
          <a:p>
            <a:endParaRPr lang="en-US" dirty="0"/>
          </a:p>
        </p:txBody>
      </p:sp>
      <p:sp>
        <p:nvSpPr>
          <p:cNvPr id="4" name="Slide Number Placeholder 3"/>
          <p:cNvSpPr>
            <a:spLocks noGrp="1"/>
          </p:cNvSpPr>
          <p:nvPr>
            <p:ph type="sldNum" sz="quarter" idx="5"/>
          </p:nvPr>
        </p:nvSpPr>
        <p:spPr/>
        <p:txBody>
          <a:bodyPr/>
          <a:lstStyle/>
          <a:p>
            <a:fld id="{A13EC248-DF91-43A7-A2A6-1EF8348B15F3}" type="slidenum">
              <a:rPr lang="en-US" smtClean="0"/>
              <a:t>9</a:t>
            </a:fld>
            <a:endParaRPr lang="en-US"/>
          </a:p>
        </p:txBody>
      </p:sp>
    </p:spTree>
    <p:extLst>
      <p:ext uri="{BB962C8B-B14F-4D97-AF65-F5344CB8AC3E}">
        <p14:creationId xmlns:p14="http://schemas.microsoft.com/office/powerpoint/2010/main" val="387079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 </a:t>
            </a:r>
            <a:r>
              <a:rPr lang="en-US" dirty="0" err="1"/>
              <a:t>có</a:t>
            </a:r>
            <a:r>
              <a:rPr lang="en-US" dirty="0"/>
              <a:t> </a:t>
            </a:r>
            <a:r>
              <a:rPr lang="en-US" dirty="0" err="1"/>
              <a:t>thể</a:t>
            </a:r>
            <a:r>
              <a:rPr lang="en-US" dirty="0"/>
              <a:t> </a:t>
            </a:r>
            <a:r>
              <a:rPr lang="en-US" dirty="0" err="1"/>
              <a:t>thấy</a:t>
            </a:r>
            <a:r>
              <a:rPr lang="en-US" dirty="0"/>
              <a:t> </a:t>
            </a:r>
            <a:r>
              <a:rPr lang="en-US" dirty="0" err="1"/>
              <a:t>biểu</a:t>
            </a:r>
            <a:r>
              <a:rPr lang="en-US" dirty="0"/>
              <a:t> </a:t>
            </a:r>
            <a:r>
              <a:rPr lang="en-US" dirty="0" err="1"/>
              <a:t>đồ</a:t>
            </a:r>
            <a:r>
              <a:rPr lang="en-US" dirty="0"/>
              <a:t> </a:t>
            </a:r>
            <a:r>
              <a:rPr lang="en-US" dirty="0" err="1"/>
              <a:t>có</a:t>
            </a:r>
            <a:r>
              <a:rPr lang="en-US" dirty="0"/>
              <a:t> </a:t>
            </a:r>
            <a:r>
              <a:rPr lang="en-US" dirty="0" err="1"/>
              <a:t>su</a:t>
            </a:r>
            <a:r>
              <a:rPr lang="en-US" dirty="0"/>
              <a:t> </a:t>
            </a:r>
            <a:r>
              <a:rPr lang="en-US" dirty="0" err="1"/>
              <a:t>hướng</a:t>
            </a:r>
            <a:r>
              <a:rPr lang="en-US" dirty="0"/>
              <a:t> </a:t>
            </a:r>
            <a:r>
              <a:rPr lang="en-US" dirty="0" err="1"/>
              <a:t>đi</a:t>
            </a:r>
            <a:r>
              <a:rPr lang="en-US" dirty="0"/>
              <a:t> </a:t>
            </a:r>
            <a:r>
              <a:rPr lang="en-US" dirty="0" err="1"/>
              <a:t>lên</a:t>
            </a:r>
            <a:r>
              <a:rPr lang="en-US" dirty="0"/>
              <a:t> </a:t>
            </a:r>
            <a:r>
              <a:rPr lang="en-US" dirty="0" err="1"/>
              <a:t>từ</a:t>
            </a:r>
            <a:r>
              <a:rPr lang="en-US" dirty="0"/>
              <a:t> </a:t>
            </a:r>
            <a:r>
              <a:rPr lang="en-US" dirty="0" err="1"/>
              <a:t>trái</a:t>
            </a:r>
            <a:r>
              <a:rPr lang="en-US" dirty="0"/>
              <a:t> </a:t>
            </a:r>
            <a:r>
              <a:rPr lang="en-US" dirty="0" err="1"/>
              <a:t>sáng</a:t>
            </a:r>
            <a:r>
              <a:rPr lang="en-US" dirty="0"/>
              <a:t> </a:t>
            </a:r>
            <a:r>
              <a:rPr lang="en-US" dirty="0" err="1"/>
              <a:t>phải</a:t>
            </a:r>
            <a:r>
              <a:rPr lang="en-US" dirty="0"/>
              <a:t> . </a:t>
            </a:r>
            <a:r>
              <a:rPr lang="en-US" dirty="0" err="1"/>
              <a:t>Điều</a:t>
            </a:r>
            <a:r>
              <a:rPr lang="en-US" dirty="0"/>
              <a:t> </a:t>
            </a:r>
            <a:r>
              <a:rPr lang="en-US" dirty="0" err="1"/>
              <a:t>này</a:t>
            </a:r>
            <a:r>
              <a:rPr lang="en-US" dirty="0"/>
              <a:t> </a:t>
            </a:r>
            <a:r>
              <a:rPr lang="en-US" dirty="0" err="1"/>
              <a:t>có</a:t>
            </a:r>
            <a:r>
              <a:rPr lang="en-US" dirty="0"/>
              <a:t> </a:t>
            </a:r>
            <a:r>
              <a:rPr lang="en-US" dirty="0" err="1"/>
              <a:t>nghĩ</a:t>
            </a:r>
            <a:r>
              <a:rPr lang="en-US" dirty="0"/>
              <a:t> </a:t>
            </a:r>
            <a:r>
              <a:rPr lang="en-US" dirty="0" err="1"/>
              <a:t>là</a:t>
            </a:r>
            <a:r>
              <a:rPr lang="en-US" dirty="0"/>
              <a:t> </a:t>
            </a:r>
            <a:r>
              <a:rPr lang="en-US" dirty="0" err="1"/>
              <a:t>tỉ</a:t>
            </a:r>
            <a:r>
              <a:rPr lang="en-US" dirty="0"/>
              <a:t> </a:t>
            </a:r>
            <a:r>
              <a:rPr lang="en-US" dirty="0" err="1"/>
              <a:t>lệ</a:t>
            </a:r>
            <a:r>
              <a:rPr lang="en-US" dirty="0"/>
              <a:t> </a:t>
            </a:r>
            <a:r>
              <a:rPr lang="en-US" dirty="0" err="1"/>
              <a:t>giữa</a:t>
            </a:r>
            <a:r>
              <a:rPr lang="en-US" dirty="0"/>
              <a:t>  </a:t>
            </a:r>
            <a:r>
              <a:rPr lang="en-US" dirty="0" err="1"/>
              <a:t>huyết</a:t>
            </a:r>
            <a:r>
              <a:rPr lang="en-US" dirty="0"/>
              <a:t> </a:t>
            </a:r>
            <a:r>
              <a:rPr lang="en-US" dirty="0" err="1"/>
              <a:t>áp</a:t>
            </a:r>
            <a:r>
              <a:rPr lang="en-US" dirty="0"/>
              <a:t> </a:t>
            </a:r>
            <a:r>
              <a:rPr lang="en-US" dirty="0" err="1"/>
              <a:t>và</a:t>
            </a:r>
            <a:r>
              <a:rPr lang="en-US" dirty="0"/>
              <a:t> BMI </a:t>
            </a:r>
            <a:r>
              <a:rPr lang="en-US" dirty="0" err="1"/>
              <a:t>tỉ</a:t>
            </a:r>
            <a:r>
              <a:rPr lang="en-US" dirty="0"/>
              <a:t> </a:t>
            </a:r>
            <a:r>
              <a:rPr lang="en-US" dirty="0" err="1"/>
              <a:t>lệ</a:t>
            </a:r>
            <a:r>
              <a:rPr lang="en-US" dirty="0"/>
              <a:t> </a:t>
            </a:r>
            <a:r>
              <a:rPr lang="en-US" dirty="0" err="1"/>
              <a:t>thuật</a:t>
            </a:r>
            <a:r>
              <a:rPr lang="en-US" dirty="0"/>
              <a:t> =&gt; </a:t>
            </a:r>
            <a:r>
              <a:rPr lang="en-US" dirty="0" err="1"/>
              <a:t>tức</a:t>
            </a:r>
            <a:r>
              <a:rPr lang="en-US" dirty="0"/>
              <a:t> </a:t>
            </a:r>
            <a:r>
              <a:rPr lang="en-US" dirty="0" err="1"/>
              <a:t>là</a:t>
            </a:r>
            <a:r>
              <a:rPr lang="en-US" dirty="0"/>
              <a:t> </a:t>
            </a:r>
            <a:r>
              <a:rPr lang="en-US" dirty="0" err="1"/>
              <a:t>người</a:t>
            </a:r>
            <a:r>
              <a:rPr lang="en-US" dirty="0"/>
              <a:t> </a:t>
            </a:r>
            <a:r>
              <a:rPr lang="en-US" dirty="0" err="1"/>
              <a:t>nào</a:t>
            </a:r>
            <a:r>
              <a:rPr lang="en-US" dirty="0"/>
              <a:t> </a:t>
            </a:r>
            <a:r>
              <a:rPr lang="en-US" dirty="0" err="1"/>
              <a:t>có</a:t>
            </a:r>
            <a:r>
              <a:rPr lang="en-US" dirty="0"/>
              <a:t> BMI </a:t>
            </a:r>
            <a:r>
              <a:rPr lang="en-US" dirty="0" err="1"/>
              <a:t>cao</a:t>
            </a:r>
            <a:r>
              <a:rPr lang="en-US" dirty="0"/>
              <a:t> </a:t>
            </a:r>
            <a:r>
              <a:rPr lang="en-US" dirty="0" err="1"/>
              <a:t>thì</a:t>
            </a:r>
            <a:r>
              <a:rPr lang="en-US" dirty="0"/>
              <a:t> </a:t>
            </a:r>
            <a:r>
              <a:rPr lang="en-US" dirty="0" err="1"/>
              <a:t>huyết</a:t>
            </a:r>
            <a:r>
              <a:rPr lang="en-US" dirty="0"/>
              <a:t> </a:t>
            </a:r>
            <a:r>
              <a:rPr lang="en-US" dirty="0" err="1"/>
              <a:t>áp</a:t>
            </a:r>
            <a:r>
              <a:rPr lang="en-US" dirty="0"/>
              <a:t> </a:t>
            </a:r>
            <a:r>
              <a:rPr lang="en-US" dirty="0" err="1"/>
              <a:t>cũng</a:t>
            </a:r>
            <a:r>
              <a:rPr lang="en-US" dirty="0"/>
              <a:t> </a:t>
            </a:r>
            <a:r>
              <a:rPr lang="en-US" dirty="0" err="1"/>
              <a:t>cao</a:t>
            </a:r>
            <a:r>
              <a:rPr lang="en-US" dirty="0"/>
              <a:t> </a:t>
            </a:r>
            <a:r>
              <a:rPr lang="en-US" dirty="0" err="1"/>
              <a:t>và</a:t>
            </a:r>
            <a:r>
              <a:rPr lang="en-US" dirty="0"/>
              <a:t> </a:t>
            </a:r>
            <a:r>
              <a:rPr lang="en-US" dirty="0" err="1"/>
              <a:t>ngược</a:t>
            </a:r>
            <a:r>
              <a:rPr lang="en-US" dirty="0"/>
              <a:t> </a:t>
            </a:r>
            <a:r>
              <a:rPr lang="en-US" dirty="0" err="1"/>
              <a:t>lại</a:t>
            </a:r>
            <a:endParaRPr lang="en-US" dirty="0"/>
          </a:p>
        </p:txBody>
      </p:sp>
      <p:sp>
        <p:nvSpPr>
          <p:cNvPr id="4" name="Slide Number Placeholder 3"/>
          <p:cNvSpPr>
            <a:spLocks noGrp="1"/>
          </p:cNvSpPr>
          <p:nvPr>
            <p:ph type="sldNum" sz="quarter" idx="5"/>
          </p:nvPr>
        </p:nvSpPr>
        <p:spPr/>
        <p:txBody>
          <a:bodyPr/>
          <a:lstStyle/>
          <a:p>
            <a:fld id="{A13EC248-DF91-43A7-A2A6-1EF8348B15F3}" type="slidenum">
              <a:rPr lang="en-US" smtClean="0"/>
              <a:t>10</a:t>
            </a:fld>
            <a:endParaRPr lang="en-US"/>
          </a:p>
        </p:txBody>
      </p:sp>
    </p:spTree>
    <p:extLst>
      <p:ext uri="{BB962C8B-B14F-4D97-AF65-F5344CB8AC3E}">
        <p14:creationId xmlns:p14="http://schemas.microsoft.com/office/powerpoint/2010/main" val="22882777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Lời dẫn:</a:t>
            </a:r>
            <a:endParaRPr lang="vi-VN" dirty="0"/>
          </a:p>
          <a:p>
            <a:r>
              <a:rPr lang="vi-VN" dirty="0"/>
              <a:t>Đây là heatmap tương quan. Ta thấy Glucose có tương quan mạnh nhất với Outcome, tiếp theo BMI và Age. Một số cặp như SkinThickness-BMI cũng tương quan vì lý do sinh lý.</a:t>
            </a:r>
          </a:p>
          <a:p>
            <a:r>
              <a:rPr lang="vi-VN" b="1" dirty="0"/>
              <a:t>Giải thích sâu:</a:t>
            </a:r>
            <a:endParaRPr lang="vi-VN" dirty="0"/>
          </a:p>
          <a:p>
            <a:r>
              <a:rPr lang="vi-VN" dirty="0"/>
              <a:t>Giải thích Pearson correlation nhanh: hiển thị quan hệ tuyến tính.</a:t>
            </a:r>
          </a:p>
          <a:p>
            <a:r>
              <a:rPr lang="vi-VN" dirty="0"/>
              <a:t>Nếu có multicollinearity mạnh → cần cân nhắc regularization hoặc loại bớt feature.</a:t>
            </a:r>
          </a:p>
          <a:p>
            <a:endParaRPr lang="en-US" dirty="0"/>
          </a:p>
        </p:txBody>
      </p:sp>
      <p:sp>
        <p:nvSpPr>
          <p:cNvPr id="4" name="Slide Number Placeholder 3"/>
          <p:cNvSpPr>
            <a:spLocks noGrp="1"/>
          </p:cNvSpPr>
          <p:nvPr>
            <p:ph type="sldNum" sz="quarter" idx="5"/>
          </p:nvPr>
        </p:nvSpPr>
        <p:spPr/>
        <p:txBody>
          <a:bodyPr/>
          <a:lstStyle/>
          <a:p>
            <a:fld id="{A13EC248-DF91-43A7-A2A6-1EF8348B15F3}" type="slidenum">
              <a:rPr lang="en-US" smtClean="0"/>
              <a:t>12</a:t>
            </a:fld>
            <a:endParaRPr lang="en-US"/>
          </a:p>
        </p:txBody>
      </p:sp>
    </p:spTree>
    <p:extLst>
      <p:ext uri="{BB962C8B-B14F-4D97-AF65-F5344CB8AC3E}">
        <p14:creationId xmlns:p14="http://schemas.microsoft.com/office/powerpoint/2010/main" val="4128497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Lời dẫn:</a:t>
            </a:r>
            <a:endParaRPr lang="vi-VN" dirty="0"/>
          </a:p>
          <a:p>
            <a:r>
              <a:rPr lang="vi-VN" dirty="0"/>
              <a:t>Tiền xử lý gồm: thay giá trị 0 không hợp lệ thành NaN, impute bằng median, chuẩn hóa bằng StandardScaler, tách train/test (80/20) với stratify. Tất cả được gói trong ColumnTransformer/ Pipeline.</a:t>
            </a:r>
          </a:p>
          <a:p>
            <a:r>
              <a:rPr lang="vi-VN" b="1" dirty="0"/>
              <a:t>Giải thích chuyên sâu:</a:t>
            </a:r>
            <a:endParaRPr lang="vi-VN" dirty="0"/>
          </a:p>
          <a:p>
            <a:r>
              <a:rPr lang="vi-VN" i="1" dirty="0"/>
              <a:t>Tại sao median?</a:t>
            </a:r>
            <a:r>
              <a:rPr lang="vi-VN" dirty="0"/>
              <a:t> → median ít bị ảnh hưởng bởi outlier hơn mean, phù hợp cho dữ liệu y tế.</a:t>
            </a:r>
          </a:p>
          <a:p>
            <a:r>
              <a:rPr lang="vi-VN" i="1" dirty="0"/>
              <a:t>Tại sao StandardScaler?</a:t>
            </a:r>
            <a:r>
              <a:rPr lang="vi-VN" dirty="0"/>
              <a:t> → chuẩn hóa cho LR và KNN; RF không yêu cầu nhưng không hại.</a:t>
            </a:r>
          </a:p>
          <a:p>
            <a:r>
              <a:rPr lang="vi-VN" i="1" dirty="0"/>
              <a:t>Tại sao dùng Pipeline?</a:t>
            </a:r>
            <a:r>
              <a:rPr lang="vi-VN" dirty="0"/>
              <a:t> → tránh rò rỉ dữ liệu, đảm bảo train/test cùng quy trình tiền xử lý.</a:t>
            </a:r>
          </a:p>
          <a:p>
            <a:endParaRPr lang="en-US" dirty="0"/>
          </a:p>
        </p:txBody>
      </p:sp>
      <p:sp>
        <p:nvSpPr>
          <p:cNvPr id="4" name="Slide Number Placeholder 3"/>
          <p:cNvSpPr>
            <a:spLocks noGrp="1"/>
          </p:cNvSpPr>
          <p:nvPr>
            <p:ph type="sldNum" sz="quarter" idx="5"/>
          </p:nvPr>
        </p:nvSpPr>
        <p:spPr/>
        <p:txBody>
          <a:bodyPr/>
          <a:lstStyle/>
          <a:p>
            <a:fld id="{A13EC248-DF91-43A7-A2A6-1EF8348B15F3}" type="slidenum">
              <a:rPr lang="en-US" smtClean="0"/>
              <a:t>13</a:t>
            </a:fld>
            <a:endParaRPr lang="en-US"/>
          </a:p>
        </p:txBody>
      </p:sp>
    </p:spTree>
    <p:extLst>
      <p:ext uri="{BB962C8B-B14F-4D97-AF65-F5344CB8AC3E}">
        <p14:creationId xmlns:p14="http://schemas.microsoft.com/office/powerpoint/2010/main" val="23769805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Lời dẫn:</a:t>
            </a:r>
            <a:endParaRPr lang="vi-VN" dirty="0"/>
          </a:p>
          <a:p>
            <a:r>
              <a:rPr lang="vi-VN" dirty="0"/>
              <a:t>Em đã thử tạo một số feature: Age_Group, BMI_category, Glucose_Level; có thử interaction </a:t>
            </a:r>
            <a:r>
              <a:rPr lang="vi-VN" sz="1200" kern="1200" dirty="0">
                <a:solidFill>
                  <a:schemeClr val="tx1"/>
                </a:solidFill>
                <a:latin typeface="+mn-lt"/>
                <a:ea typeface="+mn-ea"/>
                <a:cs typeface="+mn-cs"/>
              </a:rPr>
              <a:t>BMI*Glucose</a:t>
            </a:r>
            <a:r>
              <a:rPr lang="vi-VN" dirty="0"/>
              <a:t>. Những feature này giúp mô hình bắt pattern phi tuyến và tăng tính giải thích.</a:t>
            </a:r>
          </a:p>
          <a:p>
            <a:r>
              <a:rPr lang="vi-VN" b="1" dirty="0"/>
              <a:t>Giải thích sâu:</a:t>
            </a:r>
            <a:endParaRPr lang="vi-VN" dirty="0"/>
          </a:p>
          <a:p>
            <a:r>
              <a:rPr lang="vi-VN" dirty="0"/>
              <a:t>Trình bày ví dụ: Age_Group đã giúp làm mượt ảnh hưởng tuổi tác (nhóm 20–30, 30–40...).</a:t>
            </a:r>
          </a:p>
          <a:p>
            <a:r>
              <a:rPr lang="vi-VN" dirty="0"/>
              <a:t>Nêu lưu ý: không tạo quá nhiều feature tránh overfitting; dùng cross-validation để kiểm tra.</a:t>
            </a:r>
          </a:p>
          <a:p>
            <a:endParaRPr lang="en-US" dirty="0"/>
          </a:p>
        </p:txBody>
      </p:sp>
      <p:sp>
        <p:nvSpPr>
          <p:cNvPr id="4" name="Slide Number Placeholder 3"/>
          <p:cNvSpPr>
            <a:spLocks noGrp="1"/>
          </p:cNvSpPr>
          <p:nvPr>
            <p:ph type="sldNum" sz="quarter" idx="5"/>
          </p:nvPr>
        </p:nvSpPr>
        <p:spPr/>
        <p:txBody>
          <a:bodyPr/>
          <a:lstStyle/>
          <a:p>
            <a:fld id="{A13EC248-DF91-43A7-A2A6-1EF8348B15F3}" type="slidenum">
              <a:rPr lang="en-US" smtClean="0"/>
              <a:t>14</a:t>
            </a:fld>
            <a:endParaRPr lang="en-US"/>
          </a:p>
        </p:txBody>
      </p:sp>
    </p:spTree>
    <p:extLst>
      <p:ext uri="{BB962C8B-B14F-4D97-AF65-F5344CB8AC3E}">
        <p14:creationId xmlns:p14="http://schemas.microsoft.com/office/powerpoint/2010/main" val="2386663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 1.1 Accuracy</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𝐴𝑐𝑐𝑢𝑟𝑎𝑐𝑦</m:t>
                      </m:r>
                      <m:r>
                        <a:rPr lang="en-US"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𝑇𝑃</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𝑇𝑁</m:t>
                          </m:r>
                        </m:num>
                        <m:den>
                          <m:r>
                            <a:rPr lang="ar-AE" sz="1200" i="1" kern="1200">
                              <a:solidFill>
                                <a:schemeClr val="tx1"/>
                              </a:solidFill>
                              <a:latin typeface="Cambria Math" panose="02040503050406030204" pitchFamily="18" charset="0"/>
                              <a:ea typeface="+mn-ea"/>
                              <a:cs typeface="+mn-cs"/>
                            </a:rPr>
                            <m:t>𝑇𝑃</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𝑇𝑁</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𝐹𝑃</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𝐹𝑁</m:t>
                          </m:r>
                        </m:den>
                      </m:f>
                    </m:oMath>
                  </m:oMathPara>
                </a14:m>
                <a:endParaRPr lang="ar-AE" dirty="0"/>
              </a:p>
              <a:p>
                <a:r>
                  <a:rPr lang="en-US" b="1" dirty="0"/>
                  <a:t>✅ 1.2 Precision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𝑃𝑟𝑒𝑐𝑖𝑠𝑖𝑜𝑛</m:t>
                      </m:r>
                      <m:r>
                        <a:rPr lang="en-US"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𝑇𝑃</m:t>
                          </m:r>
                        </m:num>
                        <m:den>
                          <m:r>
                            <a:rPr lang="ar-AE" sz="1200" i="1" kern="1200">
                              <a:solidFill>
                                <a:schemeClr val="tx1"/>
                              </a:solidFill>
                              <a:latin typeface="Cambria Math" panose="02040503050406030204" pitchFamily="18" charset="0"/>
                              <a:ea typeface="+mn-ea"/>
                              <a:cs typeface="+mn-cs"/>
                            </a:rPr>
                            <m:t>𝑇𝑃</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𝐹𝑃</m:t>
                          </m:r>
                        </m:den>
                      </m:f>
                    </m:oMath>
                  </m:oMathPara>
                </a14:m>
                <a:endParaRPr lang="ar-AE" dirty="0"/>
              </a:p>
              <a:p>
                <a:r>
                  <a:rPr lang="en-US" b="1" dirty="0"/>
                  <a:t>✅ 1.3 Recall (Sensitivity)</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𝑅𝑒𝑐𝑎𝑙𝑙</m:t>
                      </m:r>
                      <m:r>
                        <a:rPr lang="en-US"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𝑇𝑃</m:t>
                          </m:r>
                        </m:num>
                        <m:den>
                          <m:r>
                            <a:rPr lang="ar-AE" sz="1200" i="1" kern="1200">
                              <a:solidFill>
                                <a:schemeClr val="tx1"/>
                              </a:solidFill>
                              <a:latin typeface="Cambria Math" panose="02040503050406030204" pitchFamily="18" charset="0"/>
                              <a:ea typeface="+mn-ea"/>
                              <a:cs typeface="+mn-cs"/>
                            </a:rPr>
                            <m:t>𝑇𝑃</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𝐹𝑁</m:t>
                          </m:r>
                        </m:den>
                      </m:f>
                    </m:oMath>
                  </m:oMathPara>
                </a14:m>
                <a:endParaRPr lang="ar-AE" dirty="0"/>
              </a:p>
              <a:p>
                <a:r>
                  <a:rPr lang="en-US" b="1" dirty="0"/>
                  <a:t>✅ 1.4 F1-score</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𝐹</m:t>
                      </m:r>
                      <m:r>
                        <a:rPr lang="en-US" sz="1200" i="0" kern="1200">
                          <a:solidFill>
                            <a:schemeClr val="tx1"/>
                          </a:solidFill>
                          <a:latin typeface="Cambria Math" panose="02040503050406030204" pitchFamily="18" charset="0"/>
                          <a:ea typeface="+mn-ea"/>
                          <a:cs typeface="+mn-cs"/>
                        </a:rPr>
                        <m:t>1</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2</m:t>
                      </m:r>
                      <m:r>
                        <a:rPr lang="en-US"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𝑃𝑟𝑒𝑐𝑖𝑠𝑖𝑜𝑛</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𝑅𝑒𝑐𝑎𝑙𝑙</m:t>
                          </m:r>
                        </m:num>
                        <m:den>
                          <m:r>
                            <a:rPr lang="ar-AE" sz="1200" i="1" kern="1200">
                              <a:solidFill>
                                <a:schemeClr val="tx1"/>
                              </a:solidFill>
                              <a:latin typeface="Cambria Math" panose="02040503050406030204" pitchFamily="18" charset="0"/>
                              <a:ea typeface="+mn-ea"/>
                              <a:cs typeface="+mn-cs"/>
                            </a:rPr>
                            <m:t>𝑃𝑟𝑒𝑐𝑖𝑠𝑖𝑜𝑛</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𝑅𝑒𝑐𝑎𝑙𝑙</m:t>
                          </m:r>
                        </m:den>
                      </m:f>
                    </m:oMath>
                  </m:oMathPara>
                </a14:m>
                <a:endParaRPr lang="ar-AE" dirty="0"/>
              </a:p>
              <a:p>
                <a:r>
                  <a:rPr lang="en-US" b="1" dirty="0"/>
                  <a:t>🔍 Ý </a:t>
                </a:r>
                <a:r>
                  <a:rPr lang="en-US" b="1" dirty="0" err="1"/>
                  <a:t>nghĩa</a:t>
                </a:r>
                <a:r>
                  <a:rPr lang="en-US" b="1" dirty="0"/>
                  <a:t>:</a:t>
                </a:r>
              </a:p>
              <a:p>
                <a:r>
                  <a:rPr lang="en-US" dirty="0"/>
                  <a:t>TP: </a:t>
                </a:r>
                <a:r>
                  <a:rPr lang="en-US" dirty="0" err="1"/>
                  <a:t>dự</a:t>
                </a:r>
                <a:r>
                  <a:rPr lang="en-US" dirty="0"/>
                  <a:t> </a:t>
                </a:r>
                <a:r>
                  <a:rPr lang="en-US" dirty="0" err="1"/>
                  <a:t>đoán</a:t>
                </a:r>
                <a:r>
                  <a:rPr lang="en-US" dirty="0"/>
                  <a:t> </a:t>
                </a:r>
                <a:r>
                  <a:rPr lang="en-US" dirty="0" err="1"/>
                  <a:t>đúng</a:t>
                </a:r>
                <a:r>
                  <a:rPr lang="en-US" dirty="0"/>
                  <a:t> </a:t>
                </a:r>
                <a:r>
                  <a:rPr lang="en-US" dirty="0" err="1"/>
                  <a:t>có</a:t>
                </a:r>
                <a:r>
                  <a:rPr lang="en-US" dirty="0"/>
                  <a:t> </a:t>
                </a:r>
                <a:r>
                  <a:rPr lang="en-US" dirty="0" err="1"/>
                  <a:t>bệnh</a:t>
                </a:r>
                <a:endParaRPr lang="en-US" dirty="0"/>
              </a:p>
              <a:p>
                <a:r>
                  <a:rPr lang="en-US" dirty="0"/>
                  <a:t>FP: </a:t>
                </a:r>
                <a:r>
                  <a:rPr lang="en-US" dirty="0" err="1"/>
                  <a:t>dự</a:t>
                </a:r>
                <a:r>
                  <a:rPr lang="en-US" dirty="0"/>
                  <a:t> </a:t>
                </a:r>
                <a:r>
                  <a:rPr lang="en-US" dirty="0" err="1"/>
                  <a:t>đoán</a:t>
                </a:r>
                <a:r>
                  <a:rPr lang="en-US" dirty="0"/>
                  <a:t> </a:t>
                </a:r>
                <a:r>
                  <a:rPr lang="en-US" dirty="0" err="1"/>
                  <a:t>sai</a:t>
                </a:r>
                <a:r>
                  <a:rPr lang="en-US" dirty="0"/>
                  <a:t> </a:t>
                </a:r>
                <a:r>
                  <a:rPr lang="en-US" dirty="0" err="1"/>
                  <a:t>có</a:t>
                </a:r>
                <a:r>
                  <a:rPr lang="en-US" dirty="0"/>
                  <a:t> </a:t>
                </a:r>
                <a:r>
                  <a:rPr lang="en-US" dirty="0" err="1"/>
                  <a:t>bệnh</a:t>
                </a:r>
                <a:endParaRPr lang="en-US" dirty="0"/>
              </a:p>
              <a:p>
                <a:r>
                  <a:rPr lang="en-US" dirty="0"/>
                  <a:t>FN: </a:t>
                </a:r>
                <a:r>
                  <a:rPr lang="en-US" dirty="0" err="1"/>
                  <a:t>bỏ</a:t>
                </a:r>
                <a:r>
                  <a:rPr lang="en-US" dirty="0"/>
                  <a:t> </a:t>
                </a:r>
                <a:r>
                  <a:rPr lang="en-US" dirty="0" err="1"/>
                  <a:t>sót</a:t>
                </a:r>
                <a:r>
                  <a:rPr lang="en-US" dirty="0"/>
                  <a:t> </a:t>
                </a:r>
                <a:r>
                  <a:rPr lang="en-US" dirty="0" err="1"/>
                  <a:t>bệnh</a:t>
                </a:r>
                <a:r>
                  <a:rPr lang="en-US" dirty="0"/>
                  <a:t> </a:t>
                </a:r>
                <a:r>
                  <a:rPr lang="en-US" dirty="0" err="1"/>
                  <a:t>nhân</a:t>
                </a:r>
                <a:endParaRPr lang="en-US" dirty="0"/>
              </a:p>
              <a:p>
                <a:r>
                  <a:rPr lang="en-US" dirty="0"/>
                  <a:t>F1-score </a:t>
                </a:r>
                <a:r>
                  <a:rPr lang="en-US" dirty="0" err="1"/>
                  <a:t>cân</a:t>
                </a:r>
                <a:r>
                  <a:rPr lang="en-US" dirty="0"/>
                  <a:t> </a:t>
                </a:r>
                <a:r>
                  <a:rPr lang="en-US" dirty="0" err="1"/>
                  <a:t>bằng</a:t>
                </a:r>
                <a:r>
                  <a:rPr lang="en-US" dirty="0"/>
                  <a:t> </a:t>
                </a:r>
                <a:r>
                  <a:rPr lang="en-US" dirty="0" err="1"/>
                  <a:t>giữa</a:t>
                </a:r>
                <a:r>
                  <a:rPr lang="en-US" dirty="0"/>
                  <a:t> Precision &amp; Recall</a:t>
                </a:r>
              </a:p>
              <a:p>
                <a:endParaRPr lang="en-US" dirty="0"/>
              </a:p>
            </p:txBody>
          </p:sp>
        </mc:Choice>
        <mc:Fallback xmlns="">
          <p:sp>
            <p:nvSpPr>
              <p:cNvPr id="3" name="Notes Placeholder 2"/>
              <p:cNvSpPr>
                <a:spLocks noGrp="1"/>
              </p:cNvSpPr>
              <p:nvPr>
                <p:ph type="body" idx="1"/>
              </p:nvPr>
            </p:nvSpPr>
            <p:spPr/>
            <p:txBody>
              <a:bodyPr/>
              <a:lstStyle/>
              <a:p>
                <a:r>
                  <a:rPr lang="en-US" b="1" dirty="0"/>
                  <a:t>✅ 1.1 Accuracy</a:t>
                </a:r>
              </a:p>
              <a:p>
                <a:r>
                  <a:rPr lang="en-US" sz="1200" i="0" kern="1200">
                    <a:solidFill>
                      <a:schemeClr val="tx1"/>
                    </a:solidFill>
                    <a:latin typeface="+mn-lt"/>
                    <a:ea typeface="+mn-ea"/>
                    <a:cs typeface="+mn-cs"/>
                  </a:rPr>
                  <a:t>𝐴𝑐𝑐𝑢𝑟𝑎𝑐𝑦=</a:t>
                </a:r>
                <a:r>
                  <a:rPr lang="ar-AE" sz="1200" i="0" kern="1200">
                    <a:solidFill>
                      <a:schemeClr val="tx1"/>
                    </a:solidFill>
                    <a:latin typeface="+mn-lt"/>
                    <a:ea typeface="+mn-ea"/>
                    <a:cs typeface="+mn-cs"/>
                  </a:rPr>
                  <a:t>(𝑇𝑃+𝑇𝑁)/(𝑇𝑃+𝑇𝑁+𝐹𝑃+𝐹𝑁)</a:t>
                </a:r>
                <a:endParaRPr lang="ar-AE" dirty="0"/>
              </a:p>
              <a:p>
                <a:r>
                  <a:rPr lang="en-US" b="1" dirty="0"/>
                  <a:t>✅ 1.2 Precision</a:t>
                </a:r>
              </a:p>
              <a:p>
                <a:r>
                  <a:rPr lang="en-US" sz="1200" i="0" kern="1200">
                    <a:solidFill>
                      <a:schemeClr val="tx1"/>
                    </a:solidFill>
                    <a:latin typeface="+mn-lt"/>
                    <a:ea typeface="+mn-ea"/>
                    <a:cs typeface="+mn-cs"/>
                  </a:rPr>
                  <a:t>𝑃𝑟𝑒𝑐𝑖𝑠𝑖𝑜𝑛=</a:t>
                </a:r>
                <a:r>
                  <a:rPr lang="ar-AE" sz="1200" i="0" kern="1200">
                    <a:solidFill>
                      <a:schemeClr val="tx1"/>
                    </a:solidFill>
                    <a:latin typeface="+mn-lt"/>
                    <a:ea typeface="+mn-ea"/>
                    <a:cs typeface="+mn-cs"/>
                  </a:rPr>
                  <a:t>𝑇𝑃/(𝑇𝑃+𝐹𝑃)</a:t>
                </a:r>
                <a:endParaRPr lang="ar-AE" dirty="0"/>
              </a:p>
              <a:p>
                <a:r>
                  <a:rPr lang="en-US" b="1" dirty="0"/>
                  <a:t>✅ 1.3 Recall (Sensitivity)</a:t>
                </a:r>
              </a:p>
              <a:p>
                <a:r>
                  <a:rPr lang="en-US" sz="1200" i="0" kern="1200">
                    <a:solidFill>
                      <a:schemeClr val="tx1"/>
                    </a:solidFill>
                    <a:latin typeface="+mn-lt"/>
                    <a:ea typeface="+mn-ea"/>
                    <a:cs typeface="+mn-cs"/>
                  </a:rPr>
                  <a:t>𝑅𝑒𝑐𝑎𝑙𝑙=</a:t>
                </a:r>
                <a:r>
                  <a:rPr lang="ar-AE" sz="1200" i="0" kern="1200">
                    <a:solidFill>
                      <a:schemeClr val="tx1"/>
                    </a:solidFill>
                    <a:latin typeface="+mn-lt"/>
                    <a:ea typeface="+mn-ea"/>
                    <a:cs typeface="+mn-cs"/>
                  </a:rPr>
                  <a:t>𝑇𝑃/(𝑇𝑃+𝐹𝑁)</a:t>
                </a:r>
                <a:endParaRPr lang="ar-AE" dirty="0"/>
              </a:p>
              <a:p>
                <a:r>
                  <a:rPr lang="en-US" b="1" dirty="0"/>
                  <a:t>✅ 1.4 F1-score</a:t>
                </a:r>
              </a:p>
              <a:p>
                <a:r>
                  <a:rPr lang="en-US" sz="1200" i="0" kern="1200">
                    <a:solidFill>
                      <a:schemeClr val="tx1"/>
                    </a:solidFill>
                    <a:latin typeface="+mn-lt"/>
                    <a:ea typeface="+mn-ea"/>
                    <a:cs typeface="+mn-cs"/>
                  </a:rPr>
                  <a:t>𝐹1=2×</a:t>
                </a:r>
                <a:r>
                  <a:rPr lang="ar-AE" sz="1200" i="0" kern="1200">
                    <a:solidFill>
                      <a:schemeClr val="tx1"/>
                    </a:solidFill>
                    <a:latin typeface="+mn-lt"/>
                    <a:ea typeface="+mn-ea"/>
                    <a:cs typeface="+mn-cs"/>
                  </a:rPr>
                  <a:t>(𝑃𝑟𝑒𝑐𝑖𝑠𝑖𝑜𝑛×𝑅𝑒𝑐𝑎𝑙𝑙)/(𝑃𝑟𝑒𝑐𝑖𝑠𝑖𝑜𝑛+𝑅𝑒𝑐𝑎𝑙𝑙)</a:t>
                </a:r>
                <a:endParaRPr lang="ar-AE" dirty="0"/>
              </a:p>
              <a:p>
                <a:r>
                  <a:rPr lang="en-US" b="1" dirty="0"/>
                  <a:t>🔍 Ý </a:t>
                </a:r>
                <a:r>
                  <a:rPr lang="en-US" b="1" dirty="0" err="1"/>
                  <a:t>nghĩa</a:t>
                </a:r>
                <a:r>
                  <a:rPr lang="en-US" b="1" dirty="0"/>
                  <a:t>:</a:t>
                </a:r>
              </a:p>
              <a:p>
                <a:r>
                  <a:rPr lang="en-US" dirty="0"/>
                  <a:t>TP: </a:t>
                </a:r>
                <a:r>
                  <a:rPr lang="en-US" dirty="0" err="1"/>
                  <a:t>dự</a:t>
                </a:r>
                <a:r>
                  <a:rPr lang="en-US" dirty="0"/>
                  <a:t> </a:t>
                </a:r>
                <a:r>
                  <a:rPr lang="en-US" dirty="0" err="1"/>
                  <a:t>đoán</a:t>
                </a:r>
                <a:r>
                  <a:rPr lang="en-US" dirty="0"/>
                  <a:t> </a:t>
                </a:r>
                <a:r>
                  <a:rPr lang="en-US" dirty="0" err="1"/>
                  <a:t>đúng</a:t>
                </a:r>
                <a:r>
                  <a:rPr lang="en-US" dirty="0"/>
                  <a:t> </a:t>
                </a:r>
                <a:r>
                  <a:rPr lang="en-US" dirty="0" err="1"/>
                  <a:t>có</a:t>
                </a:r>
                <a:r>
                  <a:rPr lang="en-US" dirty="0"/>
                  <a:t> </a:t>
                </a:r>
                <a:r>
                  <a:rPr lang="en-US" dirty="0" err="1"/>
                  <a:t>bệnh</a:t>
                </a:r>
                <a:endParaRPr lang="en-US" dirty="0"/>
              </a:p>
              <a:p>
                <a:r>
                  <a:rPr lang="en-US" dirty="0"/>
                  <a:t>FP: </a:t>
                </a:r>
                <a:r>
                  <a:rPr lang="en-US" dirty="0" err="1"/>
                  <a:t>dự</a:t>
                </a:r>
                <a:r>
                  <a:rPr lang="en-US" dirty="0"/>
                  <a:t> </a:t>
                </a:r>
                <a:r>
                  <a:rPr lang="en-US" dirty="0" err="1"/>
                  <a:t>đoán</a:t>
                </a:r>
                <a:r>
                  <a:rPr lang="en-US" dirty="0"/>
                  <a:t> </a:t>
                </a:r>
                <a:r>
                  <a:rPr lang="en-US" dirty="0" err="1"/>
                  <a:t>sai</a:t>
                </a:r>
                <a:r>
                  <a:rPr lang="en-US" dirty="0"/>
                  <a:t> </a:t>
                </a:r>
                <a:r>
                  <a:rPr lang="en-US" dirty="0" err="1"/>
                  <a:t>có</a:t>
                </a:r>
                <a:r>
                  <a:rPr lang="en-US" dirty="0"/>
                  <a:t> </a:t>
                </a:r>
                <a:r>
                  <a:rPr lang="en-US" dirty="0" err="1"/>
                  <a:t>bệnh</a:t>
                </a:r>
                <a:endParaRPr lang="en-US" dirty="0"/>
              </a:p>
              <a:p>
                <a:r>
                  <a:rPr lang="en-US" dirty="0"/>
                  <a:t>FN: </a:t>
                </a:r>
                <a:r>
                  <a:rPr lang="en-US" dirty="0" err="1"/>
                  <a:t>bỏ</a:t>
                </a:r>
                <a:r>
                  <a:rPr lang="en-US" dirty="0"/>
                  <a:t> </a:t>
                </a:r>
                <a:r>
                  <a:rPr lang="en-US" dirty="0" err="1"/>
                  <a:t>sót</a:t>
                </a:r>
                <a:r>
                  <a:rPr lang="en-US" dirty="0"/>
                  <a:t> </a:t>
                </a:r>
                <a:r>
                  <a:rPr lang="en-US" dirty="0" err="1"/>
                  <a:t>bệnh</a:t>
                </a:r>
                <a:r>
                  <a:rPr lang="en-US" dirty="0"/>
                  <a:t> </a:t>
                </a:r>
                <a:r>
                  <a:rPr lang="en-US" dirty="0" err="1"/>
                  <a:t>nhân</a:t>
                </a:r>
                <a:endParaRPr lang="en-US" dirty="0"/>
              </a:p>
              <a:p>
                <a:r>
                  <a:rPr lang="en-US" dirty="0"/>
                  <a:t>F1-score </a:t>
                </a:r>
                <a:r>
                  <a:rPr lang="en-US" dirty="0" err="1"/>
                  <a:t>cân</a:t>
                </a:r>
                <a:r>
                  <a:rPr lang="en-US" dirty="0"/>
                  <a:t> </a:t>
                </a:r>
                <a:r>
                  <a:rPr lang="en-US" dirty="0" err="1"/>
                  <a:t>bằng</a:t>
                </a:r>
                <a:r>
                  <a:rPr lang="en-US" dirty="0"/>
                  <a:t> </a:t>
                </a:r>
                <a:r>
                  <a:rPr lang="en-US" dirty="0" err="1"/>
                  <a:t>giữa</a:t>
                </a:r>
                <a:r>
                  <a:rPr lang="en-US" dirty="0"/>
                  <a:t> Precision &amp; Recall</a:t>
                </a:r>
              </a:p>
              <a:p>
                <a:endParaRPr lang="en-US" dirty="0"/>
              </a:p>
            </p:txBody>
          </p:sp>
        </mc:Fallback>
      </mc:AlternateContent>
      <p:sp>
        <p:nvSpPr>
          <p:cNvPr id="4" name="Slide Number Placeholder 3"/>
          <p:cNvSpPr>
            <a:spLocks noGrp="1"/>
          </p:cNvSpPr>
          <p:nvPr>
            <p:ph type="sldNum" sz="quarter" idx="5"/>
          </p:nvPr>
        </p:nvSpPr>
        <p:spPr/>
        <p:txBody>
          <a:bodyPr/>
          <a:lstStyle/>
          <a:p>
            <a:fld id="{A13EC248-DF91-43A7-A2A6-1EF8348B15F3}" type="slidenum">
              <a:rPr lang="en-US" smtClean="0"/>
              <a:t>16</a:t>
            </a:fld>
            <a:endParaRPr lang="en-US"/>
          </a:p>
        </p:txBody>
      </p:sp>
    </p:spTree>
    <p:extLst>
      <p:ext uri="{BB962C8B-B14F-4D97-AF65-F5344CB8AC3E}">
        <p14:creationId xmlns:p14="http://schemas.microsoft.com/office/powerpoint/2010/main" val="1483447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2.1 Logistic Regression</a:t>
                </a:r>
              </a:p>
              <a:p>
                <a:r>
                  <a:rPr lang="en-US" dirty="0"/>
                  <a:t>Logistic Regression </a:t>
                </a:r>
                <a:r>
                  <a:rPr lang="en-US" dirty="0" err="1"/>
                  <a:t>dự</a:t>
                </a:r>
                <a:r>
                  <a:rPr lang="en-US" dirty="0"/>
                  <a:t> </a:t>
                </a:r>
                <a:r>
                  <a:rPr lang="en-US" dirty="0" err="1"/>
                  <a:t>đoán</a:t>
                </a:r>
                <a:r>
                  <a:rPr lang="en-US" dirty="0"/>
                  <a:t> </a:t>
                </a:r>
                <a:r>
                  <a:rPr lang="en-US" dirty="0" err="1"/>
                  <a:t>xác</a:t>
                </a:r>
                <a:r>
                  <a:rPr lang="en-US" dirty="0"/>
                  <a:t> </a:t>
                </a:r>
                <a:r>
                  <a:rPr lang="en-US" dirty="0" err="1"/>
                  <a:t>suất</a:t>
                </a:r>
                <a:r>
                  <a:rPr lang="en-US" dirty="0"/>
                  <a:t> </a:t>
                </a:r>
                <a:r>
                  <a:rPr lang="en-US" dirty="0" err="1"/>
                  <a:t>mắc</a:t>
                </a:r>
                <a:r>
                  <a:rPr lang="en-US" dirty="0"/>
                  <a:t> </a:t>
                </a:r>
                <a:r>
                  <a:rPr lang="en-US" dirty="0" err="1"/>
                  <a:t>bệnh</a:t>
                </a:r>
                <a:r>
                  <a:rPr lang="en-US" dirty="0"/>
                  <a:t>:</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𝑦</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𝑥</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m:t>
                          </m:r>
                        </m:num>
                        <m:den>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𝑒</m:t>
                              </m:r>
                            </m:e>
                            <m:sup>
                              <m:r>
                                <a:rPr lang="ar-AE" sz="1200" i="0" kern="1200">
                                  <a:solidFill>
                                    <a:schemeClr val="tx1"/>
                                  </a:solidFill>
                                  <a:latin typeface="Cambria Math" panose="02040503050406030204" pitchFamily="18" charset="0"/>
                                  <a:ea typeface="+mn-ea"/>
                                  <a:cs typeface="+mn-cs"/>
                                </a:rPr>
                                <m:t>−</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𝛽</m:t>
                                      </m:r>
                                    </m:e>
                                    <m:sub>
                                      <m:r>
                                        <a:rPr lang="ar-AE" sz="1200" i="0" kern="1200">
                                          <a:solidFill>
                                            <a:schemeClr val="tx1"/>
                                          </a:solidFill>
                                          <a:latin typeface="Cambria Math" panose="02040503050406030204" pitchFamily="18" charset="0"/>
                                          <a:ea typeface="+mn-ea"/>
                                          <a:cs typeface="+mn-cs"/>
                                        </a:rPr>
                                        <m:t>0</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𝛽</m:t>
                                      </m:r>
                                    </m:e>
                                    <m:sub>
                                      <m:r>
                                        <a:rPr lang="ar-AE" sz="1200" i="0" kern="1200">
                                          <a:solidFill>
                                            <a:schemeClr val="tx1"/>
                                          </a:solidFill>
                                          <a:latin typeface="Cambria Math" panose="02040503050406030204" pitchFamily="18" charset="0"/>
                                          <a:ea typeface="+mn-ea"/>
                                          <a:cs typeface="+mn-cs"/>
                                        </a:rPr>
                                        <m:t>1</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𝑥</m:t>
                                      </m:r>
                                    </m:e>
                                    <m:sub>
                                      <m:r>
                                        <a:rPr lang="ar-AE" sz="1200" i="0" kern="1200">
                                          <a:solidFill>
                                            <a:schemeClr val="tx1"/>
                                          </a:solidFill>
                                          <a:latin typeface="Cambria Math" panose="02040503050406030204" pitchFamily="18" charset="0"/>
                                          <a:ea typeface="+mn-ea"/>
                                          <a:cs typeface="+mn-cs"/>
                                        </a:rPr>
                                        <m:t>1</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𝛽</m:t>
                                      </m:r>
                                    </m:e>
                                    <m:sub>
                                      <m:r>
                                        <a:rPr lang="ar-AE" sz="1200" i="1" kern="1200">
                                          <a:solidFill>
                                            <a:schemeClr val="tx1"/>
                                          </a:solidFill>
                                          <a:latin typeface="Cambria Math" panose="02040503050406030204" pitchFamily="18" charset="0"/>
                                          <a:ea typeface="+mn-ea"/>
                                          <a:cs typeface="+mn-cs"/>
                                        </a:rPr>
                                        <m:t>𝑛</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𝑥</m:t>
                                      </m:r>
                                    </m:e>
                                    <m:sub>
                                      <m:r>
                                        <a:rPr lang="ar-AE" sz="1200" i="1" kern="1200">
                                          <a:solidFill>
                                            <a:schemeClr val="tx1"/>
                                          </a:solidFill>
                                          <a:latin typeface="Cambria Math" panose="02040503050406030204" pitchFamily="18" charset="0"/>
                                          <a:ea typeface="+mn-ea"/>
                                          <a:cs typeface="+mn-cs"/>
                                        </a:rPr>
                                        <m:t>𝑛</m:t>
                                      </m:r>
                                    </m:sub>
                                  </m:sSub>
                                </m:e>
                              </m:d>
                            </m:sup>
                          </m:sSup>
                        </m:den>
                      </m:f>
                    </m:oMath>
                  </m:oMathPara>
                </a14:m>
                <a:endParaRPr lang="ar-AE" dirty="0"/>
              </a:p>
              <a:p>
                <a:r>
                  <a:rPr lang="en-US" dirty="0" err="1"/>
                  <a:t>Hàm</a:t>
                </a:r>
                <a:r>
                  <a:rPr lang="en-US" dirty="0"/>
                  <a:t> loss (Binary Cross Entropy):</a:t>
                </a:r>
              </a:p>
              <a:p>
                <a:r>
                  <a:rPr lang="en-US" dirty="0"/>
                  <a:t>Quy </a:t>
                </a:r>
                <a:r>
                  <a:rPr lang="en-US" dirty="0" err="1"/>
                  <a:t>tắc</a:t>
                </a:r>
                <a:r>
                  <a:rPr lang="en-US" dirty="0"/>
                  <a:t> </a:t>
                </a:r>
                <a:r>
                  <a:rPr lang="en-US" dirty="0" err="1"/>
                  <a:t>quyết</a:t>
                </a:r>
                <a:r>
                  <a:rPr lang="en-US" dirty="0"/>
                  <a:t> </a:t>
                </a:r>
                <a:r>
                  <a:rPr lang="en-US" dirty="0" err="1"/>
                  <a:t>định</a:t>
                </a:r>
                <a:r>
                  <a:rPr lang="en-US" dirty="0"/>
                  <a:t>:</a:t>
                </a:r>
              </a:p>
              <a:p>
                <a:pPr/>
                <a14:m>
                  <m:oMathPara xmlns:m="http://schemas.openxmlformats.org/officeDocument/2006/math">
                    <m:oMathParaPr>
                      <m:jc m:val="centerGroup"/>
                    </m:oMathParaPr>
                    <m:oMath xmlns:m="http://schemas.openxmlformats.org/officeDocument/2006/math">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𝑦</m:t>
                          </m:r>
                        </m:e>
                      </m:acc>
                      <m:r>
                        <a:rPr lang="ar-AE" sz="1200" i="0" kern="1200">
                          <a:solidFill>
                            <a:schemeClr val="tx1"/>
                          </a:solidFill>
                          <a:latin typeface="Cambria Math" panose="02040503050406030204" pitchFamily="18" charset="0"/>
                          <a:ea typeface="+mn-ea"/>
                          <a:cs typeface="+mn-cs"/>
                        </a:rPr>
                        <m:t>=</m:t>
                      </m:r>
                      <m:d>
                        <m:dPr>
                          <m:begChr m:val="{"/>
                          <m:endChr m:val=""/>
                          <m:ctrlPr>
                            <a:rPr lang="ar-AE" sz="1200" i="1" kern="1200">
                              <a:solidFill>
                                <a:schemeClr val="tx1"/>
                              </a:solidFill>
                              <a:latin typeface="Cambria Math" panose="02040503050406030204" pitchFamily="18" charset="0"/>
                              <a:ea typeface="+mn-ea"/>
                              <a:cs typeface="+mn-cs"/>
                            </a:rPr>
                          </m:ctrlPr>
                        </m:dPr>
                        <m:e>
                          <m:m>
                            <m:mPr>
                              <m:plcHide m:val="on"/>
                              <m:mcs>
                                <m:mc>
                                  <m:mcPr>
                                    <m:count m:val="2"/>
                                    <m:mcJc m:val="center"/>
                                  </m:mcPr>
                                </m:mc>
                              </m:mcs>
                              <m:ctrlPr>
                                <a:rPr lang="ar-AE" sz="1200" i="1" kern="1200">
                                  <a:solidFill>
                                    <a:schemeClr val="tx1"/>
                                  </a:solidFill>
                                  <a:latin typeface="Cambria Math" panose="02040503050406030204" pitchFamily="18" charset="0"/>
                                  <a:ea typeface="+mn-ea"/>
                                  <a:cs typeface="+mn-cs"/>
                                </a:rPr>
                              </m:ctrlPr>
                            </m:mPr>
                            <m:m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e>
                              <m:e>
                                <m:r>
                                  <m:rPr>
                                    <m:nor/>
                                  </m:rPr>
                                  <a:rPr lang="en-US" sz="1200" b="0" i="1" kern="1200">
                                    <a:solidFill>
                                      <a:schemeClr val="tx1"/>
                                    </a:solidFill>
                                    <a:latin typeface="+mn-lt"/>
                                    <a:ea typeface="+mn-ea"/>
                                    <a:cs typeface="+mn-cs"/>
                                  </a:rPr>
                                  <m:t>n</m:t>
                                </m:r>
                                <m:limUpp>
                                  <m:limUppPr>
                                    <m:ctrlPr>
                                      <a:rPr lang="ar-AE" sz="1200" b="0" i="1" kern="1200">
                                        <a:solidFill>
                                          <a:schemeClr val="tx1"/>
                                        </a:solidFill>
                                        <a:latin typeface="Cambria Math" panose="02040503050406030204" pitchFamily="18" charset="0"/>
                                        <a:ea typeface="+mn-ea"/>
                                        <a:cs typeface="+mn-cs"/>
                                      </a:rPr>
                                    </m:ctrlPr>
                                  </m:limUppPr>
                                  <m:e>
                                    <m:limUpp>
                                      <m:limUppPr>
                                        <m:ctrlPr>
                                          <a:rPr lang="ar-AE" sz="1200" b="0" i="1" kern="1200">
                                            <a:solidFill>
                                              <a:schemeClr val="tx1"/>
                                            </a:solidFill>
                                            <a:latin typeface="Cambria Math" panose="02040503050406030204" pitchFamily="18" charset="0"/>
                                            <a:ea typeface="+mn-ea"/>
                                            <a:cs typeface="+mn-cs"/>
                                          </a:rPr>
                                        </m:ctrlPr>
                                      </m:limUppPr>
                                      <m:e>
                                        <m:r>
                                          <m:rPr>
                                            <m:nor/>
                                          </m:rPr>
                                          <a:rPr lang="en-US" sz="1200" b="0" i="1" kern="1200">
                                            <a:solidFill>
                                              <a:schemeClr val="tx1"/>
                                            </a:solidFill>
                                            <a:latin typeface="+mn-lt"/>
                                            <a:ea typeface="+mn-ea"/>
                                            <a:cs typeface="+mn-cs"/>
                                          </a:rPr>
                                          <m:t>e</m:t>
                                        </m:r>
                                      </m:e>
                                      <m:lim>
                                        <m:r>
                                          <a:rPr lang="ar-AE" sz="1200" b="0" i="0" kern="1200">
                                            <a:solidFill>
                                              <a:schemeClr val="tx1"/>
                                            </a:solidFill>
                                            <a:latin typeface="Cambria Math" panose="02040503050406030204" pitchFamily="18" charset="0"/>
                                            <a:ea typeface="+mn-ea"/>
                                            <a:cs typeface="+mn-cs"/>
                                          </a:rPr>
                                          <m:t>ˆ</m:t>
                                        </m:r>
                                      </m:lim>
                                    </m:limUpp>
                                  </m:e>
                                  <m:lim>
                                    <m:r>
                                      <a:rPr lang="ar-AE" sz="1200" b="0" i="0" kern="1200">
                                        <a:solidFill>
                                          <a:schemeClr val="tx1"/>
                                        </a:solidFill>
                                        <a:latin typeface="Cambria Math" panose="02040503050406030204" pitchFamily="18" charset="0"/>
                                        <a:ea typeface="+mn-ea"/>
                                        <a:cs typeface="+mn-cs"/>
                                      </a:rPr>
                                      <m:t>ˊ</m:t>
                                    </m:r>
                                  </m:lim>
                                </m:limUpp>
                                <m:r>
                                  <m:rPr>
                                    <m:nor/>
                                  </m:rPr>
                                  <a:rPr lang="en-US" sz="1200" b="0" i="1" kern="1200">
                                    <a:solidFill>
                                      <a:schemeClr val="tx1"/>
                                    </a:solidFill>
                                    <a:latin typeface="+mn-lt"/>
                                    <a:ea typeface="+mn-ea"/>
                                    <a:cs typeface="+mn-cs"/>
                                  </a:rPr>
                                  <m:t>u</m:t>
                                </m:r>
                                <m:r>
                                  <m:rPr>
                                    <m:nor/>
                                  </m:rPr>
                                  <a:rPr lang="en-US" sz="1200" b="0" i="1" kern="1200">
                                    <a:solidFill>
                                      <a:schemeClr val="tx1"/>
                                    </a:solidFill>
                                    <a:latin typeface="+mn-lt"/>
                                    <a:ea typeface="+mn-ea"/>
                                    <a:cs typeface="+mn-cs"/>
                                  </a:rPr>
                                  <m:t> </m:t>
                                </m:r>
                                <m:r>
                                  <a:rPr lang="en-US" sz="1200" b="0" i="1" kern="1200">
                                    <a:solidFill>
                                      <a:schemeClr val="tx1"/>
                                    </a:solidFill>
                                    <a:latin typeface="Cambria Math" panose="02040503050406030204" pitchFamily="18" charset="0"/>
                                    <a:ea typeface="+mn-ea"/>
                                    <a:cs typeface="+mn-cs"/>
                                  </a:rPr>
                                  <m:t>𝑃</m:t>
                                </m:r>
                                <m:r>
                                  <a:rPr lang="en-US" sz="1200" b="0" i="0" kern="1200">
                                    <a:solidFill>
                                      <a:schemeClr val="tx1"/>
                                    </a:solidFill>
                                    <a:latin typeface="Cambria Math" panose="02040503050406030204" pitchFamily="18" charset="0"/>
                                    <a:ea typeface="+mn-ea"/>
                                    <a:cs typeface="+mn-cs"/>
                                  </a:rPr>
                                  <m:t>≥</m:t>
                                </m:r>
                                <m:r>
                                  <a:rPr lang="en-US" sz="1200" b="0" i="0" kern="1200">
                                    <a:solidFill>
                                      <a:schemeClr val="tx1"/>
                                    </a:solidFill>
                                    <a:latin typeface="Cambria Math" panose="02040503050406030204" pitchFamily="18" charset="0"/>
                                    <a:ea typeface="+mn-ea"/>
                                    <a:cs typeface="+mn-cs"/>
                                  </a:rPr>
                                  <m:t>0</m:t>
                                </m:r>
                                <m:r>
                                  <a:rPr lang="en-US" sz="1200" b="0" i="0" kern="1200">
                                    <a:solidFill>
                                      <a:schemeClr val="tx1"/>
                                    </a:solidFill>
                                    <a:latin typeface="Cambria Math" panose="02040503050406030204" pitchFamily="18" charset="0"/>
                                    <a:ea typeface="+mn-ea"/>
                                    <a:cs typeface="+mn-cs"/>
                                  </a:rPr>
                                  <m:t>.</m:t>
                                </m:r>
                                <m:r>
                                  <a:rPr lang="en-US" sz="1200" b="0" i="0" kern="1200">
                                    <a:solidFill>
                                      <a:schemeClr val="tx1"/>
                                    </a:solidFill>
                                    <a:latin typeface="Cambria Math" panose="02040503050406030204" pitchFamily="18" charset="0"/>
                                    <a:ea typeface="+mn-ea"/>
                                    <a:cs typeface="+mn-cs"/>
                                  </a:rPr>
                                  <m:t>5</m:t>
                                </m:r>
                              </m:e>
                            </m:mr>
                            <m:mr>
                              <m:e>
                                <m:r>
                                  <a:rPr lang="ar-AE" sz="1200" b="0" i="0" kern="1200">
                                    <a:solidFill>
                                      <a:schemeClr val="tx1"/>
                                    </a:solidFill>
                                    <a:latin typeface="Cambria Math" panose="02040503050406030204" pitchFamily="18" charset="0"/>
                                    <a:ea typeface="+mn-ea"/>
                                    <a:cs typeface="+mn-cs"/>
                                  </a:rPr>
                                  <m:t>0</m:t>
                                </m:r>
                                <m:r>
                                  <a:rPr lang="ar-AE" sz="1200" b="0" i="0" kern="1200">
                                    <a:solidFill>
                                      <a:schemeClr val="tx1"/>
                                    </a:solidFill>
                                    <a:latin typeface="Cambria Math" panose="02040503050406030204" pitchFamily="18" charset="0"/>
                                    <a:ea typeface="+mn-ea"/>
                                    <a:cs typeface="+mn-cs"/>
                                  </a:rPr>
                                  <m:t>,</m:t>
                                </m:r>
                              </m:e>
                              <m:e>
                                <m:r>
                                  <m:rPr>
                                    <m:nor/>
                                  </m:rPr>
                                  <a:rPr lang="en-US" sz="1200" b="0" i="1" kern="1200">
                                    <a:solidFill>
                                      <a:schemeClr val="tx1"/>
                                    </a:solidFill>
                                    <a:latin typeface="+mn-lt"/>
                                    <a:ea typeface="+mn-ea"/>
                                    <a:cs typeface="+mn-cs"/>
                                  </a:rPr>
                                  <m:t>n</m:t>
                                </m:r>
                                <m:limUpp>
                                  <m:limUppPr>
                                    <m:ctrlPr>
                                      <a:rPr lang="ar-AE" sz="1200" b="0" i="1" kern="1200">
                                        <a:solidFill>
                                          <a:schemeClr val="tx1"/>
                                        </a:solidFill>
                                        <a:latin typeface="Cambria Math" panose="02040503050406030204" pitchFamily="18" charset="0"/>
                                        <a:ea typeface="+mn-ea"/>
                                        <a:cs typeface="+mn-cs"/>
                                      </a:rPr>
                                    </m:ctrlPr>
                                  </m:limUppPr>
                                  <m:e>
                                    <m:limUpp>
                                      <m:limUppPr>
                                        <m:ctrlPr>
                                          <a:rPr lang="ar-AE" sz="1200" b="0" i="1" kern="1200">
                                            <a:solidFill>
                                              <a:schemeClr val="tx1"/>
                                            </a:solidFill>
                                            <a:latin typeface="Cambria Math" panose="02040503050406030204" pitchFamily="18" charset="0"/>
                                            <a:ea typeface="+mn-ea"/>
                                            <a:cs typeface="+mn-cs"/>
                                          </a:rPr>
                                        </m:ctrlPr>
                                      </m:limUppPr>
                                      <m:e>
                                        <m:r>
                                          <m:rPr>
                                            <m:nor/>
                                          </m:rPr>
                                          <a:rPr lang="en-US" sz="1200" b="0" i="1" kern="1200">
                                            <a:solidFill>
                                              <a:schemeClr val="tx1"/>
                                            </a:solidFill>
                                            <a:latin typeface="+mn-lt"/>
                                            <a:ea typeface="+mn-ea"/>
                                            <a:cs typeface="+mn-cs"/>
                                          </a:rPr>
                                          <m:t>e</m:t>
                                        </m:r>
                                      </m:e>
                                      <m:lim>
                                        <m:r>
                                          <a:rPr lang="ar-AE" sz="1200" b="0" i="0" kern="1200">
                                            <a:solidFill>
                                              <a:schemeClr val="tx1"/>
                                            </a:solidFill>
                                            <a:latin typeface="Cambria Math" panose="02040503050406030204" pitchFamily="18" charset="0"/>
                                            <a:ea typeface="+mn-ea"/>
                                            <a:cs typeface="+mn-cs"/>
                                          </a:rPr>
                                          <m:t>ˆ</m:t>
                                        </m:r>
                                      </m:lim>
                                    </m:limUpp>
                                  </m:e>
                                  <m:lim>
                                    <m:r>
                                      <a:rPr lang="ar-AE" sz="1200" b="0" i="0" kern="1200">
                                        <a:solidFill>
                                          <a:schemeClr val="tx1"/>
                                        </a:solidFill>
                                        <a:latin typeface="Cambria Math" panose="02040503050406030204" pitchFamily="18" charset="0"/>
                                        <a:ea typeface="+mn-ea"/>
                                        <a:cs typeface="+mn-cs"/>
                                      </a:rPr>
                                      <m:t>ˊ</m:t>
                                    </m:r>
                                  </m:lim>
                                </m:limUpp>
                                <m:r>
                                  <m:rPr>
                                    <m:nor/>
                                  </m:rPr>
                                  <a:rPr lang="en-US" sz="1200" b="0" i="1" kern="1200">
                                    <a:solidFill>
                                      <a:schemeClr val="tx1"/>
                                    </a:solidFill>
                                    <a:latin typeface="+mn-lt"/>
                                    <a:ea typeface="+mn-ea"/>
                                    <a:cs typeface="+mn-cs"/>
                                  </a:rPr>
                                  <m:t>u</m:t>
                                </m:r>
                                <m:r>
                                  <m:rPr>
                                    <m:nor/>
                                  </m:rPr>
                                  <a:rPr lang="en-US" sz="1200" b="0" i="1" kern="1200">
                                    <a:solidFill>
                                      <a:schemeClr val="tx1"/>
                                    </a:solidFill>
                                    <a:latin typeface="+mn-lt"/>
                                    <a:ea typeface="+mn-ea"/>
                                    <a:cs typeface="+mn-cs"/>
                                  </a:rPr>
                                  <m:t> </m:t>
                                </m:r>
                                <m:r>
                                  <a:rPr lang="en-US" sz="1200" b="0" i="1" kern="1200">
                                    <a:solidFill>
                                      <a:schemeClr val="tx1"/>
                                    </a:solidFill>
                                    <a:latin typeface="Cambria Math" panose="02040503050406030204" pitchFamily="18" charset="0"/>
                                    <a:ea typeface="+mn-ea"/>
                                    <a:cs typeface="+mn-cs"/>
                                  </a:rPr>
                                  <m:t>𝑃</m:t>
                                </m:r>
                                <m:r>
                                  <a:rPr lang="en-US" sz="1200" b="0" i="0" kern="1200">
                                    <a:solidFill>
                                      <a:schemeClr val="tx1"/>
                                    </a:solidFill>
                                    <a:latin typeface="Cambria Math" panose="02040503050406030204" pitchFamily="18" charset="0"/>
                                    <a:ea typeface="+mn-ea"/>
                                    <a:cs typeface="+mn-cs"/>
                                  </a:rPr>
                                  <m:t>&lt;</m:t>
                                </m:r>
                                <m:r>
                                  <a:rPr lang="en-US" sz="1200" b="0" i="0" kern="1200">
                                    <a:solidFill>
                                      <a:schemeClr val="tx1"/>
                                    </a:solidFill>
                                    <a:latin typeface="Cambria Math" panose="02040503050406030204" pitchFamily="18" charset="0"/>
                                    <a:ea typeface="+mn-ea"/>
                                    <a:cs typeface="+mn-cs"/>
                                  </a:rPr>
                                  <m:t>0</m:t>
                                </m:r>
                                <m:r>
                                  <a:rPr lang="en-US" sz="1200" b="0" i="0" kern="1200">
                                    <a:solidFill>
                                      <a:schemeClr val="tx1"/>
                                    </a:solidFill>
                                    <a:latin typeface="Cambria Math" panose="02040503050406030204" pitchFamily="18" charset="0"/>
                                    <a:ea typeface="+mn-ea"/>
                                    <a:cs typeface="+mn-cs"/>
                                  </a:rPr>
                                  <m:t>.</m:t>
                                </m:r>
                                <m:r>
                                  <a:rPr lang="en-US" sz="1200" b="0" i="0" kern="1200">
                                    <a:solidFill>
                                      <a:schemeClr val="tx1"/>
                                    </a:solidFill>
                                    <a:latin typeface="Cambria Math" panose="02040503050406030204" pitchFamily="18" charset="0"/>
                                    <a:ea typeface="+mn-ea"/>
                                    <a:cs typeface="+mn-cs"/>
                                  </a:rPr>
                                  <m:t>5</m:t>
                                </m:r>
                              </m:e>
                            </m:mr>
                          </m:m>
                        </m:e>
                      </m:d>
                    </m:oMath>
                  </m:oMathPara>
                </a14:m>
                <a:endParaRPr lang="ar-AE" b="0" dirty="0"/>
              </a:p>
              <a:p>
                <a:br>
                  <a:rPr lang="ar-AE" dirty="0"/>
                </a:br>
                <a:endParaRPr lang="ar-AE" dirty="0"/>
              </a:p>
              <a:p>
                <a:r>
                  <a:rPr lang="en-US" b="1" dirty="0"/>
                  <a:t>🟩 2.2 Naive Bayes (Gaussian NB)</a:t>
                </a:r>
              </a:p>
              <a:p>
                <a:r>
                  <a:rPr lang="en-US" dirty="0"/>
                  <a:t>Công </a:t>
                </a:r>
                <a:r>
                  <a:rPr lang="en-US" dirty="0" err="1"/>
                  <a:t>thức</a:t>
                </a:r>
                <a:r>
                  <a:rPr lang="en-US" dirty="0"/>
                  <a:t> Bayes: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𝑦</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𝑥</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𝑦</m:t>
                              </m:r>
                            </m:e>
                          </m:d>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𝑦</m:t>
                              </m:r>
                            </m:e>
                          </m:d>
                        </m:num>
                        <m:den>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den>
                      </m:f>
                    </m:oMath>
                  </m:oMathPara>
                </a14:m>
                <a:endParaRPr lang="ar-AE" dirty="0"/>
              </a:p>
              <a:p>
                <a:r>
                  <a:rPr lang="en-US" dirty="0" err="1"/>
                  <a:t>Với</a:t>
                </a:r>
                <a:r>
                  <a:rPr lang="en-US" dirty="0"/>
                  <a:t> </a:t>
                </a:r>
                <a:r>
                  <a:rPr lang="en-US" dirty="0" err="1"/>
                  <a:t>giả</a:t>
                </a:r>
                <a:r>
                  <a:rPr lang="en-US" dirty="0"/>
                  <a:t> </a:t>
                </a:r>
                <a:r>
                  <a:rPr lang="en-US" dirty="0" err="1"/>
                  <a:t>định</a:t>
                </a:r>
                <a:r>
                  <a:rPr lang="en-US" dirty="0"/>
                  <a:t> "naive" (</a:t>
                </a:r>
                <a:r>
                  <a:rPr lang="en-US" dirty="0" err="1"/>
                  <a:t>độc</a:t>
                </a:r>
                <a:r>
                  <a:rPr lang="en-US" dirty="0"/>
                  <a:t> </a:t>
                </a:r>
                <a:r>
                  <a:rPr lang="en-US" dirty="0" err="1"/>
                  <a:t>lập</a:t>
                </a:r>
                <a:r>
                  <a:rPr lang="en-US" dirty="0"/>
                  <a:t>):</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𝑦</m:t>
                          </m:r>
                        </m:e>
                      </m:d>
                      <m:r>
                        <a:rPr lang="ar-AE" sz="1200" i="0" kern="1200">
                          <a:solidFill>
                            <a:schemeClr val="tx1"/>
                          </a:solidFill>
                          <a:latin typeface="Cambria Math" panose="02040503050406030204" pitchFamily="18" charset="0"/>
                          <a:ea typeface="+mn-ea"/>
                          <a:cs typeface="+mn-cs"/>
                        </a:rPr>
                        <m:t>=</m:t>
                      </m:r>
                      <m:nary>
                        <m:naryPr>
                          <m:chr m:val="∏"/>
                          <m:grow m:val="on"/>
                          <m:ctrlPr>
                            <a:rPr lang="ar-AE" sz="1200" i="1" kern="1200">
                              <a:solidFill>
                                <a:schemeClr val="tx1"/>
                              </a:solidFill>
                              <a:latin typeface="Cambria Math" panose="02040503050406030204" pitchFamily="18" charset="0"/>
                              <a:ea typeface="+mn-ea"/>
                              <a:cs typeface="+mn-cs"/>
                            </a:rPr>
                          </m:ctrlPr>
                        </m:naryPr>
                        <m:sub>
                          <m:r>
                            <a:rPr lang="ar-AE" sz="1200" i="1" kern="1200">
                              <a:solidFill>
                                <a:schemeClr val="tx1"/>
                              </a:solidFill>
                              <a:latin typeface="Cambria Math" panose="02040503050406030204" pitchFamily="18" charset="0"/>
                              <a:ea typeface="+mn-ea"/>
                              <a:cs typeface="+mn-cs"/>
                            </a:rPr>
                            <m:t>𝑖</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ub>
                        <m:sup>
                          <m:r>
                            <a:rPr lang="ar-AE" sz="1200" i="1" kern="1200">
                              <a:solidFill>
                                <a:schemeClr val="tx1"/>
                              </a:solidFill>
                              <a:latin typeface="Cambria Math" panose="02040503050406030204" pitchFamily="18" charset="0"/>
                              <a:ea typeface="+mn-ea"/>
                              <a:cs typeface="+mn-cs"/>
                            </a:rPr>
                            <m:t>𝑛</m:t>
                          </m:r>
                        </m:sup>
                        <m:e>
                          <m:r>
                            <a:rPr lang="ar-AE" sz="1200" i="1" kern="1200">
                              <a:solidFill>
                                <a:schemeClr val="tx1"/>
                              </a:solidFill>
                              <a:latin typeface="Cambria Math" panose="02040503050406030204" pitchFamily="18" charset="0"/>
                              <a:ea typeface="+mn-ea"/>
                              <a:cs typeface="+mn-cs"/>
                            </a:rPr>
                            <m:t>𝑃</m:t>
                          </m:r>
                        </m:e>
                      </m:nary>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𝑥</m:t>
                              </m:r>
                            </m:e>
                            <m:sub>
                              <m:r>
                                <a:rPr lang="ar-AE" sz="1200" i="1" kern="1200">
                                  <a:solidFill>
                                    <a:schemeClr val="tx1"/>
                                  </a:solidFill>
                                  <a:latin typeface="Cambria Math" panose="02040503050406030204" pitchFamily="18" charset="0"/>
                                  <a:ea typeface="+mn-ea"/>
                                  <a:cs typeface="+mn-cs"/>
                                </a:rPr>
                                <m:t>𝑖</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𝑦</m:t>
                          </m:r>
                        </m:e>
                      </m:d>
                    </m:oMath>
                  </m:oMathPara>
                </a14:m>
                <a:endParaRPr lang="ar-AE" dirty="0"/>
              </a:p>
              <a:p>
                <a:r>
                  <a:rPr lang="en-US" dirty="0" err="1"/>
                  <a:t>Vì</a:t>
                </a:r>
                <a:r>
                  <a:rPr lang="en-US" dirty="0"/>
                  <a:t> </a:t>
                </a:r>
                <a:r>
                  <a:rPr lang="en-US" dirty="0" err="1"/>
                  <a:t>dữ</a:t>
                </a:r>
                <a:r>
                  <a:rPr lang="en-US" dirty="0"/>
                  <a:t> </a:t>
                </a:r>
                <a:r>
                  <a:rPr lang="en-US" dirty="0" err="1"/>
                  <a:t>liệu</a:t>
                </a:r>
                <a:r>
                  <a:rPr lang="en-US" dirty="0"/>
                  <a:t> </a:t>
                </a:r>
                <a:r>
                  <a:rPr lang="en-US" dirty="0" err="1"/>
                  <a:t>là</a:t>
                </a:r>
                <a:r>
                  <a:rPr lang="en-US" dirty="0"/>
                  <a:t> </a:t>
                </a:r>
                <a:r>
                  <a:rPr lang="en-US" dirty="0" err="1"/>
                  <a:t>giá</a:t>
                </a:r>
                <a:r>
                  <a:rPr lang="en-US" dirty="0"/>
                  <a:t> </a:t>
                </a:r>
                <a:r>
                  <a:rPr lang="en-US" dirty="0" err="1"/>
                  <a:t>trị</a:t>
                </a:r>
                <a:r>
                  <a:rPr lang="en-US" dirty="0"/>
                  <a:t> </a:t>
                </a:r>
                <a:r>
                  <a:rPr lang="en-US" dirty="0" err="1"/>
                  <a:t>liên</a:t>
                </a:r>
                <a:r>
                  <a:rPr lang="en-US" dirty="0"/>
                  <a:t> </a:t>
                </a:r>
                <a:r>
                  <a:rPr lang="en-US" dirty="0" err="1"/>
                  <a:t>tục</a:t>
                </a:r>
                <a:r>
                  <a:rPr lang="en-US" dirty="0"/>
                  <a:t> → Gaussian: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𝑥</m:t>
                              </m:r>
                            </m:e>
                            <m:sub>
                              <m:r>
                                <a:rPr lang="ar-AE" sz="1200" i="1" kern="1200">
                                  <a:solidFill>
                                    <a:schemeClr val="tx1"/>
                                  </a:solidFill>
                                  <a:latin typeface="Cambria Math" panose="02040503050406030204" pitchFamily="18" charset="0"/>
                                  <a:ea typeface="+mn-ea"/>
                                  <a:cs typeface="+mn-cs"/>
                                </a:rPr>
                                <m:t>𝑖</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𝑦</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m:t>
                          </m:r>
                        </m:num>
                        <m:den>
                          <m:rad>
                            <m:radPr>
                              <m:degHide m:val="on"/>
                              <m:ctrlPr>
                                <a:rPr lang="ar-AE" sz="1200" i="1" kern="1200">
                                  <a:solidFill>
                                    <a:schemeClr val="tx1"/>
                                  </a:solidFill>
                                  <a:latin typeface="Cambria Math" panose="02040503050406030204" pitchFamily="18" charset="0"/>
                                  <a:ea typeface="+mn-ea"/>
                                  <a:cs typeface="+mn-cs"/>
                                </a:rPr>
                              </m:ctrlPr>
                            </m:radPr>
                            <m:deg/>
                            <m:e>
                              <m:r>
                                <a:rPr lang="ar-AE" sz="1200" i="0" kern="1200">
                                  <a:solidFill>
                                    <a:schemeClr val="tx1"/>
                                  </a:solidFill>
                                  <a:latin typeface="Cambria Math" panose="02040503050406030204" pitchFamily="18" charset="0"/>
                                  <a:ea typeface="+mn-ea"/>
                                  <a:cs typeface="+mn-cs"/>
                                </a:rPr>
                                <m:t>2</m:t>
                              </m:r>
                              <m:r>
                                <a:rPr lang="ar-AE" sz="1200" i="1" kern="1200">
                                  <a:solidFill>
                                    <a:schemeClr val="tx1"/>
                                  </a:solidFill>
                                  <a:latin typeface="Cambria Math" panose="02040503050406030204" pitchFamily="18" charset="0"/>
                                  <a:ea typeface="+mn-ea"/>
                                  <a:cs typeface="+mn-cs"/>
                                </a:rPr>
                                <m:t>𝜋</m:t>
                              </m:r>
                              <m:sSubSup>
                                <m:sSubSupPr>
                                  <m:ctrlPr>
                                    <a:rPr lang="ar-AE" sz="1200" i="1" kern="1200">
                                      <a:solidFill>
                                        <a:schemeClr val="tx1"/>
                                      </a:solidFill>
                                      <a:latin typeface="Cambria Math" panose="02040503050406030204" pitchFamily="18" charset="0"/>
                                      <a:ea typeface="+mn-ea"/>
                                      <a:cs typeface="+mn-cs"/>
                                    </a:rPr>
                                  </m:ctrlPr>
                                </m:sSubSupPr>
                                <m:e>
                                  <m:r>
                                    <a:rPr lang="ar-AE" sz="1200" i="1" kern="1200">
                                      <a:solidFill>
                                        <a:schemeClr val="tx1"/>
                                      </a:solidFill>
                                      <a:latin typeface="Cambria Math" panose="02040503050406030204" pitchFamily="18" charset="0"/>
                                      <a:ea typeface="+mn-ea"/>
                                      <a:cs typeface="+mn-cs"/>
                                    </a:rPr>
                                    <m:t>𝜎</m:t>
                                  </m:r>
                                </m:e>
                                <m:sub>
                                  <m:r>
                                    <a:rPr lang="ar-AE" sz="1200" i="1" kern="1200">
                                      <a:solidFill>
                                        <a:schemeClr val="tx1"/>
                                      </a:solidFill>
                                      <a:latin typeface="Cambria Math" panose="02040503050406030204" pitchFamily="18" charset="0"/>
                                      <a:ea typeface="+mn-ea"/>
                                      <a:cs typeface="+mn-cs"/>
                                    </a:rPr>
                                    <m:t>𝑦</m:t>
                                  </m:r>
                                </m:sub>
                                <m:sup>
                                  <m:r>
                                    <a:rPr lang="ar-AE" sz="1200" i="0" kern="1200">
                                      <a:solidFill>
                                        <a:schemeClr val="tx1"/>
                                      </a:solidFill>
                                      <a:latin typeface="Cambria Math" panose="02040503050406030204" pitchFamily="18" charset="0"/>
                                      <a:ea typeface="+mn-ea"/>
                                      <a:cs typeface="+mn-cs"/>
                                    </a:rPr>
                                    <m:t>2</m:t>
                                  </m:r>
                                </m:sup>
                              </m:sSubSup>
                            </m:e>
                          </m:rad>
                        </m:den>
                      </m:f>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exp</m:t>
                          </m:r>
                        </m:fName>
                        <m:e>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d>
                                    <m:dPr>
                                      <m:endChr m:val=""/>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𝑥</m:t>
                                          </m:r>
                                        </m:e>
                                        <m:sub>
                                          <m:r>
                                            <a:rPr lang="ar-AE" sz="1200" i="1" kern="1200">
                                              <a:solidFill>
                                                <a:schemeClr val="tx1"/>
                                              </a:solidFill>
                                              <a:latin typeface="Cambria Math" panose="02040503050406030204" pitchFamily="18" charset="0"/>
                                              <a:ea typeface="+mn-ea"/>
                                              <a:cs typeface="+mn-cs"/>
                                            </a:rPr>
                                            <m:t>𝑖</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𝜇</m:t>
                                          </m:r>
                                        </m:e>
                                        <m:sub>
                                          <m:r>
                                            <a:rPr lang="ar-AE" sz="1200" i="1" kern="1200">
                                              <a:solidFill>
                                                <a:schemeClr val="tx1"/>
                                              </a:solidFill>
                                              <a:latin typeface="Cambria Math" panose="02040503050406030204" pitchFamily="18" charset="0"/>
                                              <a:ea typeface="+mn-ea"/>
                                              <a:cs typeface="+mn-cs"/>
                                            </a:rPr>
                                            <m:t>𝑦</m:t>
                                          </m:r>
                                        </m:sub>
                                      </m:sSub>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e>
                                  </m:d>
                                </m:num>
                                <m:den>
                                  <m:r>
                                    <a:rPr lang="ar-AE" sz="1200" i="0" kern="1200">
                                      <a:solidFill>
                                        <a:schemeClr val="tx1"/>
                                      </a:solidFill>
                                      <a:latin typeface="Cambria Math" panose="02040503050406030204" pitchFamily="18" charset="0"/>
                                      <a:ea typeface="+mn-ea"/>
                                      <a:cs typeface="+mn-cs"/>
                                    </a:rPr>
                                    <m:t>2</m:t>
                                  </m:r>
                                  <m:sSubSup>
                                    <m:sSubSupPr>
                                      <m:ctrlPr>
                                        <a:rPr lang="ar-AE" sz="1200" i="1" kern="1200">
                                          <a:solidFill>
                                            <a:schemeClr val="tx1"/>
                                          </a:solidFill>
                                          <a:latin typeface="Cambria Math" panose="02040503050406030204" pitchFamily="18" charset="0"/>
                                          <a:ea typeface="+mn-ea"/>
                                          <a:cs typeface="+mn-cs"/>
                                        </a:rPr>
                                      </m:ctrlPr>
                                    </m:sSubSupPr>
                                    <m:e>
                                      <m:r>
                                        <a:rPr lang="ar-AE" sz="1200" i="1" kern="1200">
                                          <a:solidFill>
                                            <a:schemeClr val="tx1"/>
                                          </a:solidFill>
                                          <a:latin typeface="Cambria Math" panose="02040503050406030204" pitchFamily="18" charset="0"/>
                                          <a:ea typeface="+mn-ea"/>
                                          <a:cs typeface="+mn-cs"/>
                                        </a:rPr>
                                        <m:t>𝜎</m:t>
                                      </m:r>
                                    </m:e>
                                    <m:sub>
                                      <m:r>
                                        <a:rPr lang="ar-AE" sz="1200" i="1" kern="1200">
                                          <a:solidFill>
                                            <a:schemeClr val="tx1"/>
                                          </a:solidFill>
                                          <a:latin typeface="Cambria Math" panose="02040503050406030204" pitchFamily="18" charset="0"/>
                                          <a:ea typeface="+mn-ea"/>
                                          <a:cs typeface="+mn-cs"/>
                                        </a:rPr>
                                        <m:t>𝑦</m:t>
                                      </m:r>
                                    </m:sub>
                                    <m:sup>
                                      <m:r>
                                        <a:rPr lang="ar-AE" sz="1200" i="0" kern="1200">
                                          <a:solidFill>
                                            <a:schemeClr val="tx1"/>
                                          </a:solidFill>
                                          <a:latin typeface="Cambria Math" panose="02040503050406030204" pitchFamily="18" charset="0"/>
                                          <a:ea typeface="+mn-ea"/>
                                          <a:cs typeface="+mn-cs"/>
                                        </a:rPr>
                                        <m:t>2</m:t>
                                      </m:r>
                                    </m:sup>
                                  </m:sSubSup>
                                </m:den>
                              </m:f>
                            </m:e>
                          </m:d>
                        </m:e>
                      </m:func>
                    </m:oMath>
                  </m:oMathPara>
                </a14:m>
                <a:endParaRPr lang="ar-AE" dirty="0"/>
              </a:p>
              <a:p>
                <a:br>
                  <a:rPr lang="ar-AE" dirty="0"/>
                </a:br>
                <a:endParaRPr lang="ar-AE" dirty="0"/>
              </a:p>
              <a:p>
                <a:r>
                  <a:rPr lang="en-US" b="1" dirty="0"/>
                  <a:t>🟩 2.3 Random Forest</a:t>
                </a:r>
              </a:p>
              <a:p>
                <a:r>
                  <a:rPr lang="en-US" dirty="0"/>
                  <a:t>RF = </a:t>
                </a:r>
                <a:r>
                  <a:rPr lang="en-US" dirty="0" err="1"/>
                  <a:t>tập</a:t>
                </a:r>
                <a:r>
                  <a:rPr lang="en-US" dirty="0"/>
                  <a:t> </a:t>
                </a:r>
                <a:r>
                  <a:rPr lang="en-US" dirty="0" err="1"/>
                  <a:t>hợp</a:t>
                </a:r>
                <a:r>
                  <a:rPr lang="en-US" dirty="0"/>
                  <a:t> </a:t>
                </a:r>
                <a:r>
                  <a:rPr lang="en-US" dirty="0" err="1"/>
                  <a:t>nhiều</a:t>
                </a:r>
                <a:r>
                  <a:rPr lang="en-US" dirty="0"/>
                  <a:t> </a:t>
                </a:r>
                <a:r>
                  <a:rPr lang="en-US" dirty="0" err="1"/>
                  <a:t>cây</a:t>
                </a:r>
                <a:r>
                  <a:rPr lang="en-US" dirty="0"/>
                  <a:t> </a:t>
                </a:r>
                <a:r>
                  <a:rPr lang="en-US" dirty="0" err="1"/>
                  <a:t>quyết</a:t>
                </a:r>
                <a:r>
                  <a:rPr lang="en-US" dirty="0"/>
                  <a:t> </a:t>
                </a:r>
                <a:r>
                  <a:rPr lang="en-US" dirty="0" err="1"/>
                  <a:t>định</a:t>
                </a:r>
                <a:r>
                  <a:rPr lang="en-US" dirty="0"/>
                  <a:t>:</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𝑅𝐹</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𝑚𝑜𝑑𝑒</m:t>
                      </m:r>
                      <m:d>
                        <m:dPr>
                          <m:sepChr m:val=","/>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h</m:t>
                              </m:r>
                            </m:e>
                            <m:sub>
                              <m:r>
                                <a:rPr lang="ar-AE" sz="1200" i="0" kern="1200">
                                  <a:solidFill>
                                    <a:schemeClr val="tx1"/>
                                  </a:solidFill>
                                  <a:latin typeface="Cambria Math" panose="02040503050406030204" pitchFamily="18" charset="0"/>
                                  <a:ea typeface="+mn-ea"/>
                                  <a:cs typeface="+mn-cs"/>
                                </a:rPr>
                                <m:t>1</m:t>
                              </m:r>
                            </m:sub>
                          </m:sSub>
                        </m:e>
                        <m:e>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e>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h</m:t>
                              </m:r>
                            </m:e>
                            <m:sub>
                              <m:r>
                                <a:rPr lang="ar-AE" sz="1200" i="0" kern="1200">
                                  <a:solidFill>
                                    <a:schemeClr val="tx1"/>
                                  </a:solidFill>
                                  <a:latin typeface="Cambria Math" panose="02040503050406030204" pitchFamily="18" charset="0"/>
                                  <a:ea typeface="+mn-ea"/>
                                  <a:cs typeface="+mn-cs"/>
                                </a:rPr>
                                <m:t>2</m:t>
                              </m:r>
                            </m:sub>
                          </m:sSub>
                        </m:e>
                        <m:e>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h</m:t>
                              </m:r>
                            </m:e>
                            <m:sub>
                              <m:r>
                                <a:rPr lang="ar-AE" sz="1200" i="1" kern="1200">
                                  <a:solidFill>
                                    <a:schemeClr val="tx1"/>
                                  </a:solidFill>
                                  <a:latin typeface="Cambria Math" panose="02040503050406030204" pitchFamily="18" charset="0"/>
                                  <a:ea typeface="+mn-ea"/>
                                  <a:cs typeface="+mn-cs"/>
                                </a:rPr>
                                <m:t>𝑛</m:t>
                              </m:r>
                            </m:sub>
                          </m:sSub>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e>
                      </m:d>
                    </m:oMath>
                  </m:oMathPara>
                </a14:m>
                <a:endParaRPr lang="ar-AE" dirty="0"/>
              </a:p>
              <a:p>
                <a:r>
                  <a:rPr lang="en-US" dirty="0" err="1"/>
                  <a:t>Mỗi</a:t>
                </a:r>
                <a:r>
                  <a:rPr lang="en-US" dirty="0"/>
                  <a:t> </a:t>
                </a:r>
                <a:r>
                  <a:rPr lang="en-US" dirty="0" err="1"/>
                  <a:t>cây</a:t>
                </a:r>
                <a:r>
                  <a:rPr lang="en-US" dirty="0"/>
                  <a:t> </a:t>
                </a:r>
                <a:r>
                  <a:rPr lang="en-US" dirty="0" err="1"/>
                  <a:t>học</a:t>
                </a:r>
                <a:r>
                  <a:rPr lang="en-US" dirty="0"/>
                  <a:t> </a:t>
                </a:r>
                <a:r>
                  <a:rPr lang="en-US" dirty="0" err="1"/>
                  <a:t>từ</a:t>
                </a:r>
                <a:r>
                  <a:rPr lang="en-US" dirty="0"/>
                  <a:t> </a:t>
                </a:r>
                <a:r>
                  <a:rPr lang="en-US" dirty="0" err="1"/>
                  <a:t>một</a:t>
                </a:r>
                <a:r>
                  <a:rPr lang="en-US" dirty="0"/>
                  <a:t> </a:t>
                </a:r>
                <a:r>
                  <a:rPr lang="en-US" dirty="0" err="1"/>
                  <a:t>tập</a:t>
                </a:r>
                <a:r>
                  <a:rPr lang="en-US" dirty="0"/>
                  <a:t> bootstrap:</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𝑖</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𝑠𝑎𝑚𝑝𝑙𝑒</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𝐷</m:t>
                          </m:r>
                        </m:e>
                      </m:d>
                    </m:oMath>
                  </m:oMathPara>
                </a14:m>
                <a:endParaRPr lang="ar-AE" dirty="0"/>
              </a:p>
              <a:p>
                <a:r>
                  <a:rPr lang="en-US" dirty="0" err="1"/>
                  <a:t>Đồng</a:t>
                </a:r>
                <a:r>
                  <a:rPr lang="en-US" dirty="0"/>
                  <a:t> </a:t>
                </a:r>
                <a:r>
                  <a:rPr lang="en-US" dirty="0" err="1"/>
                  <a:t>thời</a:t>
                </a:r>
                <a:r>
                  <a:rPr lang="en-US" dirty="0"/>
                  <a:t> </a:t>
                </a:r>
                <a:r>
                  <a:rPr lang="en-US" dirty="0" err="1"/>
                  <a:t>chỉ</a:t>
                </a:r>
                <a:r>
                  <a:rPr lang="en-US" dirty="0"/>
                  <a:t> </a:t>
                </a:r>
                <a:r>
                  <a:rPr lang="en-US" dirty="0" err="1"/>
                  <a:t>chọn</a:t>
                </a:r>
                <a:r>
                  <a:rPr lang="en-US" dirty="0"/>
                  <a:t> </a:t>
                </a:r>
                <a:r>
                  <a:rPr lang="en-US" dirty="0" err="1"/>
                  <a:t>một</a:t>
                </a:r>
                <a:r>
                  <a:rPr lang="en-US" dirty="0"/>
                  <a:t> </a:t>
                </a:r>
                <a:r>
                  <a:rPr lang="en-US" dirty="0" err="1"/>
                  <a:t>số</a:t>
                </a:r>
                <a:r>
                  <a:rPr lang="en-US" dirty="0"/>
                  <a:t> feature </a:t>
                </a:r>
                <a:r>
                  <a:rPr lang="en-US" dirty="0" err="1"/>
                  <a:t>ngẫu</a:t>
                </a:r>
                <a:r>
                  <a:rPr lang="en-US" dirty="0"/>
                  <a:t> </a:t>
                </a:r>
                <a:r>
                  <a:rPr lang="en-US" dirty="0" err="1"/>
                  <a:t>nhiên</a:t>
                </a:r>
                <a:r>
                  <a:rPr lang="en-US" dirty="0"/>
                  <a:t> </a:t>
                </a:r>
                <a:r>
                  <a:rPr lang="en-US" dirty="0" err="1"/>
                  <a:t>để</a:t>
                </a:r>
                <a:r>
                  <a:rPr lang="en-US" dirty="0"/>
                  <a:t> chia node:</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𝑓𝑒𝑎𝑡𝑢𝑟𝑒𝑠</m:t>
                      </m:r>
                      <m:r>
                        <m:rPr>
                          <m:lit/>
                        </m:rPr>
                        <a:rPr lang="en-US" sz="1200" i="0" kern="1200">
                          <a:solidFill>
                            <a:schemeClr val="tx1"/>
                          </a:solidFill>
                          <a:latin typeface="Cambria Math" panose="02040503050406030204" pitchFamily="18" charset="0"/>
                          <a:ea typeface="+mn-ea"/>
                          <a:cs typeface="+mn-cs"/>
                        </a:rPr>
                        <m:t>_</m:t>
                      </m:r>
                      <m:r>
                        <a:rPr lang="en-US" sz="1200" i="1" kern="1200">
                          <a:solidFill>
                            <a:schemeClr val="tx1"/>
                          </a:solidFill>
                          <a:latin typeface="Cambria Math" panose="02040503050406030204" pitchFamily="18" charset="0"/>
                          <a:ea typeface="+mn-ea"/>
                          <a:cs typeface="+mn-cs"/>
                        </a:rPr>
                        <m:t>𝑠𝑢𝑏𝑠𝑒𝑡</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𝑟𝑎𝑛𝑑𝑜𝑚</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𝑘</m:t>
                          </m:r>
                        </m:e>
                      </m:d>
                    </m:oMath>
                  </m:oMathPara>
                </a14:m>
                <a:endParaRPr lang="ar-AE" dirty="0"/>
              </a:p>
              <a:p>
                <a:br>
                  <a:rPr lang="ar-AE" dirty="0"/>
                </a:br>
                <a:endParaRPr lang="ar-AE" dirty="0"/>
              </a:p>
              <a:p>
                <a:r>
                  <a:rPr lang="en-US" b="1" dirty="0"/>
                  <a:t>🟩 2.4 KNN (K-Nearest Neighbors)</a:t>
                </a:r>
              </a:p>
              <a:p>
                <a:r>
                  <a:rPr lang="en-US" dirty="0" err="1"/>
                  <a:t>Khoảng</a:t>
                </a:r>
                <a:r>
                  <a:rPr lang="en-US" dirty="0"/>
                  <a:t> </a:t>
                </a:r>
                <a:r>
                  <a:rPr lang="en-US" dirty="0" err="1"/>
                  <a:t>cách</a:t>
                </a:r>
                <a:r>
                  <a:rPr lang="en-US" dirty="0"/>
                  <a:t> Euclid:</a:t>
                </a:r>
              </a:p>
              <a:p>
                <a:r>
                  <a:rPr lang="en-US" dirty="0" err="1"/>
                  <a:t>Dự</a:t>
                </a:r>
                <a:r>
                  <a:rPr lang="en-US" dirty="0"/>
                  <a:t> </a:t>
                </a:r>
                <a:r>
                  <a:rPr lang="en-US" dirty="0" err="1"/>
                  <a:t>đoán</a:t>
                </a:r>
                <a:r>
                  <a:rPr lang="en-US" dirty="0"/>
                  <a:t>:</a:t>
                </a:r>
              </a:p>
              <a:p>
                <a:pPr/>
                <a14:m>
                  <m:oMathPara xmlns:m="http://schemas.openxmlformats.org/officeDocument/2006/math">
                    <m:oMathParaPr>
                      <m:jc m:val="centerGroup"/>
                    </m:oMathParaPr>
                    <m:oMath xmlns:m="http://schemas.openxmlformats.org/officeDocument/2006/math">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𝑦</m:t>
                          </m:r>
                        </m:e>
                      </m:acc>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𝑚𝑜𝑑𝑒</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𝑦</m:t>
                              </m:r>
                            </m:e>
                            <m:sub>
                              <m:r>
                                <a:rPr lang="ar-AE" sz="1200" i="1" kern="1200">
                                  <a:solidFill>
                                    <a:schemeClr val="tx1"/>
                                  </a:solidFill>
                                  <a:latin typeface="Cambria Math" panose="02040503050406030204" pitchFamily="18" charset="0"/>
                                  <a:ea typeface="+mn-ea"/>
                                  <a:cs typeface="+mn-cs"/>
                                </a:rPr>
                                <m:t>𝑘</m:t>
                              </m:r>
                              <m:r>
                                <m:rPr>
                                  <m:nor/>
                                </m:rPr>
                                <a:rPr lang="ar-AE" sz="1200" b="0" i="1" kern="1200">
                                  <a:solidFill>
                                    <a:schemeClr val="tx1"/>
                                  </a:solidFill>
                                  <a:latin typeface="+mn-lt"/>
                                  <a:ea typeface="+mn-ea"/>
                                  <a:cs typeface="+mn-cs"/>
                                </a:rPr>
                                <m:t> </m:t>
                              </m:r>
                              <m:r>
                                <a:rPr lang="ar-AE" sz="1200" b="0" i="1" kern="1200">
                                  <a:solidFill>
                                    <a:schemeClr val="tx1"/>
                                  </a:solidFill>
                                  <a:latin typeface="Cambria Math" panose="02040503050406030204" pitchFamily="18" charset="0"/>
                                  <a:ea typeface="+mn-ea"/>
                                  <a:cs typeface="+mn-cs"/>
                                </a:rPr>
                                <m:t>𝑛𝑒𝑎𝑟𝑒𝑠𝑡</m:t>
                              </m:r>
                            </m:sub>
                          </m:sSub>
                        </m:e>
                      </m:d>
                    </m:oMath>
                  </m:oMathPara>
                </a14:m>
                <a:endParaRPr lang="ar-AE" b="0" dirty="0"/>
              </a:p>
              <a:p>
                <a:endParaRPr lang="en-US" dirty="0"/>
              </a:p>
            </p:txBody>
          </p:sp>
        </mc:Choice>
        <mc:Fallback xmlns="">
          <p:sp>
            <p:nvSpPr>
              <p:cNvPr id="3" name="Notes Placeholder 2"/>
              <p:cNvSpPr>
                <a:spLocks noGrp="1"/>
              </p:cNvSpPr>
              <p:nvPr>
                <p:ph type="body" idx="1"/>
              </p:nvPr>
            </p:nvSpPr>
            <p:spPr/>
            <p:txBody>
              <a:bodyPr/>
              <a:lstStyle/>
              <a:p>
                <a:r>
                  <a:rPr lang="en-US" b="1" dirty="0"/>
                  <a:t>2.1 Logistic Regression</a:t>
                </a:r>
              </a:p>
              <a:p>
                <a:r>
                  <a:rPr lang="en-US" dirty="0"/>
                  <a:t>Logistic Regression </a:t>
                </a:r>
                <a:r>
                  <a:rPr lang="en-US" dirty="0" err="1"/>
                  <a:t>dự</a:t>
                </a:r>
                <a:r>
                  <a:rPr lang="en-US" dirty="0"/>
                  <a:t> </a:t>
                </a:r>
                <a:r>
                  <a:rPr lang="en-US" dirty="0" err="1"/>
                  <a:t>đoán</a:t>
                </a:r>
                <a:r>
                  <a:rPr lang="en-US" dirty="0"/>
                  <a:t> </a:t>
                </a:r>
                <a:r>
                  <a:rPr lang="en-US" dirty="0" err="1"/>
                  <a:t>xác</a:t>
                </a:r>
                <a:r>
                  <a:rPr lang="en-US" dirty="0"/>
                  <a:t> </a:t>
                </a:r>
                <a:r>
                  <a:rPr lang="en-US" dirty="0" err="1"/>
                  <a:t>suất</a:t>
                </a:r>
                <a:r>
                  <a:rPr lang="en-US" dirty="0"/>
                  <a:t> </a:t>
                </a:r>
                <a:r>
                  <a:rPr lang="en-US" dirty="0" err="1"/>
                  <a:t>mắc</a:t>
                </a:r>
                <a:r>
                  <a:rPr lang="en-US" dirty="0"/>
                  <a:t> </a:t>
                </a:r>
                <a:r>
                  <a:rPr lang="en-US" dirty="0" err="1"/>
                  <a:t>bệnh</a:t>
                </a:r>
                <a:r>
                  <a:rPr lang="en-US" dirty="0"/>
                  <a:t>:</a:t>
                </a:r>
              </a:p>
              <a:p>
                <a:r>
                  <a:rPr lang="en-US" sz="1200" i="0" kern="1200">
                    <a:solidFill>
                      <a:schemeClr val="tx1"/>
                    </a:solidFill>
                    <a:latin typeface="+mn-lt"/>
                    <a:ea typeface="+mn-ea"/>
                    <a:cs typeface="+mn-cs"/>
                  </a:rPr>
                  <a:t>𝑃</a:t>
                </a:r>
                <a:r>
                  <a:rPr lang="ar-AE" sz="1200" i="0" kern="1200">
                    <a:solidFill>
                      <a:schemeClr val="tx1"/>
                    </a:solidFill>
                    <a:latin typeface="+mn-lt"/>
                    <a:ea typeface="+mn-ea"/>
                    <a:cs typeface="+mn-cs"/>
                  </a:rPr>
                  <a:t>(𝑦=1∣𝑥)=1/(1+𝑒^(−(𝛽_0+𝛽_1 𝑥_1+⋯+𝛽_𝑛 𝑥_𝑛 ) ) )</a:t>
                </a:r>
                <a:endParaRPr lang="ar-AE" dirty="0"/>
              </a:p>
              <a:p>
                <a:r>
                  <a:rPr lang="en-US" dirty="0" err="1"/>
                  <a:t>Hàm</a:t>
                </a:r>
                <a:r>
                  <a:rPr lang="en-US" dirty="0"/>
                  <a:t> loss (Binary Cross Entropy):</a:t>
                </a:r>
              </a:p>
              <a:p>
                <a:r>
                  <a:rPr lang="en-US" dirty="0"/>
                  <a:t>Quy </a:t>
                </a:r>
                <a:r>
                  <a:rPr lang="en-US" dirty="0" err="1"/>
                  <a:t>tắc</a:t>
                </a:r>
                <a:r>
                  <a:rPr lang="en-US" dirty="0"/>
                  <a:t> </a:t>
                </a:r>
                <a:r>
                  <a:rPr lang="en-US" dirty="0" err="1"/>
                  <a:t>quyết</a:t>
                </a:r>
                <a:r>
                  <a:rPr lang="en-US" dirty="0"/>
                  <a:t> </a:t>
                </a:r>
                <a:r>
                  <a:rPr lang="en-US" dirty="0" err="1"/>
                  <a:t>định</a:t>
                </a:r>
                <a:r>
                  <a:rPr lang="en-US" dirty="0"/>
                  <a:t>:</a:t>
                </a:r>
              </a:p>
              <a:p>
                <a:r>
                  <a:rPr lang="ar-AE" sz="1200" i="0" kern="1200">
                    <a:solidFill>
                      <a:schemeClr val="tx1"/>
                    </a:solidFill>
                    <a:latin typeface="+mn-lt"/>
                    <a:ea typeface="+mn-ea"/>
                    <a:cs typeface="+mn-cs"/>
                  </a:rPr>
                  <a:t>𝑦 ̂={■(1,&amp;</a:t>
                </a:r>
                <a:r>
                  <a:rPr lang="en-US" sz="1200" b="0" i="0" kern="1200">
                    <a:solidFill>
                      <a:schemeClr val="tx1"/>
                    </a:solidFill>
                    <a:latin typeface="+mn-lt"/>
                    <a:ea typeface="+mn-ea"/>
                    <a:cs typeface="+mn-cs"/>
                  </a:rPr>
                  <a:t>"n</a:t>
                </a:r>
                <a:r>
                  <a:rPr lang="ar-AE" sz="1200" b="0" i="0" kern="1200">
                    <a:solidFill>
                      <a:schemeClr val="tx1"/>
                    </a:solidFill>
                    <a:latin typeface="+mn-lt"/>
                    <a:ea typeface="+mn-ea"/>
                    <a:cs typeface="+mn-cs"/>
                  </a:rPr>
                  <a:t>"  (</a:t>
                </a:r>
                <a:r>
                  <a:rPr lang="en-US" sz="1200" b="0" i="0" kern="1200">
                    <a:solidFill>
                      <a:schemeClr val="tx1"/>
                    </a:solidFill>
                    <a:latin typeface="+mn-lt"/>
                    <a:ea typeface="+mn-ea"/>
                    <a:cs typeface="+mn-cs"/>
                  </a:rPr>
                  <a:t> "e</a:t>
                </a:r>
                <a:r>
                  <a:rPr lang="ar-AE" sz="1200" b="0" i="0" kern="1200">
                    <a:solidFill>
                      <a:schemeClr val="tx1"/>
                    </a:solidFill>
                    <a:latin typeface="+mn-lt"/>
                    <a:ea typeface="+mn-ea"/>
                    <a:cs typeface="+mn-cs"/>
                  </a:rPr>
                  <a:t>" ┴ˆ)┴ˊ</a:t>
                </a:r>
                <a:r>
                  <a:rPr lang="en-US" sz="1200" b="0" i="0" kern="1200">
                    <a:solidFill>
                      <a:schemeClr val="tx1"/>
                    </a:solidFill>
                    <a:latin typeface="+mn-lt"/>
                    <a:ea typeface="+mn-ea"/>
                    <a:cs typeface="+mn-cs"/>
                  </a:rPr>
                  <a:t> "u " 𝑃≥0.5</a:t>
                </a:r>
                <a:r>
                  <a:rPr lang="ar-AE" sz="1200" b="0" i="0" kern="1200">
                    <a:solidFill>
                      <a:schemeClr val="tx1"/>
                    </a:solidFill>
                    <a:latin typeface="+mn-lt"/>
                    <a:ea typeface="+mn-ea"/>
                    <a:cs typeface="+mn-cs"/>
                  </a:rPr>
                  <a:t>@0,&amp;</a:t>
                </a:r>
                <a:r>
                  <a:rPr lang="en-US" sz="1200" b="0" i="0" kern="1200">
                    <a:solidFill>
                      <a:schemeClr val="tx1"/>
                    </a:solidFill>
                    <a:latin typeface="+mn-lt"/>
                    <a:ea typeface="+mn-ea"/>
                    <a:cs typeface="+mn-cs"/>
                  </a:rPr>
                  <a:t>"n</a:t>
                </a:r>
                <a:r>
                  <a:rPr lang="ar-AE" sz="1200" b="0" i="0" kern="1200">
                    <a:solidFill>
                      <a:schemeClr val="tx1"/>
                    </a:solidFill>
                    <a:latin typeface="+mn-lt"/>
                    <a:ea typeface="+mn-ea"/>
                    <a:cs typeface="+mn-cs"/>
                  </a:rPr>
                  <a:t>"  (</a:t>
                </a:r>
                <a:r>
                  <a:rPr lang="en-US" sz="1200" b="0" i="0" kern="1200">
                    <a:solidFill>
                      <a:schemeClr val="tx1"/>
                    </a:solidFill>
                    <a:latin typeface="+mn-lt"/>
                    <a:ea typeface="+mn-ea"/>
                    <a:cs typeface="+mn-cs"/>
                  </a:rPr>
                  <a:t> "e</a:t>
                </a:r>
                <a:r>
                  <a:rPr lang="ar-AE" sz="1200" b="0" i="0" kern="1200">
                    <a:solidFill>
                      <a:schemeClr val="tx1"/>
                    </a:solidFill>
                    <a:latin typeface="+mn-lt"/>
                    <a:ea typeface="+mn-ea"/>
                    <a:cs typeface="+mn-cs"/>
                  </a:rPr>
                  <a:t>" ┴ˆ)┴ˊ</a:t>
                </a:r>
                <a:r>
                  <a:rPr lang="en-US" sz="1200" b="0" i="0" kern="1200">
                    <a:solidFill>
                      <a:schemeClr val="tx1"/>
                    </a:solidFill>
                    <a:latin typeface="+mn-lt"/>
                    <a:ea typeface="+mn-ea"/>
                    <a:cs typeface="+mn-cs"/>
                  </a:rPr>
                  <a:t> "u " 𝑃&lt;0.5</a:t>
                </a:r>
                <a:r>
                  <a:rPr lang="ar-AE" sz="1200" b="0" i="0" kern="1200">
                    <a:solidFill>
                      <a:schemeClr val="tx1"/>
                    </a:solidFill>
                    <a:latin typeface="+mn-lt"/>
                    <a:ea typeface="+mn-ea"/>
                    <a:cs typeface="+mn-cs"/>
                  </a:rPr>
                  <a:t>)┤</a:t>
                </a:r>
                <a:endParaRPr lang="ar-AE" b="0" dirty="0"/>
              </a:p>
              <a:p>
                <a:br>
                  <a:rPr lang="ar-AE" dirty="0"/>
                </a:br>
                <a:endParaRPr lang="ar-AE" dirty="0"/>
              </a:p>
              <a:p>
                <a:r>
                  <a:rPr lang="en-US" b="1" dirty="0"/>
                  <a:t>🟩 2.2 Naive Bayes (Gaussian NB)</a:t>
                </a:r>
              </a:p>
              <a:p>
                <a:r>
                  <a:rPr lang="en-US" dirty="0"/>
                  <a:t>Công </a:t>
                </a:r>
                <a:r>
                  <a:rPr lang="en-US" dirty="0" err="1"/>
                  <a:t>thức</a:t>
                </a:r>
                <a:r>
                  <a:rPr lang="en-US" dirty="0"/>
                  <a:t> Bayes:</a:t>
                </a:r>
              </a:p>
              <a:p>
                <a:r>
                  <a:rPr lang="en-US" sz="1200" i="0" kern="1200">
                    <a:solidFill>
                      <a:schemeClr val="tx1"/>
                    </a:solidFill>
                    <a:latin typeface="+mn-lt"/>
                    <a:ea typeface="+mn-ea"/>
                    <a:cs typeface="+mn-cs"/>
                  </a:rPr>
                  <a:t>𝑃</a:t>
                </a:r>
                <a:r>
                  <a:rPr lang="ar-AE" sz="1200" i="0" kern="1200">
                    <a:solidFill>
                      <a:schemeClr val="tx1"/>
                    </a:solidFill>
                    <a:latin typeface="+mn-lt"/>
                    <a:ea typeface="+mn-ea"/>
                    <a:cs typeface="+mn-cs"/>
                  </a:rPr>
                  <a:t>(𝑦∣𝑥)=𝑃(𝑥∣𝑦)𝑃(𝑦)/𝑃(𝑥) </a:t>
                </a:r>
                <a:endParaRPr lang="ar-AE" dirty="0"/>
              </a:p>
              <a:p>
                <a:r>
                  <a:rPr lang="en-US" dirty="0" err="1"/>
                  <a:t>Với</a:t>
                </a:r>
                <a:r>
                  <a:rPr lang="en-US" dirty="0"/>
                  <a:t> </a:t>
                </a:r>
                <a:r>
                  <a:rPr lang="en-US" dirty="0" err="1"/>
                  <a:t>giả</a:t>
                </a:r>
                <a:r>
                  <a:rPr lang="en-US" dirty="0"/>
                  <a:t> </a:t>
                </a:r>
                <a:r>
                  <a:rPr lang="en-US" dirty="0" err="1"/>
                  <a:t>định</a:t>
                </a:r>
                <a:r>
                  <a:rPr lang="en-US" dirty="0"/>
                  <a:t> "naive" (</a:t>
                </a:r>
                <a:r>
                  <a:rPr lang="en-US" dirty="0" err="1"/>
                  <a:t>độc</a:t>
                </a:r>
                <a:r>
                  <a:rPr lang="en-US" dirty="0"/>
                  <a:t> </a:t>
                </a:r>
                <a:r>
                  <a:rPr lang="en-US" dirty="0" err="1"/>
                  <a:t>lập</a:t>
                </a:r>
                <a:r>
                  <a:rPr lang="en-US" dirty="0"/>
                  <a:t>):</a:t>
                </a:r>
              </a:p>
              <a:p>
                <a:r>
                  <a:rPr lang="en-US" sz="1200" i="0" kern="1200">
                    <a:solidFill>
                      <a:schemeClr val="tx1"/>
                    </a:solidFill>
                    <a:latin typeface="+mn-lt"/>
                    <a:ea typeface="+mn-ea"/>
                    <a:cs typeface="+mn-cs"/>
                  </a:rPr>
                  <a:t>𝑃</a:t>
                </a:r>
                <a:r>
                  <a:rPr lang="ar-AE" sz="1200" i="0" kern="1200">
                    <a:solidFill>
                      <a:schemeClr val="tx1"/>
                    </a:solidFill>
                    <a:latin typeface="+mn-lt"/>
                    <a:ea typeface="+mn-ea"/>
                    <a:cs typeface="+mn-cs"/>
                  </a:rPr>
                  <a:t>(𝑥∣𝑦)=∏128_(𝑖=1)^𝑛▒𝑃 (𝑥_𝑖∣𝑦)</a:t>
                </a:r>
                <a:endParaRPr lang="ar-AE" dirty="0"/>
              </a:p>
              <a:p>
                <a:r>
                  <a:rPr lang="en-US" dirty="0" err="1"/>
                  <a:t>Vì</a:t>
                </a:r>
                <a:r>
                  <a:rPr lang="en-US" dirty="0"/>
                  <a:t> </a:t>
                </a:r>
                <a:r>
                  <a:rPr lang="en-US" dirty="0" err="1"/>
                  <a:t>dữ</a:t>
                </a:r>
                <a:r>
                  <a:rPr lang="en-US" dirty="0"/>
                  <a:t> </a:t>
                </a:r>
                <a:r>
                  <a:rPr lang="en-US" dirty="0" err="1"/>
                  <a:t>liệu</a:t>
                </a:r>
                <a:r>
                  <a:rPr lang="en-US" dirty="0"/>
                  <a:t> </a:t>
                </a:r>
                <a:r>
                  <a:rPr lang="en-US" dirty="0" err="1"/>
                  <a:t>là</a:t>
                </a:r>
                <a:r>
                  <a:rPr lang="en-US" dirty="0"/>
                  <a:t> </a:t>
                </a:r>
                <a:r>
                  <a:rPr lang="en-US" dirty="0" err="1"/>
                  <a:t>giá</a:t>
                </a:r>
                <a:r>
                  <a:rPr lang="en-US" dirty="0"/>
                  <a:t> </a:t>
                </a:r>
                <a:r>
                  <a:rPr lang="en-US" dirty="0" err="1"/>
                  <a:t>trị</a:t>
                </a:r>
                <a:r>
                  <a:rPr lang="en-US" dirty="0"/>
                  <a:t> </a:t>
                </a:r>
                <a:r>
                  <a:rPr lang="en-US" dirty="0" err="1"/>
                  <a:t>liên</a:t>
                </a:r>
                <a:r>
                  <a:rPr lang="en-US" dirty="0"/>
                  <a:t> </a:t>
                </a:r>
                <a:r>
                  <a:rPr lang="en-US" dirty="0" err="1"/>
                  <a:t>tục</a:t>
                </a:r>
                <a:r>
                  <a:rPr lang="en-US" dirty="0"/>
                  <a:t> → Gaussian:</a:t>
                </a:r>
              </a:p>
              <a:p>
                <a:r>
                  <a:rPr lang="en-US" sz="1200" i="0" kern="1200">
                    <a:solidFill>
                      <a:schemeClr val="tx1"/>
                    </a:solidFill>
                    <a:latin typeface="+mn-lt"/>
                    <a:ea typeface="+mn-ea"/>
                    <a:cs typeface="+mn-cs"/>
                  </a:rPr>
                  <a:t>𝑃</a:t>
                </a:r>
                <a:r>
                  <a:rPr lang="ar-AE" sz="1200" i="0" kern="1200">
                    <a:solidFill>
                      <a:schemeClr val="tx1"/>
                    </a:solidFill>
                    <a:latin typeface="+mn-lt"/>
                    <a:ea typeface="+mn-ea"/>
                    <a:cs typeface="+mn-cs"/>
                  </a:rPr>
                  <a:t>(𝑥_𝑖∣𝑦)=1/√(2𝜋𝜎_𝑦^2 ) </a:t>
                </a:r>
                <a:r>
                  <a:rPr lang="en-US" sz="1200" i="0" kern="1200">
                    <a:solidFill>
                      <a:schemeClr val="tx1"/>
                    </a:solidFill>
                    <a:latin typeface="+mn-lt"/>
                    <a:ea typeface="+mn-ea"/>
                    <a:cs typeface="+mn-cs"/>
                  </a:rPr>
                  <a:t> exp</a:t>
                </a:r>
                <a:r>
                  <a:rPr lang="ar-AE" sz="1200" i="0" kern="1200">
                    <a:solidFill>
                      <a:schemeClr val="tx1"/>
                    </a:solidFill>
                    <a:latin typeface="+mn-lt"/>
                    <a:ea typeface="+mn-ea"/>
                    <a:cs typeface="+mn-cs"/>
                  </a:rPr>
                  <a:t>⁡(−(𝑥_𝑖−𝜇_𝑦 ├ )┤^2 ┤/(2𝜎_𝑦^2 ))</a:t>
                </a:r>
                <a:endParaRPr lang="ar-AE" dirty="0"/>
              </a:p>
              <a:p>
                <a:br>
                  <a:rPr lang="ar-AE" dirty="0"/>
                </a:br>
                <a:endParaRPr lang="ar-AE" dirty="0"/>
              </a:p>
              <a:p>
                <a:r>
                  <a:rPr lang="en-US" b="1" dirty="0"/>
                  <a:t>🟩 2.3 Random Forest</a:t>
                </a:r>
              </a:p>
              <a:p>
                <a:r>
                  <a:rPr lang="en-US" dirty="0"/>
                  <a:t>RF = </a:t>
                </a:r>
                <a:r>
                  <a:rPr lang="en-US" dirty="0" err="1"/>
                  <a:t>tập</a:t>
                </a:r>
                <a:r>
                  <a:rPr lang="en-US" dirty="0"/>
                  <a:t> </a:t>
                </a:r>
                <a:r>
                  <a:rPr lang="en-US" dirty="0" err="1"/>
                  <a:t>hợp</a:t>
                </a:r>
                <a:r>
                  <a:rPr lang="en-US" dirty="0"/>
                  <a:t> </a:t>
                </a:r>
                <a:r>
                  <a:rPr lang="en-US" dirty="0" err="1"/>
                  <a:t>nhiều</a:t>
                </a:r>
                <a:r>
                  <a:rPr lang="en-US" dirty="0"/>
                  <a:t> </a:t>
                </a:r>
                <a:r>
                  <a:rPr lang="en-US" dirty="0" err="1"/>
                  <a:t>cây</a:t>
                </a:r>
                <a:r>
                  <a:rPr lang="en-US" dirty="0"/>
                  <a:t> </a:t>
                </a:r>
                <a:r>
                  <a:rPr lang="en-US" dirty="0" err="1"/>
                  <a:t>quyết</a:t>
                </a:r>
                <a:r>
                  <a:rPr lang="en-US" dirty="0"/>
                  <a:t> </a:t>
                </a:r>
                <a:r>
                  <a:rPr lang="en-US" dirty="0" err="1"/>
                  <a:t>định</a:t>
                </a:r>
                <a:r>
                  <a:rPr lang="en-US" dirty="0"/>
                  <a:t>:</a:t>
                </a:r>
              </a:p>
              <a:p>
                <a:r>
                  <a:rPr lang="en-US" sz="1200" i="0" kern="1200">
                    <a:solidFill>
                      <a:schemeClr val="tx1"/>
                    </a:solidFill>
                    <a:latin typeface="+mn-lt"/>
                    <a:ea typeface="+mn-ea"/>
                    <a:cs typeface="+mn-cs"/>
                  </a:rPr>
                  <a:t>𝑅𝐹</a:t>
                </a:r>
                <a:r>
                  <a:rPr lang="ar-AE" sz="1200" i="0" kern="1200">
                    <a:solidFill>
                      <a:schemeClr val="tx1"/>
                    </a:solidFill>
                    <a:latin typeface="+mn-lt"/>
                    <a:ea typeface="+mn-ea"/>
                    <a:cs typeface="+mn-cs"/>
                  </a:rPr>
                  <a:t>(𝑥)=𝑚𝑜𝑑𝑒(ℎ_1ⓜ,(𝑥)ⓜ,ℎ_2ⓜ,(𝑥)…ℎ_𝑛 (𝑥) )</a:t>
                </a:r>
                <a:endParaRPr lang="ar-AE" dirty="0"/>
              </a:p>
              <a:p>
                <a:r>
                  <a:rPr lang="en-US" dirty="0" err="1"/>
                  <a:t>Mỗi</a:t>
                </a:r>
                <a:r>
                  <a:rPr lang="en-US" dirty="0"/>
                  <a:t> </a:t>
                </a:r>
                <a:r>
                  <a:rPr lang="en-US" dirty="0" err="1"/>
                  <a:t>cây</a:t>
                </a:r>
                <a:r>
                  <a:rPr lang="en-US" dirty="0"/>
                  <a:t> </a:t>
                </a:r>
                <a:r>
                  <a:rPr lang="en-US" dirty="0" err="1"/>
                  <a:t>học</a:t>
                </a:r>
                <a:r>
                  <a:rPr lang="en-US" dirty="0"/>
                  <a:t> </a:t>
                </a:r>
                <a:r>
                  <a:rPr lang="en-US" dirty="0" err="1"/>
                  <a:t>từ</a:t>
                </a:r>
                <a:r>
                  <a:rPr lang="en-US" dirty="0"/>
                  <a:t> </a:t>
                </a:r>
                <a:r>
                  <a:rPr lang="en-US" dirty="0" err="1"/>
                  <a:t>một</a:t>
                </a:r>
                <a:r>
                  <a:rPr lang="en-US" dirty="0"/>
                  <a:t> </a:t>
                </a:r>
                <a:r>
                  <a:rPr lang="en-US" dirty="0" err="1"/>
                  <a:t>tập</a:t>
                </a:r>
                <a:r>
                  <a:rPr lang="en-US" dirty="0"/>
                  <a:t> bootstrap:</a:t>
                </a:r>
              </a:p>
              <a:p>
                <a:r>
                  <a:rPr lang="ar-AE" sz="1200" i="0" kern="1200">
                    <a:solidFill>
                      <a:schemeClr val="tx1"/>
                    </a:solidFill>
                    <a:latin typeface="+mn-lt"/>
                    <a:ea typeface="+mn-ea"/>
                    <a:cs typeface="+mn-cs"/>
                  </a:rPr>
                  <a:t>𝑆_𝑖=𝑠𝑎𝑚𝑝𝑙𝑒(𝐷)</a:t>
                </a:r>
                <a:endParaRPr lang="ar-AE" dirty="0"/>
              </a:p>
              <a:p>
                <a:r>
                  <a:rPr lang="en-US" dirty="0" err="1"/>
                  <a:t>Đồng</a:t>
                </a:r>
                <a:r>
                  <a:rPr lang="en-US" dirty="0"/>
                  <a:t> </a:t>
                </a:r>
                <a:r>
                  <a:rPr lang="en-US" dirty="0" err="1"/>
                  <a:t>thời</a:t>
                </a:r>
                <a:r>
                  <a:rPr lang="en-US" dirty="0"/>
                  <a:t> </a:t>
                </a:r>
                <a:r>
                  <a:rPr lang="en-US" dirty="0" err="1"/>
                  <a:t>chỉ</a:t>
                </a:r>
                <a:r>
                  <a:rPr lang="en-US" dirty="0"/>
                  <a:t> </a:t>
                </a:r>
                <a:r>
                  <a:rPr lang="en-US" dirty="0" err="1"/>
                  <a:t>chọn</a:t>
                </a:r>
                <a:r>
                  <a:rPr lang="en-US" dirty="0"/>
                  <a:t> </a:t>
                </a:r>
                <a:r>
                  <a:rPr lang="en-US" dirty="0" err="1"/>
                  <a:t>một</a:t>
                </a:r>
                <a:r>
                  <a:rPr lang="en-US" dirty="0"/>
                  <a:t> </a:t>
                </a:r>
                <a:r>
                  <a:rPr lang="en-US" dirty="0" err="1"/>
                  <a:t>số</a:t>
                </a:r>
                <a:r>
                  <a:rPr lang="en-US" dirty="0"/>
                  <a:t> feature </a:t>
                </a:r>
                <a:r>
                  <a:rPr lang="en-US" dirty="0" err="1"/>
                  <a:t>ngẫu</a:t>
                </a:r>
                <a:r>
                  <a:rPr lang="en-US" dirty="0"/>
                  <a:t> </a:t>
                </a:r>
                <a:r>
                  <a:rPr lang="en-US" dirty="0" err="1"/>
                  <a:t>nhiên</a:t>
                </a:r>
                <a:r>
                  <a:rPr lang="en-US" dirty="0"/>
                  <a:t> </a:t>
                </a:r>
                <a:r>
                  <a:rPr lang="en-US" dirty="0" err="1"/>
                  <a:t>để</a:t>
                </a:r>
                <a:r>
                  <a:rPr lang="en-US" dirty="0"/>
                  <a:t> chia node:</a:t>
                </a:r>
              </a:p>
              <a:p>
                <a:r>
                  <a:rPr lang="en-US" sz="1200" i="0" kern="1200">
                    <a:solidFill>
                      <a:schemeClr val="tx1"/>
                    </a:solidFill>
                    <a:latin typeface="+mn-lt"/>
                    <a:ea typeface="+mn-ea"/>
                    <a:cs typeface="+mn-cs"/>
                  </a:rPr>
                  <a:t>𝑓𝑒𝑎𝑡𝑢𝑟𝑒𝑠\_𝑠𝑢𝑏𝑠𝑒𝑡=𝑟𝑎𝑛𝑑𝑜𝑚</a:t>
                </a:r>
                <a:r>
                  <a:rPr lang="ar-AE" sz="1200" i="0" kern="1200">
                    <a:solidFill>
                      <a:schemeClr val="tx1"/>
                    </a:solidFill>
                    <a:latin typeface="+mn-lt"/>
                    <a:ea typeface="+mn-ea"/>
                    <a:cs typeface="+mn-cs"/>
                  </a:rPr>
                  <a:t>(𝑘)</a:t>
                </a:r>
                <a:endParaRPr lang="ar-AE" dirty="0"/>
              </a:p>
              <a:p>
                <a:br>
                  <a:rPr lang="ar-AE" dirty="0"/>
                </a:br>
                <a:endParaRPr lang="ar-AE" dirty="0"/>
              </a:p>
              <a:p>
                <a:r>
                  <a:rPr lang="en-US" b="1" dirty="0"/>
                  <a:t>🟩 2.4 KNN (K-Nearest Neighbors)</a:t>
                </a:r>
              </a:p>
              <a:p>
                <a:r>
                  <a:rPr lang="en-US" dirty="0" err="1"/>
                  <a:t>Khoảng</a:t>
                </a:r>
                <a:r>
                  <a:rPr lang="en-US" dirty="0"/>
                  <a:t> </a:t>
                </a:r>
                <a:r>
                  <a:rPr lang="en-US" dirty="0" err="1"/>
                  <a:t>cách</a:t>
                </a:r>
                <a:r>
                  <a:rPr lang="en-US" dirty="0"/>
                  <a:t> Euclid:</a:t>
                </a:r>
              </a:p>
              <a:p>
                <a:r>
                  <a:rPr lang="en-US" dirty="0" err="1"/>
                  <a:t>Dự</a:t>
                </a:r>
                <a:r>
                  <a:rPr lang="en-US" dirty="0"/>
                  <a:t> </a:t>
                </a:r>
                <a:r>
                  <a:rPr lang="en-US" dirty="0" err="1"/>
                  <a:t>đoán</a:t>
                </a:r>
                <a:r>
                  <a:rPr lang="en-US" dirty="0"/>
                  <a:t>:</a:t>
                </a:r>
              </a:p>
              <a:p>
                <a:r>
                  <a:rPr lang="ar-AE" sz="1200" i="0" kern="1200">
                    <a:solidFill>
                      <a:schemeClr val="tx1"/>
                    </a:solidFill>
                    <a:latin typeface="+mn-lt"/>
                    <a:ea typeface="+mn-ea"/>
                    <a:cs typeface="+mn-cs"/>
                  </a:rPr>
                  <a:t>𝑦 ̂=𝑚𝑜𝑑𝑒(𝑦_(𝑘</a:t>
                </a:r>
                <a:r>
                  <a:rPr lang="ar-AE" sz="1200" b="0" i="0" kern="1200">
                    <a:solidFill>
                      <a:schemeClr val="tx1"/>
                    </a:solidFill>
                    <a:latin typeface="+mn-lt"/>
                    <a:ea typeface="+mn-ea"/>
                    <a:cs typeface="+mn-cs"/>
                  </a:rPr>
                  <a:t>" " 𝑛𝑒𝑎𝑟𝑒𝑠𝑡) )</a:t>
                </a:r>
                <a:endParaRPr lang="ar-AE" b="0" dirty="0"/>
              </a:p>
              <a:p>
                <a:endParaRPr lang="en-US" dirty="0"/>
              </a:p>
            </p:txBody>
          </p:sp>
        </mc:Fallback>
      </mc:AlternateContent>
      <p:sp>
        <p:nvSpPr>
          <p:cNvPr id="4" name="Slide Number Placeholder 3"/>
          <p:cNvSpPr>
            <a:spLocks noGrp="1"/>
          </p:cNvSpPr>
          <p:nvPr>
            <p:ph type="sldNum" sz="quarter" idx="5"/>
          </p:nvPr>
        </p:nvSpPr>
        <p:spPr/>
        <p:txBody>
          <a:bodyPr/>
          <a:lstStyle/>
          <a:p>
            <a:fld id="{A13EC248-DF91-43A7-A2A6-1EF8348B15F3}" type="slidenum">
              <a:rPr lang="en-US" smtClean="0"/>
              <a:t>17</a:t>
            </a:fld>
            <a:endParaRPr lang="en-US"/>
          </a:p>
        </p:txBody>
      </p:sp>
    </p:spTree>
    <p:extLst>
      <p:ext uri="{BB962C8B-B14F-4D97-AF65-F5344CB8AC3E}">
        <p14:creationId xmlns:p14="http://schemas.microsoft.com/office/powerpoint/2010/main" val="4130241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vi-VN" b="1" dirty="0"/>
                  <a:t>Accuracy – độ chính xác chung</a:t>
                </a:r>
              </a:p>
              <a:p>
                <a:pPr/>
                <a14:m>
                  <m:oMathPara xmlns:m="http://schemas.openxmlformats.org/officeDocument/2006/math">
                    <m:oMathParaPr>
                      <m:jc m:val="centerGroup"/>
                    </m:oMathParaPr>
                    <m:oMath xmlns:m="http://schemas.openxmlformats.org/officeDocument/2006/math">
                      <m:r>
                        <a:rPr lang="vi-VN" sz="1200" i="1" kern="1200">
                          <a:solidFill>
                            <a:schemeClr val="tx1"/>
                          </a:solidFill>
                          <a:latin typeface="Cambria Math" panose="02040503050406030204" pitchFamily="18" charset="0"/>
                          <a:ea typeface="+mn-ea"/>
                          <a:cs typeface="+mn-cs"/>
                        </a:rPr>
                        <m:t>𝐴𝑐𝑐𝑢𝑟𝑎𝑐𝑦</m:t>
                      </m:r>
                      <m:r>
                        <a:rPr lang="vi-VN" sz="1200" i="0" kern="1200">
                          <a:solidFill>
                            <a:schemeClr val="tx1"/>
                          </a:solidFill>
                          <a:latin typeface="Cambria Math" panose="02040503050406030204" pitchFamily="18" charset="0"/>
                          <a:ea typeface="+mn-ea"/>
                          <a:cs typeface="+mn-cs"/>
                        </a:rPr>
                        <m:t>=</m:t>
                      </m:r>
                      <m:f>
                        <m:fPr>
                          <m:ctrlPr>
                            <a:rPr lang="vi-VN" sz="1200" i="1" kern="1200">
                              <a:solidFill>
                                <a:schemeClr val="tx1"/>
                              </a:solidFill>
                              <a:latin typeface="Cambria Math" panose="02040503050406030204" pitchFamily="18" charset="0"/>
                              <a:ea typeface="+mn-ea"/>
                              <a:cs typeface="+mn-cs"/>
                            </a:rPr>
                          </m:ctrlPr>
                        </m:fPr>
                        <m:num>
                          <m:r>
                            <a:rPr lang="vi-VN" sz="1200" i="1" kern="1200">
                              <a:solidFill>
                                <a:schemeClr val="tx1"/>
                              </a:solidFill>
                              <a:latin typeface="Cambria Math" panose="02040503050406030204" pitchFamily="18" charset="0"/>
                              <a:ea typeface="+mn-ea"/>
                              <a:cs typeface="+mn-cs"/>
                            </a:rPr>
                            <m:t>𝑑</m:t>
                          </m:r>
                          <m:r>
                            <m:rPr>
                              <m:nor/>
                            </m:rPr>
                            <a:rPr lang="vi-VN" sz="1200" b="0" i="1" kern="1200">
                              <a:solidFill>
                                <a:schemeClr val="tx1"/>
                              </a:solidFill>
                              <a:latin typeface="+mn-lt"/>
                              <a:ea typeface="+mn-ea"/>
                              <a:cs typeface="+mn-cs"/>
                            </a:rPr>
                            <m:t>ự đ</m:t>
                          </m:r>
                          <m:r>
                            <a:rPr lang="vi-VN" sz="1200" b="0" i="1" kern="1200">
                              <a:solidFill>
                                <a:schemeClr val="tx1"/>
                              </a:solidFill>
                              <a:latin typeface="Cambria Math" panose="02040503050406030204" pitchFamily="18" charset="0"/>
                              <a:ea typeface="+mn-ea"/>
                              <a:cs typeface="+mn-cs"/>
                            </a:rPr>
                            <m:t>𝑜</m:t>
                          </m:r>
                          <m:limUpp>
                            <m:limUppPr>
                              <m:ctrlPr>
                                <a:rPr lang="vi-VN" sz="1200" b="0" i="1" kern="1200">
                                  <a:solidFill>
                                    <a:schemeClr val="tx1"/>
                                  </a:solidFill>
                                  <a:latin typeface="Cambria Math" panose="02040503050406030204" pitchFamily="18" charset="0"/>
                                  <a:ea typeface="+mn-ea"/>
                                  <a:cs typeface="+mn-cs"/>
                                </a:rPr>
                              </m:ctrlPr>
                            </m:limUppPr>
                            <m:e>
                              <m:r>
                                <a:rPr lang="vi-VN" sz="1200" b="0" i="1" kern="1200">
                                  <a:solidFill>
                                    <a:schemeClr val="tx1"/>
                                  </a:solidFill>
                                  <a:latin typeface="Cambria Math" panose="02040503050406030204" pitchFamily="18" charset="0"/>
                                  <a:ea typeface="+mn-ea"/>
                                  <a:cs typeface="+mn-cs"/>
                                </a:rPr>
                                <m:t>𝑎</m:t>
                              </m:r>
                            </m:e>
                            <m:lim>
                              <m:r>
                                <a:rPr lang="vi-VN" sz="1200" b="0" i="0" kern="1200">
                                  <a:solidFill>
                                    <a:schemeClr val="tx1"/>
                                  </a:solidFill>
                                  <a:latin typeface="Cambria Math" panose="02040503050406030204" pitchFamily="18" charset="0"/>
                                  <a:ea typeface="+mn-ea"/>
                                  <a:cs typeface="+mn-cs"/>
                                </a:rPr>
                                <m:t>ˊ</m:t>
                              </m:r>
                            </m:lim>
                          </m:limUpp>
                          <m:r>
                            <a:rPr lang="vi-VN" sz="1200" b="0" i="1" kern="1200">
                              <a:solidFill>
                                <a:schemeClr val="tx1"/>
                              </a:solidFill>
                              <a:latin typeface="Cambria Math" panose="02040503050406030204" pitchFamily="18" charset="0"/>
                              <a:ea typeface="+mn-ea"/>
                              <a:cs typeface="+mn-cs"/>
                            </a:rPr>
                            <m:t>𝑛</m:t>
                          </m:r>
                          <m:r>
                            <m:rPr>
                              <m:nor/>
                            </m:rPr>
                            <a:rPr lang="vi-VN" sz="1200" b="0" i="1" kern="1200">
                              <a:solidFill>
                                <a:schemeClr val="tx1"/>
                              </a:solidFill>
                              <a:latin typeface="+mn-lt"/>
                              <a:ea typeface="+mn-ea"/>
                              <a:cs typeface="+mn-cs"/>
                            </a:rPr>
                            <m:t> đ</m:t>
                          </m:r>
                          <m:limUpp>
                            <m:limUppPr>
                              <m:ctrlPr>
                                <a:rPr lang="vi-VN" sz="1200" b="0" i="1" kern="1200">
                                  <a:solidFill>
                                    <a:schemeClr val="tx1"/>
                                  </a:solidFill>
                                  <a:latin typeface="Cambria Math" panose="02040503050406030204" pitchFamily="18" charset="0"/>
                                  <a:ea typeface="+mn-ea"/>
                                  <a:cs typeface="+mn-cs"/>
                                </a:rPr>
                              </m:ctrlPr>
                            </m:limUppPr>
                            <m:e>
                              <m:r>
                                <a:rPr lang="vi-VN" sz="1200" b="0" i="1" kern="1200">
                                  <a:solidFill>
                                    <a:schemeClr val="tx1"/>
                                  </a:solidFill>
                                  <a:latin typeface="Cambria Math" panose="02040503050406030204" pitchFamily="18" charset="0"/>
                                  <a:ea typeface="+mn-ea"/>
                                  <a:cs typeface="+mn-cs"/>
                                </a:rPr>
                                <m:t>𝑢</m:t>
                              </m:r>
                            </m:e>
                            <m:lim>
                              <m:r>
                                <a:rPr lang="vi-VN" sz="1200" b="0" i="0" kern="1200">
                                  <a:solidFill>
                                    <a:schemeClr val="tx1"/>
                                  </a:solidFill>
                                  <a:latin typeface="Cambria Math" panose="02040503050406030204" pitchFamily="18" charset="0"/>
                                  <a:ea typeface="+mn-ea"/>
                                  <a:cs typeface="+mn-cs"/>
                                </a:rPr>
                                <m:t>ˊ</m:t>
                              </m:r>
                            </m:lim>
                          </m:limUpp>
                          <m:r>
                            <a:rPr lang="vi-VN" sz="1200" b="0" i="1" kern="1200">
                              <a:solidFill>
                                <a:schemeClr val="tx1"/>
                              </a:solidFill>
                              <a:latin typeface="Cambria Math" panose="02040503050406030204" pitchFamily="18" charset="0"/>
                              <a:ea typeface="+mn-ea"/>
                              <a:cs typeface="+mn-cs"/>
                            </a:rPr>
                            <m:t>𝑛𝑔</m:t>
                          </m:r>
                        </m:num>
                        <m:den>
                          <m:r>
                            <a:rPr lang="vi-VN" sz="1200" b="0" i="1" kern="1200">
                              <a:solidFill>
                                <a:schemeClr val="tx1"/>
                              </a:solidFill>
                              <a:latin typeface="Cambria Math" panose="02040503050406030204" pitchFamily="18" charset="0"/>
                              <a:ea typeface="+mn-ea"/>
                              <a:cs typeface="+mn-cs"/>
                            </a:rPr>
                            <m:t>𝑡</m:t>
                          </m:r>
                          <m:r>
                            <m:rPr>
                              <m:nor/>
                            </m:rPr>
                            <a:rPr lang="vi-VN" sz="1200" b="0" i="1" kern="1200">
                              <a:solidFill>
                                <a:schemeClr val="tx1"/>
                              </a:solidFill>
                              <a:latin typeface="+mn-lt"/>
                              <a:ea typeface="+mn-ea"/>
                              <a:cs typeface="+mn-cs"/>
                            </a:rPr>
                            <m:t>ổ</m:t>
                          </m:r>
                          <m:r>
                            <a:rPr lang="vi-VN" sz="1200" b="0" i="1" kern="1200">
                              <a:solidFill>
                                <a:schemeClr val="tx1"/>
                              </a:solidFill>
                              <a:latin typeface="Cambria Math" panose="02040503050406030204" pitchFamily="18" charset="0"/>
                              <a:ea typeface="+mn-ea"/>
                              <a:cs typeface="+mn-cs"/>
                            </a:rPr>
                            <m:t>𝑛𝑔</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𝑠</m:t>
                          </m:r>
                          <m:limUpp>
                            <m:limUppPr>
                              <m:ctrlPr>
                                <a:rPr lang="vi-VN" sz="1200" b="0" i="1" kern="1200">
                                  <a:solidFill>
                                    <a:schemeClr val="tx1"/>
                                  </a:solidFill>
                                  <a:latin typeface="Cambria Math" panose="02040503050406030204" pitchFamily="18" charset="0"/>
                                  <a:ea typeface="+mn-ea"/>
                                  <a:cs typeface="+mn-cs"/>
                                </a:rPr>
                              </m:ctrlPr>
                            </m:limUppPr>
                            <m:e>
                              <m:acc>
                                <m:accPr>
                                  <m:chr m:val="̂"/>
                                  <m:ctrlPr>
                                    <a:rPr lang="vi-VN" sz="1200" b="0" i="1" kern="1200">
                                      <a:solidFill>
                                        <a:schemeClr val="tx1"/>
                                      </a:solidFill>
                                      <a:latin typeface="Cambria Math" panose="02040503050406030204" pitchFamily="18" charset="0"/>
                                      <a:ea typeface="+mn-ea"/>
                                      <a:cs typeface="+mn-cs"/>
                                    </a:rPr>
                                  </m:ctrlPr>
                                </m:accPr>
                                <m:e>
                                  <m:r>
                                    <a:rPr lang="vi-VN" sz="1200" b="0" i="1" kern="1200">
                                      <a:solidFill>
                                        <a:schemeClr val="tx1"/>
                                      </a:solidFill>
                                      <a:latin typeface="Cambria Math" panose="02040503050406030204" pitchFamily="18" charset="0"/>
                                      <a:ea typeface="+mn-ea"/>
                                      <a:cs typeface="+mn-cs"/>
                                    </a:rPr>
                                    <m:t>𝑜</m:t>
                                  </m:r>
                                </m:e>
                              </m:acc>
                            </m:e>
                            <m:lim>
                              <m:r>
                                <a:rPr lang="vi-VN" sz="1200" b="0" i="0" kern="1200">
                                  <a:solidFill>
                                    <a:schemeClr val="tx1"/>
                                  </a:solidFill>
                                  <a:latin typeface="Cambria Math" panose="02040503050406030204" pitchFamily="18" charset="0"/>
                                  <a:ea typeface="+mn-ea"/>
                                  <a:cs typeface="+mn-cs"/>
                                </a:rPr>
                                <m:t>ˊ</m:t>
                              </m:r>
                            </m:lim>
                          </m:limUpp>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𝑚</m:t>
                          </m:r>
                          <m:acc>
                            <m:accPr>
                              <m:chr m:val="̃"/>
                              <m:ctrlPr>
                                <a:rPr lang="vi-VN" sz="1200" b="0" i="1" kern="1200">
                                  <a:solidFill>
                                    <a:schemeClr val="tx1"/>
                                  </a:solidFill>
                                  <a:latin typeface="Cambria Math" panose="02040503050406030204" pitchFamily="18" charset="0"/>
                                  <a:ea typeface="+mn-ea"/>
                                  <a:cs typeface="+mn-cs"/>
                                </a:rPr>
                              </m:ctrlPr>
                            </m:accPr>
                            <m:e>
                              <m:acc>
                                <m:accPr>
                                  <m:chr m:val="̂"/>
                                  <m:ctrlPr>
                                    <a:rPr lang="vi-VN" sz="1200" b="0" i="1" kern="1200">
                                      <a:solidFill>
                                        <a:schemeClr val="tx1"/>
                                      </a:solidFill>
                                      <a:latin typeface="Cambria Math" panose="02040503050406030204" pitchFamily="18" charset="0"/>
                                      <a:ea typeface="+mn-ea"/>
                                      <a:cs typeface="+mn-cs"/>
                                    </a:rPr>
                                  </m:ctrlPr>
                                </m:accPr>
                                <m:e>
                                  <m:r>
                                    <a:rPr lang="vi-VN" sz="1200" b="0" i="1" kern="1200">
                                      <a:solidFill>
                                        <a:schemeClr val="tx1"/>
                                      </a:solidFill>
                                      <a:latin typeface="Cambria Math" panose="02040503050406030204" pitchFamily="18" charset="0"/>
                                      <a:ea typeface="+mn-ea"/>
                                      <a:cs typeface="+mn-cs"/>
                                    </a:rPr>
                                    <m:t>𝑎</m:t>
                                  </m:r>
                                </m:e>
                              </m:acc>
                            </m:e>
                          </m:acc>
                          <m:r>
                            <a:rPr lang="vi-VN" sz="1200" b="0" i="1" kern="1200">
                              <a:solidFill>
                                <a:schemeClr val="tx1"/>
                              </a:solidFill>
                              <a:latin typeface="Cambria Math" panose="02040503050406030204" pitchFamily="18" charset="0"/>
                              <a:ea typeface="+mn-ea"/>
                              <a:cs typeface="+mn-cs"/>
                            </a:rPr>
                            <m:t>𝑢</m:t>
                          </m:r>
                        </m:den>
                      </m:f>
                    </m:oMath>
                  </m:oMathPara>
                </a14:m>
                <a:endParaRPr lang="vi-VN" b="0" dirty="0"/>
              </a:p>
              <a:p>
                <a:r>
                  <a:rPr lang="vi-VN" dirty="0"/>
                  <a:t>Ý nghĩa trong đề tài:</a:t>
                </a:r>
              </a:p>
              <a:p>
                <a:r>
                  <a:rPr lang="vi-VN" dirty="0"/>
                  <a:t>Bạn xem mô hình tổng thể dự đoán đúng bao nhiêu %.</a:t>
                </a:r>
              </a:p>
              <a:p>
                <a:r>
                  <a:rPr lang="vi-VN" dirty="0"/>
                  <a:t>Ví dụ Accuracy = 75% → 100 người thì mô hình đoán đúng 75 người.</a:t>
                </a:r>
              </a:p>
              <a:p>
                <a:r>
                  <a:rPr lang="vi-VN" dirty="0"/>
                  <a:t>Nhưng </a:t>
                </a:r>
                <a:r>
                  <a:rPr lang="vi-VN" b="1" dirty="0"/>
                  <a:t>accuracy không đủ</a:t>
                </a:r>
                <a:r>
                  <a:rPr lang="vi-VN" dirty="0"/>
                  <a:t>, vì nếu dữ liệu lệch (không bệnh nhiều hơn bệnh), mô hình dễ dự đoán tất cả là “không bệnh” vẫn được accuracy cao → nguy hiểm.</a:t>
                </a:r>
              </a:p>
              <a:p>
                <a:br>
                  <a:rPr lang="vi-VN" dirty="0"/>
                </a:br>
                <a:endParaRPr lang="vi-VN" dirty="0"/>
              </a:p>
              <a:p>
                <a:r>
                  <a:rPr lang="en-US" b="1" dirty="0"/>
                  <a:t>🔵 </a:t>
                </a:r>
                <a:r>
                  <a:rPr lang="vi-VN" b="1" dirty="0"/>
                  <a:t>Precision – dự đoán "có bệnh" chính xác thế nào</a:t>
                </a:r>
              </a:p>
              <a:p>
                <a:pPr/>
                <a14:m>
                  <m:oMathPara xmlns:m="http://schemas.openxmlformats.org/officeDocument/2006/math">
                    <m:oMathParaPr>
                      <m:jc m:val="centerGroup"/>
                    </m:oMathParaPr>
                    <m:oMath xmlns:m="http://schemas.openxmlformats.org/officeDocument/2006/math">
                      <m:r>
                        <a:rPr lang="vi-VN" sz="1200" i="1" kern="1200">
                          <a:solidFill>
                            <a:schemeClr val="tx1"/>
                          </a:solidFill>
                          <a:latin typeface="Cambria Math" panose="02040503050406030204" pitchFamily="18" charset="0"/>
                          <a:ea typeface="+mn-ea"/>
                          <a:cs typeface="+mn-cs"/>
                        </a:rPr>
                        <m:t>𝑃𝑟𝑒𝑐𝑖𝑠𝑖𝑜𝑛</m:t>
                      </m:r>
                      <m:r>
                        <a:rPr lang="vi-VN" sz="1200" i="0" kern="1200">
                          <a:solidFill>
                            <a:schemeClr val="tx1"/>
                          </a:solidFill>
                          <a:latin typeface="Cambria Math" panose="02040503050406030204" pitchFamily="18" charset="0"/>
                          <a:ea typeface="+mn-ea"/>
                          <a:cs typeface="+mn-cs"/>
                        </a:rPr>
                        <m:t>=</m:t>
                      </m:r>
                      <m:f>
                        <m:fPr>
                          <m:ctrlPr>
                            <a:rPr lang="vi-VN" sz="1200" i="1" kern="1200">
                              <a:solidFill>
                                <a:schemeClr val="tx1"/>
                              </a:solidFill>
                              <a:latin typeface="Cambria Math" panose="02040503050406030204" pitchFamily="18" charset="0"/>
                              <a:ea typeface="+mn-ea"/>
                              <a:cs typeface="+mn-cs"/>
                            </a:rPr>
                          </m:ctrlPr>
                        </m:fPr>
                        <m:num>
                          <m:r>
                            <a:rPr lang="vi-VN" sz="1200" i="1" kern="1200">
                              <a:solidFill>
                                <a:schemeClr val="tx1"/>
                              </a:solidFill>
                              <a:latin typeface="Cambria Math" panose="02040503050406030204" pitchFamily="18" charset="0"/>
                              <a:ea typeface="+mn-ea"/>
                              <a:cs typeface="+mn-cs"/>
                            </a:rPr>
                            <m:t>𝑠</m:t>
                          </m:r>
                          <m:limUpp>
                            <m:limUppPr>
                              <m:ctrlPr>
                                <a:rPr lang="vi-VN" sz="1200" i="1" kern="1200">
                                  <a:solidFill>
                                    <a:schemeClr val="tx1"/>
                                  </a:solidFill>
                                  <a:latin typeface="Cambria Math" panose="02040503050406030204" pitchFamily="18" charset="0"/>
                                  <a:ea typeface="+mn-ea"/>
                                  <a:cs typeface="+mn-cs"/>
                                </a:rPr>
                              </m:ctrlPr>
                            </m:limUppPr>
                            <m:e>
                              <m:acc>
                                <m:accPr>
                                  <m:chr m:val="̂"/>
                                  <m:ctrlPr>
                                    <a:rPr lang="vi-VN" sz="1200" i="1" kern="1200">
                                      <a:solidFill>
                                        <a:schemeClr val="tx1"/>
                                      </a:solidFill>
                                      <a:latin typeface="Cambria Math" panose="02040503050406030204" pitchFamily="18" charset="0"/>
                                      <a:ea typeface="+mn-ea"/>
                                      <a:cs typeface="+mn-cs"/>
                                    </a:rPr>
                                  </m:ctrlPr>
                                </m:accPr>
                                <m:e>
                                  <m:r>
                                    <a:rPr lang="vi-VN" sz="1200" i="1" kern="1200">
                                      <a:solidFill>
                                        <a:schemeClr val="tx1"/>
                                      </a:solidFill>
                                      <a:latin typeface="Cambria Math" panose="02040503050406030204" pitchFamily="18" charset="0"/>
                                      <a:ea typeface="+mn-ea"/>
                                      <a:cs typeface="+mn-cs"/>
                                    </a:rPr>
                                    <m:t>𝑜</m:t>
                                  </m:r>
                                </m:e>
                              </m:acc>
                            </m:e>
                            <m:lim>
                              <m:r>
                                <a:rPr lang="vi-VN" sz="1200" i="0" kern="1200">
                                  <a:solidFill>
                                    <a:schemeClr val="tx1"/>
                                  </a:solidFill>
                                  <a:latin typeface="Cambria Math" panose="02040503050406030204" pitchFamily="18" charset="0"/>
                                  <a:ea typeface="+mn-ea"/>
                                  <a:cs typeface="+mn-cs"/>
                                </a:rPr>
                                <m:t>ˊ</m:t>
                              </m:r>
                            </m:lim>
                          </m:limUpp>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𝑛𝑔</m:t>
                          </m:r>
                          <m:r>
                            <m:rPr>
                              <m:nor/>
                            </m:rPr>
                            <a:rPr lang="vi-VN" sz="1200" b="0" i="1" kern="1200">
                              <a:solidFill>
                                <a:schemeClr val="tx1"/>
                              </a:solidFill>
                              <a:latin typeface="+mn-lt"/>
                              <a:ea typeface="+mn-ea"/>
                              <a:cs typeface="+mn-cs"/>
                            </a:rPr>
                            <m:t>ườ</m:t>
                          </m:r>
                          <m:r>
                            <a:rPr lang="vi-VN" sz="1200" b="0" i="1" kern="1200">
                              <a:solidFill>
                                <a:schemeClr val="tx1"/>
                              </a:solidFill>
                              <a:latin typeface="Cambria Math" panose="02040503050406030204" pitchFamily="18" charset="0"/>
                              <a:ea typeface="+mn-ea"/>
                              <a:cs typeface="+mn-cs"/>
                            </a:rPr>
                            <m:t>𝑖</m:t>
                          </m:r>
                          <m:r>
                            <m:rPr>
                              <m:nor/>
                            </m:rPr>
                            <a:rPr lang="vi-VN" sz="1200" b="0" i="1" kern="1200">
                              <a:solidFill>
                                <a:schemeClr val="tx1"/>
                              </a:solidFill>
                              <a:latin typeface="+mn-lt"/>
                              <a:ea typeface="+mn-ea"/>
                              <a:cs typeface="+mn-cs"/>
                            </a:rPr>
                            <m:t> đượ</m:t>
                          </m:r>
                          <m:r>
                            <a:rPr lang="vi-VN" sz="1200" b="0" i="1" kern="1200">
                              <a:solidFill>
                                <a:schemeClr val="tx1"/>
                              </a:solidFill>
                              <a:latin typeface="Cambria Math" panose="02040503050406030204" pitchFamily="18" charset="0"/>
                              <a:ea typeface="+mn-ea"/>
                              <a:cs typeface="+mn-cs"/>
                            </a:rPr>
                            <m:t>𝑐</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𝑑</m:t>
                          </m:r>
                          <m:r>
                            <m:rPr>
                              <m:nor/>
                            </m:rPr>
                            <a:rPr lang="vi-VN" sz="1200" b="0" i="1" kern="1200">
                              <a:solidFill>
                                <a:schemeClr val="tx1"/>
                              </a:solidFill>
                              <a:latin typeface="+mn-lt"/>
                              <a:ea typeface="+mn-ea"/>
                              <a:cs typeface="+mn-cs"/>
                            </a:rPr>
                            <m:t>ự đ</m:t>
                          </m:r>
                          <m:r>
                            <a:rPr lang="vi-VN" sz="1200" b="0" i="1" kern="1200">
                              <a:solidFill>
                                <a:schemeClr val="tx1"/>
                              </a:solidFill>
                              <a:latin typeface="Cambria Math" panose="02040503050406030204" pitchFamily="18" charset="0"/>
                              <a:ea typeface="+mn-ea"/>
                              <a:cs typeface="+mn-cs"/>
                            </a:rPr>
                            <m:t>𝑜</m:t>
                          </m:r>
                          <m:limUpp>
                            <m:limUppPr>
                              <m:ctrlPr>
                                <a:rPr lang="vi-VN" sz="1200" b="0" i="1" kern="1200">
                                  <a:solidFill>
                                    <a:schemeClr val="tx1"/>
                                  </a:solidFill>
                                  <a:latin typeface="Cambria Math" panose="02040503050406030204" pitchFamily="18" charset="0"/>
                                  <a:ea typeface="+mn-ea"/>
                                  <a:cs typeface="+mn-cs"/>
                                </a:rPr>
                              </m:ctrlPr>
                            </m:limUppPr>
                            <m:e>
                              <m:r>
                                <a:rPr lang="vi-VN" sz="1200" b="0" i="1" kern="1200">
                                  <a:solidFill>
                                    <a:schemeClr val="tx1"/>
                                  </a:solidFill>
                                  <a:latin typeface="Cambria Math" panose="02040503050406030204" pitchFamily="18" charset="0"/>
                                  <a:ea typeface="+mn-ea"/>
                                  <a:cs typeface="+mn-cs"/>
                                </a:rPr>
                                <m:t>𝑎</m:t>
                              </m:r>
                            </m:e>
                            <m:lim>
                              <m:r>
                                <a:rPr lang="vi-VN" sz="1200" b="0" i="0" kern="1200">
                                  <a:solidFill>
                                    <a:schemeClr val="tx1"/>
                                  </a:solidFill>
                                  <a:latin typeface="Cambria Math" panose="02040503050406030204" pitchFamily="18" charset="0"/>
                                  <a:ea typeface="+mn-ea"/>
                                  <a:cs typeface="+mn-cs"/>
                                </a:rPr>
                                <m:t>ˊ</m:t>
                              </m:r>
                            </m:lim>
                          </m:limUpp>
                          <m:r>
                            <a:rPr lang="vi-VN" sz="1200" b="0" i="1" kern="1200">
                              <a:solidFill>
                                <a:schemeClr val="tx1"/>
                              </a:solidFill>
                              <a:latin typeface="Cambria Math" panose="02040503050406030204" pitchFamily="18" charset="0"/>
                              <a:ea typeface="+mn-ea"/>
                              <a:cs typeface="+mn-cs"/>
                            </a:rPr>
                            <m:t>𝑛</m:t>
                          </m:r>
                          <m:r>
                            <m:rPr>
                              <m:nor/>
                            </m:rPr>
                            <a:rPr lang="vi-VN" sz="1200" b="0" i="1" kern="1200">
                              <a:solidFill>
                                <a:schemeClr val="tx1"/>
                              </a:solidFill>
                              <a:latin typeface="+mn-lt"/>
                              <a:ea typeface="+mn-ea"/>
                              <a:cs typeface="+mn-cs"/>
                            </a:rPr>
                            <m:t> đ</m:t>
                          </m:r>
                          <m:limUpp>
                            <m:limUppPr>
                              <m:ctrlPr>
                                <a:rPr lang="vi-VN" sz="1200" b="0" i="1" kern="1200">
                                  <a:solidFill>
                                    <a:schemeClr val="tx1"/>
                                  </a:solidFill>
                                  <a:latin typeface="Cambria Math" panose="02040503050406030204" pitchFamily="18" charset="0"/>
                                  <a:ea typeface="+mn-ea"/>
                                  <a:cs typeface="+mn-cs"/>
                                </a:rPr>
                              </m:ctrlPr>
                            </m:limUppPr>
                            <m:e>
                              <m:r>
                                <a:rPr lang="vi-VN" sz="1200" b="0" i="1" kern="1200">
                                  <a:solidFill>
                                    <a:schemeClr val="tx1"/>
                                  </a:solidFill>
                                  <a:latin typeface="Cambria Math" panose="02040503050406030204" pitchFamily="18" charset="0"/>
                                  <a:ea typeface="+mn-ea"/>
                                  <a:cs typeface="+mn-cs"/>
                                </a:rPr>
                                <m:t>𝑢</m:t>
                              </m:r>
                            </m:e>
                            <m:lim>
                              <m:r>
                                <a:rPr lang="vi-VN" sz="1200" b="0" i="0" kern="1200">
                                  <a:solidFill>
                                    <a:schemeClr val="tx1"/>
                                  </a:solidFill>
                                  <a:latin typeface="Cambria Math" panose="02040503050406030204" pitchFamily="18" charset="0"/>
                                  <a:ea typeface="+mn-ea"/>
                                  <a:cs typeface="+mn-cs"/>
                                </a:rPr>
                                <m:t>ˊ</m:t>
                              </m:r>
                            </m:lim>
                          </m:limUpp>
                          <m:r>
                            <a:rPr lang="vi-VN" sz="1200" b="0" i="1" kern="1200">
                              <a:solidFill>
                                <a:schemeClr val="tx1"/>
                              </a:solidFill>
                              <a:latin typeface="Cambria Math" panose="02040503050406030204" pitchFamily="18" charset="0"/>
                              <a:ea typeface="+mn-ea"/>
                              <a:cs typeface="+mn-cs"/>
                            </a:rPr>
                            <m:t>𝑛𝑔</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𝑙</m:t>
                          </m:r>
                          <m:limUpp>
                            <m:limUppPr>
                              <m:ctrlPr>
                                <a:rPr lang="vi-VN" sz="1200" b="0" i="1" kern="1200">
                                  <a:solidFill>
                                    <a:schemeClr val="tx1"/>
                                  </a:solidFill>
                                  <a:latin typeface="Cambria Math" panose="02040503050406030204" pitchFamily="18" charset="0"/>
                                  <a:ea typeface="+mn-ea"/>
                                  <a:cs typeface="+mn-cs"/>
                                </a:rPr>
                              </m:ctrlPr>
                            </m:limUppPr>
                            <m:e>
                              <m:r>
                                <a:rPr lang="vi-VN" sz="1200" b="0" i="1" kern="1200">
                                  <a:solidFill>
                                    <a:schemeClr val="tx1"/>
                                  </a:solidFill>
                                  <a:latin typeface="Cambria Math" panose="02040503050406030204" pitchFamily="18" charset="0"/>
                                  <a:ea typeface="+mn-ea"/>
                                  <a:cs typeface="+mn-cs"/>
                                </a:rPr>
                                <m:t>𝑎</m:t>
                              </m:r>
                            </m:e>
                            <m:lim>
                              <m:r>
                                <a:rPr lang="vi-VN" sz="1200" b="0" i="0" kern="1200">
                                  <a:solidFill>
                                    <a:schemeClr val="tx1"/>
                                  </a:solidFill>
                                  <a:latin typeface="Cambria Math" panose="02040503050406030204" pitchFamily="18" charset="0"/>
                                  <a:ea typeface="+mn-ea"/>
                                  <a:cs typeface="+mn-cs"/>
                                </a:rPr>
                                <m:t>ˋ</m:t>
                              </m:r>
                            </m:lim>
                          </m:limUpp>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𝑐</m:t>
                          </m:r>
                          <m:limUpp>
                            <m:limUppPr>
                              <m:ctrlPr>
                                <a:rPr lang="vi-VN" sz="1200" b="0" i="1" kern="1200">
                                  <a:solidFill>
                                    <a:schemeClr val="tx1"/>
                                  </a:solidFill>
                                  <a:latin typeface="Cambria Math" panose="02040503050406030204" pitchFamily="18" charset="0"/>
                                  <a:ea typeface="+mn-ea"/>
                                  <a:cs typeface="+mn-cs"/>
                                </a:rPr>
                              </m:ctrlPr>
                            </m:limUppPr>
                            <m:e>
                              <m:r>
                                <a:rPr lang="vi-VN" sz="1200" b="0" i="1" kern="1200">
                                  <a:solidFill>
                                    <a:schemeClr val="tx1"/>
                                  </a:solidFill>
                                  <a:latin typeface="Cambria Math" panose="02040503050406030204" pitchFamily="18" charset="0"/>
                                  <a:ea typeface="+mn-ea"/>
                                  <a:cs typeface="+mn-cs"/>
                                </a:rPr>
                                <m:t>𝑜</m:t>
                              </m:r>
                            </m:e>
                            <m:lim>
                              <m:r>
                                <a:rPr lang="vi-VN" sz="1200" b="0" i="0" kern="1200">
                                  <a:solidFill>
                                    <a:schemeClr val="tx1"/>
                                  </a:solidFill>
                                  <a:latin typeface="Cambria Math" panose="02040503050406030204" pitchFamily="18" charset="0"/>
                                  <a:ea typeface="+mn-ea"/>
                                  <a:cs typeface="+mn-cs"/>
                                </a:rPr>
                                <m:t>ˊ</m:t>
                              </m:r>
                            </m:lim>
                          </m:limUpp>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𝑏</m:t>
                          </m:r>
                          <m:r>
                            <m:rPr>
                              <m:nor/>
                            </m:rPr>
                            <a:rPr lang="vi-VN" sz="1200" b="0" i="1" kern="1200">
                              <a:solidFill>
                                <a:schemeClr val="tx1"/>
                              </a:solidFill>
                              <a:latin typeface="+mn-lt"/>
                              <a:ea typeface="+mn-ea"/>
                              <a:cs typeface="+mn-cs"/>
                            </a:rPr>
                            <m:t>ệ</m:t>
                          </m:r>
                          <m:r>
                            <a:rPr lang="vi-VN" sz="1200" b="0" i="1" kern="1200">
                              <a:solidFill>
                                <a:schemeClr val="tx1"/>
                              </a:solidFill>
                              <a:latin typeface="Cambria Math" panose="02040503050406030204" pitchFamily="18" charset="0"/>
                              <a:ea typeface="+mn-ea"/>
                              <a:cs typeface="+mn-cs"/>
                            </a:rPr>
                            <m:t>𝑛h</m:t>
                          </m:r>
                        </m:num>
                        <m:den>
                          <m:r>
                            <a:rPr lang="vi-VN" sz="1200" b="0" i="1" kern="1200">
                              <a:solidFill>
                                <a:schemeClr val="tx1"/>
                              </a:solidFill>
                              <a:latin typeface="Cambria Math" panose="02040503050406030204" pitchFamily="18" charset="0"/>
                              <a:ea typeface="+mn-ea"/>
                              <a:cs typeface="+mn-cs"/>
                            </a:rPr>
                            <m:t>𝑡</m:t>
                          </m:r>
                          <m:r>
                            <m:rPr>
                              <m:nor/>
                            </m:rPr>
                            <a:rPr lang="vi-VN" sz="1200" b="0" i="1" kern="1200">
                              <a:solidFill>
                                <a:schemeClr val="tx1"/>
                              </a:solidFill>
                              <a:latin typeface="+mn-lt"/>
                              <a:ea typeface="+mn-ea"/>
                              <a:cs typeface="+mn-cs"/>
                            </a:rPr>
                            <m:t>ổ</m:t>
                          </m:r>
                          <m:r>
                            <a:rPr lang="vi-VN" sz="1200" b="0" i="1" kern="1200">
                              <a:solidFill>
                                <a:schemeClr val="tx1"/>
                              </a:solidFill>
                              <a:latin typeface="Cambria Math" panose="02040503050406030204" pitchFamily="18" charset="0"/>
                              <a:ea typeface="+mn-ea"/>
                              <a:cs typeface="+mn-cs"/>
                            </a:rPr>
                            <m:t>𝑛𝑔</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𝑠</m:t>
                          </m:r>
                          <m:limUpp>
                            <m:limUppPr>
                              <m:ctrlPr>
                                <a:rPr lang="vi-VN" sz="1200" b="0" i="1" kern="1200">
                                  <a:solidFill>
                                    <a:schemeClr val="tx1"/>
                                  </a:solidFill>
                                  <a:latin typeface="Cambria Math" panose="02040503050406030204" pitchFamily="18" charset="0"/>
                                  <a:ea typeface="+mn-ea"/>
                                  <a:cs typeface="+mn-cs"/>
                                </a:rPr>
                              </m:ctrlPr>
                            </m:limUppPr>
                            <m:e>
                              <m:acc>
                                <m:accPr>
                                  <m:chr m:val="̂"/>
                                  <m:ctrlPr>
                                    <a:rPr lang="vi-VN" sz="1200" b="0" i="1" kern="1200">
                                      <a:solidFill>
                                        <a:schemeClr val="tx1"/>
                                      </a:solidFill>
                                      <a:latin typeface="Cambria Math" panose="02040503050406030204" pitchFamily="18" charset="0"/>
                                      <a:ea typeface="+mn-ea"/>
                                      <a:cs typeface="+mn-cs"/>
                                    </a:rPr>
                                  </m:ctrlPr>
                                </m:accPr>
                                <m:e>
                                  <m:r>
                                    <a:rPr lang="vi-VN" sz="1200" b="0" i="1" kern="1200">
                                      <a:solidFill>
                                        <a:schemeClr val="tx1"/>
                                      </a:solidFill>
                                      <a:latin typeface="Cambria Math" panose="02040503050406030204" pitchFamily="18" charset="0"/>
                                      <a:ea typeface="+mn-ea"/>
                                      <a:cs typeface="+mn-cs"/>
                                    </a:rPr>
                                    <m:t>𝑜</m:t>
                                  </m:r>
                                </m:e>
                              </m:acc>
                            </m:e>
                            <m:lim>
                              <m:r>
                                <a:rPr lang="vi-VN" sz="1200" b="0" i="0" kern="1200">
                                  <a:solidFill>
                                    <a:schemeClr val="tx1"/>
                                  </a:solidFill>
                                  <a:latin typeface="Cambria Math" panose="02040503050406030204" pitchFamily="18" charset="0"/>
                                  <a:ea typeface="+mn-ea"/>
                                  <a:cs typeface="+mn-cs"/>
                                </a:rPr>
                                <m:t>ˊ</m:t>
                              </m:r>
                            </m:lim>
                          </m:limUpp>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𝑛𝑔</m:t>
                          </m:r>
                          <m:r>
                            <m:rPr>
                              <m:nor/>
                            </m:rPr>
                            <a:rPr lang="vi-VN" sz="1200" b="0" i="1" kern="1200">
                              <a:solidFill>
                                <a:schemeClr val="tx1"/>
                              </a:solidFill>
                              <a:latin typeface="+mn-lt"/>
                              <a:ea typeface="+mn-ea"/>
                              <a:cs typeface="+mn-cs"/>
                            </a:rPr>
                            <m:t>ườ</m:t>
                          </m:r>
                          <m:r>
                            <a:rPr lang="vi-VN" sz="1200" b="0" i="1" kern="1200">
                              <a:solidFill>
                                <a:schemeClr val="tx1"/>
                              </a:solidFill>
                              <a:latin typeface="Cambria Math" panose="02040503050406030204" pitchFamily="18" charset="0"/>
                              <a:ea typeface="+mn-ea"/>
                              <a:cs typeface="+mn-cs"/>
                            </a:rPr>
                            <m:t>𝑖</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𝑚</m:t>
                          </m:r>
                          <m:acc>
                            <m:accPr>
                              <m:chr m:val="̂"/>
                              <m:ctrlPr>
                                <a:rPr lang="vi-VN" sz="1200" b="0" i="1" kern="1200">
                                  <a:solidFill>
                                    <a:schemeClr val="tx1"/>
                                  </a:solidFill>
                                  <a:latin typeface="Cambria Math" panose="02040503050406030204" pitchFamily="18" charset="0"/>
                                  <a:ea typeface="+mn-ea"/>
                                  <a:cs typeface="+mn-cs"/>
                                </a:rPr>
                              </m:ctrlPr>
                            </m:accPr>
                            <m:e>
                              <m:r>
                                <a:rPr lang="vi-VN" sz="1200" b="0" i="1" kern="1200">
                                  <a:solidFill>
                                    <a:schemeClr val="tx1"/>
                                  </a:solidFill>
                                  <a:latin typeface="Cambria Math" panose="02040503050406030204" pitchFamily="18" charset="0"/>
                                  <a:ea typeface="+mn-ea"/>
                                  <a:cs typeface="+mn-cs"/>
                                </a:rPr>
                                <m:t>𝑜</m:t>
                              </m:r>
                            </m:e>
                          </m:acc>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h</m:t>
                          </m:r>
                          <m:limUpp>
                            <m:limUppPr>
                              <m:ctrlPr>
                                <a:rPr lang="vi-VN" sz="1200" b="0" i="1" kern="1200">
                                  <a:solidFill>
                                    <a:schemeClr val="tx1"/>
                                  </a:solidFill>
                                  <a:latin typeface="Cambria Math" panose="02040503050406030204" pitchFamily="18" charset="0"/>
                                  <a:ea typeface="+mn-ea"/>
                                  <a:cs typeface="+mn-cs"/>
                                </a:rPr>
                              </m:ctrlPr>
                            </m:limUppPr>
                            <m:e>
                              <m:r>
                                <a:rPr lang="vi-VN" sz="1200" b="0" i="0" kern="1200">
                                  <a:solidFill>
                                    <a:schemeClr val="tx1"/>
                                  </a:solidFill>
                                  <a:latin typeface="Cambria Math" panose="02040503050406030204" pitchFamily="18" charset="0"/>
                                  <a:ea typeface="+mn-ea"/>
                                  <a:cs typeface="+mn-cs"/>
                                </a:rPr>
                                <m:t>ı</m:t>
                              </m:r>
                            </m:e>
                            <m:lim>
                              <m:r>
                                <a:rPr lang="vi-VN" sz="1200" b="0" i="0" kern="1200">
                                  <a:solidFill>
                                    <a:schemeClr val="tx1"/>
                                  </a:solidFill>
                                  <a:latin typeface="Cambria Math" panose="02040503050406030204" pitchFamily="18" charset="0"/>
                                  <a:ea typeface="+mn-ea"/>
                                  <a:cs typeface="+mn-cs"/>
                                </a:rPr>
                                <m:t>ˋ</m:t>
                              </m:r>
                            </m:lim>
                          </m:limUpp>
                          <m:r>
                            <a:rPr lang="vi-VN" sz="1200" b="0" i="1" kern="1200">
                              <a:solidFill>
                                <a:schemeClr val="tx1"/>
                              </a:solidFill>
                              <a:latin typeface="Cambria Math" panose="02040503050406030204" pitchFamily="18" charset="0"/>
                              <a:ea typeface="+mn-ea"/>
                              <a:cs typeface="+mn-cs"/>
                            </a:rPr>
                            <m:t>𝑛h</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𝑑</m:t>
                          </m:r>
                          <m:r>
                            <m:rPr>
                              <m:nor/>
                            </m:rPr>
                            <a:rPr lang="vi-VN" sz="1200" b="0" i="1" kern="1200">
                              <a:solidFill>
                                <a:schemeClr val="tx1"/>
                              </a:solidFill>
                              <a:latin typeface="+mn-lt"/>
                              <a:ea typeface="+mn-ea"/>
                              <a:cs typeface="+mn-cs"/>
                            </a:rPr>
                            <m:t>ự đ</m:t>
                          </m:r>
                          <m:r>
                            <a:rPr lang="vi-VN" sz="1200" b="0" i="1" kern="1200">
                              <a:solidFill>
                                <a:schemeClr val="tx1"/>
                              </a:solidFill>
                              <a:latin typeface="Cambria Math" panose="02040503050406030204" pitchFamily="18" charset="0"/>
                              <a:ea typeface="+mn-ea"/>
                              <a:cs typeface="+mn-cs"/>
                            </a:rPr>
                            <m:t>𝑜</m:t>
                          </m:r>
                          <m:limUpp>
                            <m:limUppPr>
                              <m:ctrlPr>
                                <a:rPr lang="vi-VN" sz="1200" b="0" i="1" kern="1200">
                                  <a:solidFill>
                                    <a:schemeClr val="tx1"/>
                                  </a:solidFill>
                                  <a:latin typeface="Cambria Math" panose="02040503050406030204" pitchFamily="18" charset="0"/>
                                  <a:ea typeface="+mn-ea"/>
                                  <a:cs typeface="+mn-cs"/>
                                </a:rPr>
                              </m:ctrlPr>
                            </m:limUppPr>
                            <m:e>
                              <m:r>
                                <a:rPr lang="vi-VN" sz="1200" b="0" i="1" kern="1200">
                                  <a:solidFill>
                                    <a:schemeClr val="tx1"/>
                                  </a:solidFill>
                                  <a:latin typeface="Cambria Math" panose="02040503050406030204" pitchFamily="18" charset="0"/>
                                  <a:ea typeface="+mn-ea"/>
                                  <a:cs typeface="+mn-cs"/>
                                </a:rPr>
                                <m:t>𝑎</m:t>
                              </m:r>
                            </m:e>
                            <m:lim>
                              <m:r>
                                <a:rPr lang="vi-VN" sz="1200" b="0" i="0" kern="1200">
                                  <a:solidFill>
                                    <a:schemeClr val="tx1"/>
                                  </a:solidFill>
                                  <a:latin typeface="Cambria Math" panose="02040503050406030204" pitchFamily="18" charset="0"/>
                                  <a:ea typeface="+mn-ea"/>
                                  <a:cs typeface="+mn-cs"/>
                                </a:rPr>
                                <m:t>ˊ</m:t>
                              </m:r>
                            </m:lim>
                          </m:limUpp>
                          <m:r>
                            <a:rPr lang="vi-VN" sz="1200" b="0" i="1" kern="1200">
                              <a:solidFill>
                                <a:schemeClr val="tx1"/>
                              </a:solidFill>
                              <a:latin typeface="Cambria Math" panose="02040503050406030204" pitchFamily="18" charset="0"/>
                              <a:ea typeface="+mn-ea"/>
                              <a:cs typeface="+mn-cs"/>
                            </a:rPr>
                            <m:t>𝑛</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𝑐</m:t>
                          </m:r>
                          <m:limUpp>
                            <m:limUppPr>
                              <m:ctrlPr>
                                <a:rPr lang="vi-VN" sz="1200" b="0" i="1" kern="1200">
                                  <a:solidFill>
                                    <a:schemeClr val="tx1"/>
                                  </a:solidFill>
                                  <a:latin typeface="Cambria Math" panose="02040503050406030204" pitchFamily="18" charset="0"/>
                                  <a:ea typeface="+mn-ea"/>
                                  <a:cs typeface="+mn-cs"/>
                                </a:rPr>
                              </m:ctrlPr>
                            </m:limUppPr>
                            <m:e>
                              <m:r>
                                <a:rPr lang="vi-VN" sz="1200" b="0" i="1" kern="1200">
                                  <a:solidFill>
                                    <a:schemeClr val="tx1"/>
                                  </a:solidFill>
                                  <a:latin typeface="Cambria Math" panose="02040503050406030204" pitchFamily="18" charset="0"/>
                                  <a:ea typeface="+mn-ea"/>
                                  <a:cs typeface="+mn-cs"/>
                                </a:rPr>
                                <m:t>𝑜</m:t>
                              </m:r>
                            </m:e>
                            <m:lim>
                              <m:r>
                                <a:rPr lang="vi-VN" sz="1200" b="0" i="0" kern="1200">
                                  <a:solidFill>
                                    <a:schemeClr val="tx1"/>
                                  </a:solidFill>
                                  <a:latin typeface="Cambria Math" panose="02040503050406030204" pitchFamily="18" charset="0"/>
                                  <a:ea typeface="+mn-ea"/>
                                  <a:cs typeface="+mn-cs"/>
                                </a:rPr>
                                <m:t>ˊ</m:t>
                              </m:r>
                            </m:lim>
                          </m:limUpp>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𝑏</m:t>
                          </m:r>
                          <m:r>
                            <m:rPr>
                              <m:nor/>
                            </m:rPr>
                            <a:rPr lang="vi-VN" sz="1200" b="0" i="1" kern="1200">
                              <a:solidFill>
                                <a:schemeClr val="tx1"/>
                              </a:solidFill>
                              <a:latin typeface="+mn-lt"/>
                              <a:ea typeface="+mn-ea"/>
                              <a:cs typeface="+mn-cs"/>
                            </a:rPr>
                            <m:t>ệ</m:t>
                          </m:r>
                          <m:r>
                            <a:rPr lang="vi-VN" sz="1200" b="0" i="1" kern="1200">
                              <a:solidFill>
                                <a:schemeClr val="tx1"/>
                              </a:solidFill>
                              <a:latin typeface="Cambria Math" panose="02040503050406030204" pitchFamily="18" charset="0"/>
                              <a:ea typeface="+mn-ea"/>
                              <a:cs typeface="+mn-cs"/>
                            </a:rPr>
                            <m:t>𝑛h</m:t>
                          </m:r>
                        </m:den>
                      </m:f>
                    </m:oMath>
                  </m:oMathPara>
                </a14:m>
                <a:endParaRPr lang="vi-VN" b="0" dirty="0"/>
              </a:p>
              <a:p>
                <a:r>
                  <a:rPr lang="vi-VN" dirty="0"/>
                  <a:t>Ý nghĩa thực tế:</a:t>
                </a:r>
              </a:p>
              <a:p>
                <a:r>
                  <a:rPr lang="vi-VN" dirty="0"/>
                  <a:t>Trong tất cả những người mô hình báo “có bệnh”, bao nhiêu người thật sự mắc?</a:t>
                </a:r>
              </a:p>
              <a:p>
                <a:r>
                  <a:rPr lang="vi-VN" dirty="0"/>
                  <a:t>Precision cao → mô hình ít </a:t>
                </a:r>
                <a:r>
                  <a:rPr lang="vi-VN" b="1" dirty="0"/>
                  <a:t>báo nhầm người khỏe thành người bệnh</a:t>
                </a:r>
                <a:r>
                  <a:rPr lang="vi-VN" dirty="0"/>
                  <a:t>.</a:t>
                </a:r>
              </a:p>
              <a:p>
                <a:r>
                  <a:rPr lang="vi-VN" dirty="0"/>
                  <a:t>Ví dụ:</a:t>
                </a:r>
              </a:p>
              <a:p>
                <a:r>
                  <a:rPr lang="vi-VN" dirty="0"/>
                  <a:t>Precision = 0.65 → cứ 10 người bị dự đoán có bệnh thì 6.5 người thực sự có bệnh.</a:t>
                </a:r>
              </a:p>
              <a:p>
                <a:br>
                  <a:rPr lang="vi-VN" dirty="0"/>
                </a:br>
                <a:endParaRPr lang="vi-VN" dirty="0"/>
              </a:p>
              <a:p>
                <a:r>
                  <a:rPr lang="en-US" b="1" dirty="0"/>
                  <a:t>🔵 </a:t>
                </a:r>
                <a:r>
                  <a:rPr lang="vi-VN" b="1" dirty="0"/>
                  <a:t>Recall – mô hình tìm được bao nhiêu người bệnh thật</a:t>
                </a:r>
              </a:p>
              <a:p>
                <a:pPr/>
                <a14:m>
                  <m:oMathPara xmlns:m="http://schemas.openxmlformats.org/officeDocument/2006/math">
                    <m:oMathParaPr>
                      <m:jc m:val="centerGroup"/>
                    </m:oMathParaPr>
                    <m:oMath xmlns:m="http://schemas.openxmlformats.org/officeDocument/2006/math">
                      <m:r>
                        <a:rPr lang="vi-VN" sz="1200" i="1" kern="1200">
                          <a:solidFill>
                            <a:schemeClr val="tx1"/>
                          </a:solidFill>
                          <a:latin typeface="Cambria Math" panose="02040503050406030204" pitchFamily="18" charset="0"/>
                          <a:ea typeface="+mn-ea"/>
                          <a:cs typeface="+mn-cs"/>
                        </a:rPr>
                        <m:t>𝑅𝑒𝑐𝑎𝑙𝑙</m:t>
                      </m:r>
                      <m:r>
                        <a:rPr lang="vi-VN" sz="1200" i="0" kern="1200">
                          <a:solidFill>
                            <a:schemeClr val="tx1"/>
                          </a:solidFill>
                          <a:latin typeface="Cambria Math" panose="02040503050406030204" pitchFamily="18" charset="0"/>
                          <a:ea typeface="+mn-ea"/>
                          <a:cs typeface="+mn-cs"/>
                        </a:rPr>
                        <m:t>=</m:t>
                      </m:r>
                      <m:f>
                        <m:fPr>
                          <m:ctrlPr>
                            <a:rPr lang="vi-VN" sz="1200" i="1" kern="1200">
                              <a:solidFill>
                                <a:schemeClr val="tx1"/>
                              </a:solidFill>
                              <a:latin typeface="Cambria Math" panose="02040503050406030204" pitchFamily="18" charset="0"/>
                              <a:ea typeface="+mn-ea"/>
                              <a:cs typeface="+mn-cs"/>
                            </a:rPr>
                          </m:ctrlPr>
                        </m:fPr>
                        <m:num>
                          <m:r>
                            <a:rPr lang="vi-VN" sz="1200" i="1" kern="1200">
                              <a:solidFill>
                                <a:schemeClr val="tx1"/>
                              </a:solidFill>
                              <a:latin typeface="Cambria Math" panose="02040503050406030204" pitchFamily="18" charset="0"/>
                              <a:ea typeface="+mn-ea"/>
                              <a:cs typeface="+mn-cs"/>
                            </a:rPr>
                            <m:t>𝑠</m:t>
                          </m:r>
                          <m:limUpp>
                            <m:limUppPr>
                              <m:ctrlPr>
                                <a:rPr lang="vi-VN" sz="1200" i="1" kern="1200">
                                  <a:solidFill>
                                    <a:schemeClr val="tx1"/>
                                  </a:solidFill>
                                  <a:latin typeface="Cambria Math" panose="02040503050406030204" pitchFamily="18" charset="0"/>
                                  <a:ea typeface="+mn-ea"/>
                                  <a:cs typeface="+mn-cs"/>
                                </a:rPr>
                              </m:ctrlPr>
                            </m:limUppPr>
                            <m:e>
                              <m:acc>
                                <m:accPr>
                                  <m:chr m:val="̂"/>
                                  <m:ctrlPr>
                                    <a:rPr lang="vi-VN" sz="1200" i="1" kern="1200">
                                      <a:solidFill>
                                        <a:schemeClr val="tx1"/>
                                      </a:solidFill>
                                      <a:latin typeface="Cambria Math" panose="02040503050406030204" pitchFamily="18" charset="0"/>
                                      <a:ea typeface="+mn-ea"/>
                                      <a:cs typeface="+mn-cs"/>
                                    </a:rPr>
                                  </m:ctrlPr>
                                </m:accPr>
                                <m:e>
                                  <m:r>
                                    <a:rPr lang="vi-VN" sz="1200" i="1" kern="1200">
                                      <a:solidFill>
                                        <a:schemeClr val="tx1"/>
                                      </a:solidFill>
                                      <a:latin typeface="Cambria Math" panose="02040503050406030204" pitchFamily="18" charset="0"/>
                                      <a:ea typeface="+mn-ea"/>
                                      <a:cs typeface="+mn-cs"/>
                                    </a:rPr>
                                    <m:t>𝑜</m:t>
                                  </m:r>
                                </m:e>
                              </m:acc>
                            </m:e>
                            <m:lim>
                              <m:r>
                                <a:rPr lang="vi-VN" sz="1200" i="0" kern="1200">
                                  <a:solidFill>
                                    <a:schemeClr val="tx1"/>
                                  </a:solidFill>
                                  <a:latin typeface="Cambria Math" panose="02040503050406030204" pitchFamily="18" charset="0"/>
                                  <a:ea typeface="+mn-ea"/>
                                  <a:cs typeface="+mn-cs"/>
                                </a:rPr>
                                <m:t>ˊ</m:t>
                              </m:r>
                            </m:lim>
                          </m:limUpp>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𝑛𝑔</m:t>
                          </m:r>
                          <m:r>
                            <m:rPr>
                              <m:nor/>
                            </m:rPr>
                            <a:rPr lang="vi-VN" sz="1200" b="0" i="1" kern="1200">
                              <a:solidFill>
                                <a:schemeClr val="tx1"/>
                              </a:solidFill>
                              <a:latin typeface="+mn-lt"/>
                              <a:ea typeface="+mn-ea"/>
                              <a:cs typeface="+mn-cs"/>
                            </a:rPr>
                            <m:t>ườ</m:t>
                          </m:r>
                          <m:r>
                            <a:rPr lang="vi-VN" sz="1200" b="0" i="1" kern="1200">
                              <a:solidFill>
                                <a:schemeClr val="tx1"/>
                              </a:solidFill>
                              <a:latin typeface="Cambria Math" panose="02040503050406030204" pitchFamily="18" charset="0"/>
                              <a:ea typeface="+mn-ea"/>
                              <a:cs typeface="+mn-cs"/>
                            </a:rPr>
                            <m:t>𝑖</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𝑏</m:t>
                          </m:r>
                          <m:r>
                            <m:rPr>
                              <m:nor/>
                            </m:rPr>
                            <a:rPr lang="vi-VN" sz="1200" b="0" i="1" kern="1200">
                              <a:solidFill>
                                <a:schemeClr val="tx1"/>
                              </a:solidFill>
                              <a:latin typeface="+mn-lt"/>
                              <a:ea typeface="+mn-ea"/>
                              <a:cs typeface="+mn-cs"/>
                            </a:rPr>
                            <m:t>ệ</m:t>
                          </m:r>
                          <m:r>
                            <a:rPr lang="vi-VN" sz="1200" b="0" i="1" kern="1200">
                              <a:solidFill>
                                <a:schemeClr val="tx1"/>
                              </a:solidFill>
                              <a:latin typeface="Cambria Math" panose="02040503050406030204" pitchFamily="18" charset="0"/>
                              <a:ea typeface="+mn-ea"/>
                              <a:cs typeface="+mn-cs"/>
                            </a:rPr>
                            <m:t>𝑛h</m:t>
                          </m:r>
                          <m:r>
                            <m:rPr>
                              <m:nor/>
                            </m:rPr>
                            <a:rPr lang="vi-VN" sz="1200" b="0" i="1" kern="1200">
                              <a:solidFill>
                                <a:schemeClr val="tx1"/>
                              </a:solidFill>
                              <a:latin typeface="+mn-lt"/>
                              <a:ea typeface="+mn-ea"/>
                              <a:cs typeface="+mn-cs"/>
                            </a:rPr>
                            <m:t> đượ</m:t>
                          </m:r>
                          <m:r>
                            <a:rPr lang="vi-VN" sz="1200" b="0" i="1" kern="1200">
                              <a:solidFill>
                                <a:schemeClr val="tx1"/>
                              </a:solidFill>
                              <a:latin typeface="Cambria Math" panose="02040503050406030204" pitchFamily="18" charset="0"/>
                              <a:ea typeface="+mn-ea"/>
                              <a:cs typeface="+mn-cs"/>
                            </a:rPr>
                            <m:t>𝑐</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𝑝h</m:t>
                          </m:r>
                          <m:limUpp>
                            <m:limUppPr>
                              <m:ctrlPr>
                                <a:rPr lang="vi-VN" sz="1200" b="0" i="1" kern="1200">
                                  <a:solidFill>
                                    <a:schemeClr val="tx1"/>
                                  </a:solidFill>
                                  <a:latin typeface="Cambria Math" panose="02040503050406030204" pitchFamily="18" charset="0"/>
                                  <a:ea typeface="+mn-ea"/>
                                  <a:cs typeface="+mn-cs"/>
                                </a:rPr>
                              </m:ctrlPr>
                            </m:limUppPr>
                            <m:e>
                              <m:r>
                                <a:rPr lang="vi-VN" sz="1200" b="0" i="1" kern="1200">
                                  <a:solidFill>
                                    <a:schemeClr val="tx1"/>
                                  </a:solidFill>
                                  <a:latin typeface="Cambria Math" panose="02040503050406030204" pitchFamily="18" charset="0"/>
                                  <a:ea typeface="+mn-ea"/>
                                  <a:cs typeface="+mn-cs"/>
                                </a:rPr>
                                <m:t>𝑎</m:t>
                              </m:r>
                            </m:e>
                            <m:lim>
                              <m:r>
                                <a:rPr lang="vi-VN" sz="1200" b="0" i="0" kern="1200">
                                  <a:solidFill>
                                    <a:schemeClr val="tx1"/>
                                  </a:solidFill>
                                  <a:latin typeface="Cambria Math" panose="02040503050406030204" pitchFamily="18" charset="0"/>
                                  <a:ea typeface="+mn-ea"/>
                                  <a:cs typeface="+mn-cs"/>
                                </a:rPr>
                                <m:t>ˊ</m:t>
                              </m:r>
                            </m:lim>
                          </m:limUpp>
                          <m:r>
                            <a:rPr lang="vi-VN" sz="1200" b="0" i="1" kern="1200">
                              <a:solidFill>
                                <a:schemeClr val="tx1"/>
                              </a:solidFill>
                              <a:latin typeface="Cambria Math" panose="02040503050406030204" pitchFamily="18" charset="0"/>
                              <a:ea typeface="+mn-ea"/>
                              <a:cs typeface="+mn-cs"/>
                            </a:rPr>
                            <m:t>𝑡</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h𝑖</m:t>
                          </m:r>
                          <m:r>
                            <m:rPr>
                              <m:nor/>
                            </m:rPr>
                            <a:rPr lang="vi-VN" sz="1200" b="0" i="1" kern="1200">
                              <a:solidFill>
                                <a:schemeClr val="tx1"/>
                              </a:solidFill>
                              <a:latin typeface="+mn-lt"/>
                              <a:ea typeface="+mn-ea"/>
                              <a:cs typeface="+mn-cs"/>
                            </a:rPr>
                            <m:t>ệ</m:t>
                          </m:r>
                          <m:r>
                            <a:rPr lang="vi-VN" sz="1200" b="0" i="1" kern="1200">
                              <a:solidFill>
                                <a:schemeClr val="tx1"/>
                              </a:solidFill>
                              <a:latin typeface="Cambria Math" panose="02040503050406030204" pitchFamily="18" charset="0"/>
                              <a:ea typeface="+mn-ea"/>
                              <a:cs typeface="+mn-cs"/>
                            </a:rPr>
                            <m:t>𝑛</m:t>
                          </m:r>
                        </m:num>
                        <m:den>
                          <m:r>
                            <a:rPr lang="vi-VN" sz="1200" b="0" i="1" kern="1200">
                              <a:solidFill>
                                <a:schemeClr val="tx1"/>
                              </a:solidFill>
                              <a:latin typeface="Cambria Math" panose="02040503050406030204" pitchFamily="18" charset="0"/>
                              <a:ea typeface="+mn-ea"/>
                              <a:cs typeface="+mn-cs"/>
                            </a:rPr>
                            <m:t>𝑡</m:t>
                          </m:r>
                          <m:r>
                            <m:rPr>
                              <m:nor/>
                            </m:rPr>
                            <a:rPr lang="vi-VN" sz="1200" b="0" i="1" kern="1200">
                              <a:solidFill>
                                <a:schemeClr val="tx1"/>
                              </a:solidFill>
                              <a:latin typeface="+mn-lt"/>
                              <a:ea typeface="+mn-ea"/>
                              <a:cs typeface="+mn-cs"/>
                            </a:rPr>
                            <m:t>ổ</m:t>
                          </m:r>
                          <m:r>
                            <a:rPr lang="vi-VN" sz="1200" b="0" i="1" kern="1200">
                              <a:solidFill>
                                <a:schemeClr val="tx1"/>
                              </a:solidFill>
                              <a:latin typeface="Cambria Math" panose="02040503050406030204" pitchFamily="18" charset="0"/>
                              <a:ea typeface="+mn-ea"/>
                              <a:cs typeface="+mn-cs"/>
                            </a:rPr>
                            <m:t>𝑛𝑔</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𝑠</m:t>
                          </m:r>
                          <m:limUpp>
                            <m:limUppPr>
                              <m:ctrlPr>
                                <a:rPr lang="vi-VN" sz="1200" b="0" i="1" kern="1200">
                                  <a:solidFill>
                                    <a:schemeClr val="tx1"/>
                                  </a:solidFill>
                                  <a:latin typeface="Cambria Math" panose="02040503050406030204" pitchFamily="18" charset="0"/>
                                  <a:ea typeface="+mn-ea"/>
                                  <a:cs typeface="+mn-cs"/>
                                </a:rPr>
                              </m:ctrlPr>
                            </m:limUppPr>
                            <m:e>
                              <m:acc>
                                <m:accPr>
                                  <m:chr m:val="̂"/>
                                  <m:ctrlPr>
                                    <a:rPr lang="vi-VN" sz="1200" b="0" i="1" kern="1200">
                                      <a:solidFill>
                                        <a:schemeClr val="tx1"/>
                                      </a:solidFill>
                                      <a:latin typeface="Cambria Math" panose="02040503050406030204" pitchFamily="18" charset="0"/>
                                      <a:ea typeface="+mn-ea"/>
                                      <a:cs typeface="+mn-cs"/>
                                    </a:rPr>
                                  </m:ctrlPr>
                                </m:accPr>
                                <m:e>
                                  <m:r>
                                    <a:rPr lang="vi-VN" sz="1200" b="0" i="1" kern="1200">
                                      <a:solidFill>
                                        <a:schemeClr val="tx1"/>
                                      </a:solidFill>
                                      <a:latin typeface="Cambria Math" panose="02040503050406030204" pitchFamily="18" charset="0"/>
                                      <a:ea typeface="+mn-ea"/>
                                      <a:cs typeface="+mn-cs"/>
                                    </a:rPr>
                                    <m:t>𝑜</m:t>
                                  </m:r>
                                </m:e>
                              </m:acc>
                            </m:e>
                            <m:lim>
                              <m:r>
                                <a:rPr lang="vi-VN" sz="1200" b="0" i="0" kern="1200">
                                  <a:solidFill>
                                    <a:schemeClr val="tx1"/>
                                  </a:solidFill>
                                  <a:latin typeface="Cambria Math" panose="02040503050406030204" pitchFamily="18" charset="0"/>
                                  <a:ea typeface="+mn-ea"/>
                                  <a:cs typeface="+mn-cs"/>
                                </a:rPr>
                                <m:t>ˊ</m:t>
                              </m:r>
                            </m:lim>
                          </m:limUpp>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𝑛𝑔</m:t>
                          </m:r>
                          <m:r>
                            <m:rPr>
                              <m:nor/>
                            </m:rPr>
                            <a:rPr lang="vi-VN" sz="1200" b="0" i="1" kern="1200">
                              <a:solidFill>
                                <a:schemeClr val="tx1"/>
                              </a:solidFill>
                              <a:latin typeface="+mn-lt"/>
                              <a:ea typeface="+mn-ea"/>
                              <a:cs typeface="+mn-cs"/>
                            </a:rPr>
                            <m:t>ườ</m:t>
                          </m:r>
                          <m:r>
                            <a:rPr lang="vi-VN" sz="1200" b="0" i="1" kern="1200">
                              <a:solidFill>
                                <a:schemeClr val="tx1"/>
                              </a:solidFill>
                              <a:latin typeface="Cambria Math" panose="02040503050406030204" pitchFamily="18" charset="0"/>
                              <a:ea typeface="+mn-ea"/>
                              <a:cs typeface="+mn-cs"/>
                            </a:rPr>
                            <m:t>𝑖</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𝑏</m:t>
                          </m:r>
                          <m:r>
                            <m:rPr>
                              <m:nor/>
                            </m:rPr>
                            <a:rPr lang="vi-VN" sz="1200" b="0" i="1" kern="1200">
                              <a:solidFill>
                                <a:schemeClr val="tx1"/>
                              </a:solidFill>
                              <a:latin typeface="+mn-lt"/>
                              <a:ea typeface="+mn-ea"/>
                              <a:cs typeface="+mn-cs"/>
                            </a:rPr>
                            <m:t>ệ</m:t>
                          </m:r>
                          <m:r>
                            <a:rPr lang="vi-VN" sz="1200" b="0" i="1" kern="1200">
                              <a:solidFill>
                                <a:schemeClr val="tx1"/>
                              </a:solidFill>
                              <a:latin typeface="Cambria Math" panose="02040503050406030204" pitchFamily="18" charset="0"/>
                              <a:ea typeface="+mn-ea"/>
                              <a:cs typeface="+mn-cs"/>
                            </a:rPr>
                            <m:t>𝑛h</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𝑡h</m:t>
                          </m:r>
                          <m:r>
                            <m:rPr>
                              <m:nor/>
                            </m:rPr>
                            <a:rPr lang="vi-VN" sz="1200" b="0" i="1" kern="1200">
                              <a:solidFill>
                                <a:schemeClr val="tx1"/>
                              </a:solidFill>
                              <a:latin typeface="+mn-lt"/>
                              <a:ea typeface="+mn-ea"/>
                              <a:cs typeface="+mn-cs"/>
                            </a:rPr>
                            <m:t>ự</m:t>
                          </m:r>
                          <m:r>
                            <a:rPr lang="vi-VN" sz="1200" b="0" i="1" kern="1200">
                              <a:solidFill>
                                <a:schemeClr val="tx1"/>
                              </a:solidFill>
                              <a:latin typeface="Cambria Math" panose="02040503050406030204" pitchFamily="18" charset="0"/>
                              <a:ea typeface="+mn-ea"/>
                              <a:cs typeface="+mn-cs"/>
                            </a:rPr>
                            <m:t>𝑐</m:t>
                          </m:r>
                          <m:r>
                            <m:rPr>
                              <m:nor/>
                            </m:rPr>
                            <a:rPr lang="vi-VN" sz="1200" b="0" i="1" kern="1200">
                              <a:solidFill>
                                <a:schemeClr val="tx1"/>
                              </a:solidFill>
                              <a:latin typeface="+mn-lt"/>
                              <a:ea typeface="+mn-ea"/>
                              <a:cs typeface="+mn-cs"/>
                            </a:rPr>
                            <m:t> </m:t>
                          </m:r>
                          <m:r>
                            <a:rPr lang="vi-VN" sz="1200" b="0" i="1" kern="1200">
                              <a:solidFill>
                                <a:schemeClr val="tx1"/>
                              </a:solidFill>
                              <a:latin typeface="Cambria Math" panose="02040503050406030204" pitchFamily="18" charset="0"/>
                              <a:ea typeface="+mn-ea"/>
                              <a:cs typeface="+mn-cs"/>
                            </a:rPr>
                            <m:t>𝑠</m:t>
                          </m:r>
                          <m:r>
                            <m:rPr>
                              <m:nor/>
                            </m:rPr>
                            <a:rPr lang="vi-VN" sz="1200" b="0" i="1" kern="1200">
                              <a:solidFill>
                                <a:schemeClr val="tx1"/>
                              </a:solidFill>
                              <a:latin typeface="+mn-lt"/>
                              <a:ea typeface="+mn-ea"/>
                              <a:cs typeface="+mn-cs"/>
                            </a:rPr>
                            <m:t>ự</m:t>
                          </m:r>
                        </m:den>
                      </m:f>
                    </m:oMath>
                  </m:oMathPara>
                </a14:m>
                <a:endParaRPr lang="vi-VN" b="0" dirty="0"/>
              </a:p>
              <a:p>
                <a:r>
                  <a:rPr lang="vi-VN" dirty="0"/>
                  <a:t>Đây là chỉ số </a:t>
                </a:r>
                <a:r>
                  <a:rPr lang="vi-VN" b="1" dirty="0"/>
                  <a:t>quan trọng nhất trong y tế</a:t>
                </a:r>
                <a:r>
                  <a:rPr lang="vi-VN" dirty="0"/>
                  <a:t>, vì:</a:t>
                </a:r>
              </a:p>
              <a:p>
                <a:r>
                  <a:rPr lang="vi-VN" dirty="0"/>
                  <a:t>Nếu Recall thấp → mô hình </a:t>
                </a:r>
                <a:r>
                  <a:rPr lang="vi-VN" b="1" dirty="0"/>
                  <a:t>bỏ sót bệnh nhân</a:t>
                </a:r>
                <a:r>
                  <a:rPr lang="vi-VN" dirty="0"/>
                  <a:t>.</a:t>
                </a:r>
              </a:p>
              <a:p>
                <a:r>
                  <a:rPr lang="vi-VN" dirty="0"/>
                  <a:t>FN (bỏ sót bệnh) là lỗi nguy hiểm nhất.</a:t>
                </a:r>
              </a:p>
              <a:p>
                <a:r>
                  <a:rPr lang="vi-VN" dirty="0"/>
                  <a:t>Ví dụ:</a:t>
                </a:r>
              </a:p>
              <a:p>
                <a:r>
                  <a:rPr lang="vi-VN" dirty="0"/>
                  <a:t>Recall = 0.75 → mô hình tìm được 75/100 người bệnh thật.</a:t>
                </a:r>
              </a:p>
              <a:p>
                <a:br>
                  <a:rPr lang="vi-VN" dirty="0"/>
                </a:br>
                <a:endParaRPr lang="vi-VN" dirty="0"/>
              </a:p>
              <a:p>
                <a:r>
                  <a:rPr lang="en-US" b="1" dirty="0"/>
                  <a:t>🔵 </a:t>
                </a:r>
                <a:r>
                  <a:rPr lang="vi-VN" b="1" dirty="0"/>
                  <a:t>F1-score – cân bằng Precision và Recall</a:t>
                </a:r>
              </a:p>
              <a:p>
                <a:pPr/>
                <a14:m>
                  <m:oMathPara xmlns:m="http://schemas.openxmlformats.org/officeDocument/2006/math">
                    <m:oMathParaPr>
                      <m:jc m:val="centerGroup"/>
                    </m:oMathParaPr>
                    <m:oMath xmlns:m="http://schemas.openxmlformats.org/officeDocument/2006/math">
                      <m:r>
                        <a:rPr lang="vi-VN" sz="1200" i="1" kern="1200">
                          <a:solidFill>
                            <a:schemeClr val="tx1"/>
                          </a:solidFill>
                          <a:latin typeface="Cambria Math" panose="02040503050406030204" pitchFamily="18" charset="0"/>
                          <a:ea typeface="+mn-ea"/>
                          <a:cs typeface="+mn-cs"/>
                        </a:rPr>
                        <m:t>𝐹</m:t>
                      </m:r>
                      <m:r>
                        <a:rPr lang="vi-VN" sz="1200" i="0" kern="1200">
                          <a:solidFill>
                            <a:schemeClr val="tx1"/>
                          </a:solidFill>
                          <a:latin typeface="Cambria Math" panose="02040503050406030204" pitchFamily="18" charset="0"/>
                          <a:ea typeface="+mn-ea"/>
                          <a:cs typeface="+mn-cs"/>
                        </a:rPr>
                        <m:t>1=2⋅</m:t>
                      </m:r>
                      <m:f>
                        <m:fPr>
                          <m:ctrlPr>
                            <a:rPr lang="vi-VN" sz="1200" i="1" kern="1200">
                              <a:solidFill>
                                <a:schemeClr val="tx1"/>
                              </a:solidFill>
                              <a:latin typeface="Cambria Math" panose="02040503050406030204" pitchFamily="18" charset="0"/>
                              <a:ea typeface="+mn-ea"/>
                              <a:cs typeface="+mn-cs"/>
                            </a:rPr>
                          </m:ctrlPr>
                        </m:fPr>
                        <m:num>
                          <m:r>
                            <a:rPr lang="vi-VN" sz="1200" i="1" kern="1200">
                              <a:solidFill>
                                <a:schemeClr val="tx1"/>
                              </a:solidFill>
                              <a:latin typeface="Cambria Math" panose="02040503050406030204" pitchFamily="18" charset="0"/>
                              <a:ea typeface="+mn-ea"/>
                              <a:cs typeface="+mn-cs"/>
                            </a:rPr>
                            <m:t>𝑃𝑟𝑒𝑐𝑖𝑠𝑖𝑜𝑛</m:t>
                          </m:r>
                          <m:r>
                            <a:rPr lang="vi-VN" sz="1200" i="0" kern="1200">
                              <a:solidFill>
                                <a:schemeClr val="tx1"/>
                              </a:solidFill>
                              <a:latin typeface="Cambria Math" panose="02040503050406030204" pitchFamily="18" charset="0"/>
                              <a:ea typeface="+mn-ea"/>
                              <a:cs typeface="+mn-cs"/>
                            </a:rPr>
                            <m:t>⋅</m:t>
                          </m:r>
                          <m:r>
                            <a:rPr lang="vi-VN" sz="1200" i="1" kern="1200">
                              <a:solidFill>
                                <a:schemeClr val="tx1"/>
                              </a:solidFill>
                              <a:latin typeface="Cambria Math" panose="02040503050406030204" pitchFamily="18" charset="0"/>
                              <a:ea typeface="+mn-ea"/>
                              <a:cs typeface="+mn-cs"/>
                            </a:rPr>
                            <m:t>𝑅𝑒𝑐𝑎𝑙𝑙</m:t>
                          </m:r>
                        </m:num>
                        <m:den>
                          <m:r>
                            <a:rPr lang="vi-VN" sz="1200" i="1" kern="1200">
                              <a:solidFill>
                                <a:schemeClr val="tx1"/>
                              </a:solidFill>
                              <a:latin typeface="Cambria Math" panose="02040503050406030204" pitchFamily="18" charset="0"/>
                              <a:ea typeface="+mn-ea"/>
                              <a:cs typeface="+mn-cs"/>
                            </a:rPr>
                            <m:t>𝑃𝑟𝑒𝑐𝑖𝑠𝑖𝑜𝑛</m:t>
                          </m:r>
                          <m:r>
                            <a:rPr lang="vi-VN" sz="1200" i="0" kern="1200">
                              <a:solidFill>
                                <a:schemeClr val="tx1"/>
                              </a:solidFill>
                              <a:latin typeface="Cambria Math" panose="02040503050406030204" pitchFamily="18" charset="0"/>
                              <a:ea typeface="+mn-ea"/>
                              <a:cs typeface="+mn-cs"/>
                            </a:rPr>
                            <m:t>+</m:t>
                          </m:r>
                          <m:r>
                            <a:rPr lang="vi-VN" sz="1200" i="1" kern="1200">
                              <a:solidFill>
                                <a:schemeClr val="tx1"/>
                              </a:solidFill>
                              <a:latin typeface="Cambria Math" panose="02040503050406030204" pitchFamily="18" charset="0"/>
                              <a:ea typeface="+mn-ea"/>
                              <a:cs typeface="+mn-cs"/>
                            </a:rPr>
                            <m:t>𝑅𝑒𝑐𝑎𝑙𝑙</m:t>
                          </m:r>
                        </m:den>
                      </m:f>
                    </m:oMath>
                  </m:oMathPara>
                </a14:m>
                <a:endParaRPr lang="vi-VN" dirty="0"/>
              </a:p>
              <a:p>
                <a:r>
                  <a:rPr lang="vi-VN" dirty="0"/>
                  <a:t>F1 dùng khi:</a:t>
                </a:r>
              </a:p>
              <a:p>
                <a:r>
                  <a:rPr lang="vi-VN" dirty="0"/>
                  <a:t>Precision và Recall đều quan trọng.</a:t>
                </a:r>
              </a:p>
              <a:p>
                <a:r>
                  <a:rPr lang="vi-VN" dirty="0"/>
                  <a:t>Dữ liệu lệch (bệnh ít hơn không bệnh).</a:t>
                </a:r>
              </a:p>
              <a:p>
                <a:r>
                  <a:rPr lang="vi-VN" dirty="0"/>
                  <a:t>Ý nghĩa thực tế:</a:t>
                </a:r>
              </a:p>
              <a:p>
                <a:r>
                  <a:rPr lang="vi-VN"/>
                  <a:t>F1 càng cao → mô hình càng cân bằng và đáng tin hơn trong y tế.</a:t>
                </a:r>
              </a:p>
              <a:p>
                <a:endParaRPr lang="en-US" dirty="0"/>
              </a:p>
            </p:txBody>
          </p:sp>
        </mc:Choice>
        <mc:Fallback xmlns="">
          <p:sp>
            <p:nvSpPr>
              <p:cNvPr id="3" name="Notes Placeholder 2"/>
              <p:cNvSpPr>
                <a:spLocks noGrp="1"/>
              </p:cNvSpPr>
              <p:nvPr>
                <p:ph type="body" idx="1"/>
              </p:nvPr>
            </p:nvSpPr>
            <p:spPr/>
            <p:txBody>
              <a:bodyPr/>
              <a:lstStyle/>
              <a:p>
                <a:r>
                  <a:rPr lang="vi-VN" b="1" dirty="0"/>
                  <a:t>Accuracy – độ chính xác chung</a:t>
                </a:r>
              </a:p>
              <a:p>
                <a:r>
                  <a:rPr lang="vi-VN" sz="1200" i="0" kern="1200">
                    <a:solidFill>
                      <a:schemeClr val="tx1"/>
                    </a:solidFill>
                    <a:latin typeface="+mn-lt"/>
                    <a:ea typeface="+mn-ea"/>
                    <a:cs typeface="+mn-cs"/>
                  </a:rPr>
                  <a:t>𝐴𝑐𝑐𝑢𝑟𝑎𝑐𝑦=(𝑑</a:t>
                </a:r>
                <a:r>
                  <a:rPr lang="vi-VN" sz="1200" b="0" i="0" kern="1200">
                    <a:solidFill>
                      <a:schemeClr val="tx1"/>
                    </a:solidFill>
                    <a:latin typeface="+mn-lt"/>
                    <a:ea typeface="+mn-ea"/>
                    <a:cs typeface="+mn-cs"/>
                  </a:rPr>
                  <a:t>"ự đ" 𝑜 𝑎┴ˊ 𝑛" đ"  𝑢┴ˊ 𝑛𝑔)/(𝑡"ổ" 𝑛𝑔" " 𝑠 𝑜 ̂┴ˊ " " 𝑚𝑎 ̂  ̃𝑢)</a:t>
                </a:r>
                <a:endParaRPr lang="vi-VN" b="0" dirty="0"/>
              </a:p>
              <a:p>
                <a:r>
                  <a:rPr lang="vi-VN" dirty="0"/>
                  <a:t>Ý nghĩa trong đề tài:</a:t>
                </a:r>
              </a:p>
              <a:p>
                <a:r>
                  <a:rPr lang="vi-VN" dirty="0"/>
                  <a:t>Bạn xem mô hình tổng thể dự đoán đúng bao nhiêu %.</a:t>
                </a:r>
              </a:p>
              <a:p>
                <a:r>
                  <a:rPr lang="vi-VN" dirty="0"/>
                  <a:t>Ví dụ Accuracy = 75% → 100 người thì mô hình đoán đúng 75 người.</a:t>
                </a:r>
              </a:p>
              <a:p>
                <a:r>
                  <a:rPr lang="vi-VN" dirty="0"/>
                  <a:t>Nhưng </a:t>
                </a:r>
                <a:r>
                  <a:rPr lang="vi-VN" b="1" dirty="0"/>
                  <a:t>accuracy không đủ</a:t>
                </a:r>
                <a:r>
                  <a:rPr lang="vi-VN" dirty="0"/>
                  <a:t>, vì nếu dữ liệu lệch (không bệnh nhiều hơn bệnh), mô hình dễ dự đoán tất cả là “không bệnh” vẫn được accuracy cao → nguy hiểm.</a:t>
                </a:r>
              </a:p>
              <a:p>
                <a:br>
                  <a:rPr lang="vi-VN" dirty="0"/>
                </a:br>
                <a:endParaRPr lang="vi-VN" dirty="0"/>
              </a:p>
              <a:p>
                <a:r>
                  <a:rPr lang="en-US" b="1" dirty="0"/>
                  <a:t>🔵 </a:t>
                </a:r>
                <a:r>
                  <a:rPr lang="vi-VN" b="1" dirty="0"/>
                  <a:t>Precision – dự đoán "có bệnh" chính xác thế nào</a:t>
                </a:r>
              </a:p>
              <a:p>
                <a:r>
                  <a:rPr lang="vi-VN" sz="1200" i="0" kern="1200">
                    <a:solidFill>
                      <a:schemeClr val="tx1"/>
                    </a:solidFill>
                    <a:latin typeface="+mn-lt"/>
                    <a:ea typeface="+mn-ea"/>
                    <a:cs typeface="+mn-cs"/>
                  </a:rPr>
                  <a:t>𝑃𝑟𝑒𝑐𝑖𝑠𝑖𝑜𝑛=(𝑠 𝑜 ̂┴ˊ</a:t>
                </a:r>
                <a:r>
                  <a:rPr lang="vi-VN" sz="1200" b="0" i="0" kern="1200">
                    <a:solidFill>
                      <a:schemeClr val="tx1"/>
                    </a:solidFill>
                    <a:latin typeface="+mn-lt"/>
                    <a:ea typeface="+mn-ea"/>
                    <a:cs typeface="+mn-cs"/>
                  </a:rPr>
                  <a:t> " " 𝑛𝑔"ườ" 𝑖" đượ" 𝑐" " 𝑑"ự đ" 𝑜 𝑎┴ˊ 𝑛" đ"  𝑢┴ˊ 𝑛𝑔" " 𝑙 𝑎┴ˋ " " 𝑐 𝑜┴ˊ " " 𝑏"ệ" 𝑛ℎ)/(𝑡"ổ" 𝑛𝑔" " 𝑠 𝑜 ̂┴ˊ " " 𝑛𝑔"ườ" 𝑖" " 𝑚𝑜 ̂" " ℎ ı┴ˋ 𝑛ℎ" " 𝑑"ự đ" 𝑜 𝑎┴ˊ 𝑛" " 𝑐 𝑜┴ˊ " " 𝑏"ệ" 𝑛ℎ)</a:t>
                </a:r>
                <a:endParaRPr lang="vi-VN" b="0" dirty="0"/>
              </a:p>
              <a:p>
                <a:r>
                  <a:rPr lang="vi-VN" dirty="0"/>
                  <a:t>Ý nghĩa thực tế:</a:t>
                </a:r>
              </a:p>
              <a:p>
                <a:r>
                  <a:rPr lang="vi-VN" dirty="0"/>
                  <a:t>Trong tất cả những người mô hình báo “có bệnh”, bao nhiêu người thật sự mắc?</a:t>
                </a:r>
              </a:p>
              <a:p>
                <a:r>
                  <a:rPr lang="vi-VN" dirty="0"/>
                  <a:t>Precision cao → mô hình ít </a:t>
                </a:r>
                <a:r>
                  <a:rPr lang="vi-VN" b="1" dirty="0"/>
                  <a:t>báo nhầm người khỏe thành người bệnh</a:t>
                </a:r>
                <a:r>
                  <a:rPr lang="vi-VN" dirty="0"/>
                  <a:t>.</a:t>
                </a:r>
              </a:p>
              <a:p>
                <a:r>
                  <a:rPr lang="vi-VN" dirty="0"/>
                  <a:t>Ví dụ:</a:t>
                </a:r>
              </a:p>
              <a:p>
                <a:r>
                  <a:rPr lang="vi-VN" dirty="0"/>
                  <a:t>Precision = 0.65 → cứ 10 người bị dự đoán có bệnh thì 6.5 người thực sự có bệnh.</a:t>
                </a:r>
              </a:p>
              <a:p>
                <a:br>
                  <a:rPr lang="vi-VN" dirty="0"/>
                </a:br>
                <a:endParaRPr lang="vi-VN" dirty="0"/>
              </a:p>
              <a:p>
                <a:r>
                  <a:rPr lang="en-US" b="1" dirty="0"/>
                  <a:t>🔵 </a:t>
                </a:r>
                <a:r>
                  <a:rPr lang="vi-VN" b="1" dirty="0"/>
                  <a:t>Recall – mô hình tìm được bao nhiêu người bệnh thật</a:t>
                </a:r>
              </a:p>
              <a:p>
                <a:r>
                  <a:rPr lang="vi-VN" sz="1200" i="0" kern="1200">
                    <a:solidFill>
                      <a:schemeClr val="tx1"/>
                    </a:solidFill>
                    <a:latin typeface="+mn-lt"/>
                    <a:ea typeface="+mn-ea"/>
                    <a:cs typeface="+mn-cs"/>
                  </a:rPr>
                  <a:t>𝑅𝑒𝑐𝑎𝑙𝑙=(𝑠 𝑜 ̂┴ˊ</a:t>
                </a:r>
                <a:r>
                  <a:rPr lang="vi-VN" sz="1200" b="0" i="0" kern="1200">
                    <a:solidFill>
                      <a:schemeClr val="tx1"/>
                    </a:solidFill>
                    <a:latin typeface="+mn-lt"/>
                    <a:ea typeface="+mn-ea"/>
                    <a:cs typeface="+mn-cs"/>
                  </a:rPr>
                  <a:t> " " 𝑛𝑔"ườ" 𝑖" " 𝑏"ệ" 𝑛ℎ" đượ" 𝑐" " 𝑝ℎ 𝑎┴ˊ 𝑡" " ℎ𝑖"ệ" 𝑛)/(𝑡"ổ" 𝑛𝑔" " 𝑠 𝑜 ̂┴ˊ " " 𝑛𝑔"ườ" 𝑖" " 𝑏"ệ" 𝑛ℎ" " 𝑡ℎ"ự" 𝑐" " 𝑠"ự" )</a:t>
                </a:r>
                <a:endParaRPr lang="vi-VN" b="0" dirty="0"/>
              </a:p>
              <a:p>
                <a:r>
                  <a:rPr lang="vi-VN" dirty="0"/>
                  <a:t>Đây là chỉ số </a:t>
                </a:r>
                <a:r>
                  <a:rPr lang="vi-VN" b="1" dirty="0"/>
                  <a:t>quan trọng nhất trong y tế</a:t>
                </a:r>
                <a:r>
                  <a:rPr lang="vi-VN" dirty="0"/>
                  <a:t>, vì:</a:t>
                </a:r>
              </a:p>
              <a:p>
                <a:r>
                  <a:rPr lang="vi-VN" dirty="0"/>
                  <a:t>Nếu Recall thấp → mô hình </a:t>
                </a:r>
                <a:r>
                  <a:rPr lang="vi-VN" b="1" dirty="0"/>
                  <a:t>bỏ sót bệnh nhân</a:t>
                </a:r>
                <a:r>
                  <a:rPr lang="vi-VN" dirty="0"/>
                  <a:t>.</a:t>
                </a:r>
              </a:p>
              <a:p>
                <a:r>
                  <a:rPr lang="vi-VN" dirty="0"/>
                  <a:t>FN (bỏ sót bệnh) là lỗi nguy hiểm nhất.</a:t>
                </a:r>
              </a:p>
              <a:p>
                <a:r>
                  <a:rPr lang="vi-VN" dirty="0"/>
                  <a:t>Ví dụ:</a:t>
                </a:r>
              </a:p>
              <a:p>
                <a:r>
                  <a:rPr lang="vi-VN" dirty="0"/>
                  <a:t>Recall = 0.75 → mô hình tìm được 75/100 người bệnh thật.</a:t>
                </a:r>
              </a:p>
              <a:p>
                <a:br>
                  <a:rPr lang="vi-VN" dirty="0"/>
                </a:br>
                <a:endParaRPr lang="vi-VN" dirty="0"/>
              </a:p>
              <a:p>
                <a:r>
                  <a:rPr lang="en-US" b="1" dirty="0"/>
                  <a:t>🔵 </a:t>
                </a:r>
                <a:r>
                  <a:rPr lang="vi-VN" b="1" dirty="0"/>
                  <a:t>F1-score – cân bằng Precision và Recall</a:t>
                </a:r>
              </a:p>
              <a:p>
                <a:r>
                  <a:rPr lang="vi-VN" sz="1200" i="0" kern="1200">
                    <a:solidFill>
                      <a:schemeClr val="tx1"/>
                    </a:solidFill>
                    <a:latin typeface="+mn-lt"/>
                    <a:ea typeface="+mn-ea"/>
                    <a:cs typeface="+mn-cs"/>
                  </a:rPr>
                  <a:t>𝐹1=2⋅(𝑃𝑟𝑒𝑐𝑖𝑠𝑖𝑜𝑛⋅𝑅𝑒𝑐𝑎𝑙𝑙)/(𝑃𝑟𝑒𝑐𝑖𝑠𝑖𝑜𝑛+𝑅𝑒𝑐𝑎𝑙𝑙)</a:t>
                </a:r>
                <a:endParaRPr lang="vi-VN" dirty="0"/>
              </a:p>
              <a:p>
                <a:r>
                  <a:rPr lang="vi-VN" dirty="0"/>
                  <a:t>F1 dùng khi:</a:t>
                </a:r>
              </a:p>
              <a:p>
                <a:r>
                  <a:rPr lang="vi-VN" dirty="0"/>
                  <a:t>Precision và Recall đều quan trọng.</a:t>
                </a:r>
              </a:p>
              <a:p>
                <a:r>
                  <a:rPr lang="vi-VN" dirty="0"/>
                  <a:t>Dữ liệu lệch (bệnh ít hơn không bệnh).</a:t>
                </a:r>
              </a:p>
              <a:p>
                <a:r>
                  <a:rPr lang="vi-VN" dirty="0"/>
                  <a:t>Ý nghĩa thực tế:</a:t>
                </a:r>
              </a:p>
              <a:p>
                <a:r>
                  <a:rPr lang="vi-VN"/>
                  <a:t>F1 càng cao → mô hình càng cân bằng và đáng tin hơn trong y tế.</a:t>
                </a:r>
              </a:p>
              <a:p>
                <a:endParaRPr lang="en-US" dirty="0"/>
              </a:p>
            </p:txBody>
          </p:sp>
        </mc:Fallback>
      </mc:AlternateContent>
      <p:sp>
        <p:nvSpPr>
          <p:cNvPr id="4" name="Slide Number Placeholder 3"/>
          <p:cNvSpPr>
            <a:spLocks noGrp="1"/>
          </p:cNvSpPr>
          <p:nvPr>
            <p:ph type="sldNum" sz="quarter" idx="5"/>
          </p:nvPr>
        </p:nvSpPr>
        <p:spPr/>
        <p:txBody>
          <a:bodyPr/>
          <a:lstStyle/>
          <a:p>
            <a:fld id="{A13EC248-DF91-43A7-A2A6-1EF8348B15F3}" type="slidenum">
              <a:rPr lang="en-US" smtClean="0"/>
              <a:t>18</a:t>
            </a:fld>
            <a:endParaRPr lang="en-US"/>
          </a:p>
        </p:txBody>
      </p:sp>
    </p:spTree>
    <p:extLst>
      <p:ext uri="{BB962C8B-B14F-4D97-AF65-F5344CB8AC3E}">
        <p14:creationId xmlns:p14="http://schemas.microsoft.com/office/powerpoint/2010/main" val="2364140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0.sv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06841" y="-144637"/>
            <a:ext cx="10786223" cy="10576274"/>
            <a:chOff x="0" y="0"/>
            <a:chExt cx="14381630" cy="14101698"/>
          </a:xfrm>
        </p:grpSpPr>
        <p:sp>
          <p:nvSpPr>
            <p:cNvPr id="3" name="Freeform 3"/>
            <p:cNvSpPr/>
            <p:nvPr/>
          </p:nvSpPr>
          <p:spPr>
            <a:xfrm>
              <a:off x="0" y="7042815"/>
              <a:ext cx="12363028" cy="7058883"/>
            </a:xfrm>
            <a:custGeom>
              <a:avLst/>
              <a:gdLst/>
              <a:ahLst/>
              <a:cxnLst/>
              <a:rect l="l" t="t" r="r" b="b"/>
              <a:pathLst>
                <a:path w="12363028" h="7058883">
                  <a:moveTo>
                    <a:pt x="0" y="0"/>
                  </a:moveTo>
                  <a:lnTo>
                    <a:pt x="12363028" y="0"/>
                  </a:lnTo>
                  <a:lnTo>
                    <a:pt x="12363028" y="7058883"/>
                  </a:lnTo>
                  <a:lnTo>
                    <a:pt x="0" y="7058883"/>
                  </a:lnTo>
                  <a:lnTo>
                    <a:pt x="0" y="0"/>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en-US"/>
            </a:p>
          </p:txBody>
        </p:sp>
        <p:sp>
          <p:nvSpPr>
            <p:cNvPr id="4" name="Freeform 4"/>
            <p:cNvSpPr/>
            <p:nvPr/>
          </p:nvSpPr>
          <p:spPr>
            <a:xfrm>
              <a:off x="2018602" y="0"/>
              <a:ext cx="12363028" cy="7058883"/>
            </a:xfrm>
            <a:custGeom>
              <a:avLst/>
              <a:gdLst/>
              <a:ahLst/>
              <a:cxnLst/>
              <a:rect l="l" t="t" r="r" b="b"/>
              <a:pathLst>
                <a:path w="12363028" h="7058883">
                  <a:moveTo>
                    <a:pt x="0" y="0"/>
                  </a:moveTo>
                  <a:lnTo>
                    <a:pt x="12363028" y="0"/>
                  </a:lnTo>
                  <a:lnTo>
                    <a:pt x="12363028" y="7058883"/>
                  </a:lnTo>
                  <a:lnTo>
                    <a:pt x="0" y="7058883"/>
                  </a:lnTo>
                  <a:lnTo>
                    <a:pt x="0" y="0"/>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en-US"/>
            </a:p>
          </p:txBody>
        </p:sp>
      </p:grpSp>
      <p:sp>
        <p:nvSpPr>
          <p:cNvPr id="5" name="AutoShape 5"/>
          <p:cNvSpPr/>
          <p:nvPr/>
        </p:nvSpPr>
        <p:spPr>
          <a:xfrm flipH="1">
            <a:off x="788269" y="7771636"/>
            <a:ext cx="10211441" cy="0"/>
          </a:xfrm>
          <a:prstGeom prst="line">
            <a:avLst/>
          </a:prstGeom>
          <a:ln w="28575" cap="rnd">
            <a:solidFill>
              <a:srgbClr val="86C7ED"/>
            </a:solidFill>
            <a:prstDash val="solid"/>
            <a:headEnd type="none" w="sm" len="sm"/>
            <a:tailEnd type="none" w="sm" len="sm"/>
          </a:ln>
        </p:spPr>
        <p:txBody>
          <a:bodyPr/>
          <a:lstStyle/>
          <a:p>
            <a:endParaRPr lang="en-US"/>
          </a:p>
        </p:txBody>
      </p:sp>
      <p:grpSp>
        <p:nvGrpSpPr>
          <p:cNvPr id="6" name="Group 6"/>
          <p:cNvGrpSpPr/>
          <p:nvPr/>
        </p:nvGrpSpPr>
        <p:grpSpPr>
          <a:xfrm>
            <a:off x="-9401127" y="8681862"/>
            <a:ext cx="15741700" cy="3210276"/>
            <a:chOff x="0" y="0"/>
            <a:chExt cx="26342280" cy="5372100"/>
          </a:xfrm>
        </p:grpSpPr>
        <p:sp>
          <p:nvSpPr>
            <p:cNvPr id="7" name="Freeform 7"/>
            <p:cNvSpPr/>
            <p:nvPr/>
          </p:nvSpPr>
          <p:spPr>
            <a:xfrm>
              <a:off x="0" y="0"/>
              <a:ext cx="26342280" cy="5372100"/>
            </a:xfrm>
            <a:custGeom>
              <a:avLst/>
              <a:gdLst/>
              <a:ahLst/>
              <a:cxnLst/>
              <a:rect l="l" t="t" r="r" b="b"/>
              <a:pathLst>
                <a:path w="26342280" h="5372100">
                  <a:moveTo>
                    <a:pt x="24791611" y="0"/>
                  </a:moveTo>
                  <a:lnTo>
                    <a:pt x="1550670" y="0"/>
                  </a:lnTo>
                  <a:lnTo>
                    <a:pt x="0" y="2686050"/>
                  </a:lnTo>
                  <a:lnTo>
                    <a:pt x="1550670" y="5372100"/>
                  </a:lnTo>
                  <a:lnTo>
                    <a:pt x="24791611" y="5372100"/>
                  </a:lnTo>
                  <a:lnTo>
                    <a:pt x="26342280" y="2686050"/>
                  </a:lnTo>
                  <a:lnTo>
                    <a:pt x="24791611" y="0"/>
                  </a:lnTo>
                  <a:close/>
                </a:path>
              </a:pathLst>
            </a:custGeom>
            <a:solidFill>
              <a:srgbClr val="A066CB"/>
            </a:solidFill>
          </p:spPr>
          <p:txBody>
            <a:bodyPr/>
            <a:lstStyle/>
            <a:p>
              <a:endParaRPr lang="en-US"/>
            </a:p>
          </p:txBody>
        </p:sp>
      </p:grpSp>
      <p:sp>
        <p:nvSpPr>
          <p:cNvPr id="8" name="Freeform 8"/>
          <p:cNvSpPr/>
          <p:nvPr/>
        </p:nvSpPr>
        <p:spPr>
          <a:xfrm>
            <a:off x="1028700" y="9198718"/>
            <a:ext cx="1000805" cy="571427"/>
          </a:xfrm>
          <a:custGeom>
            <a:avLst/>
            <a:gdLst/>
            <a:ahLst/>
            <a:cxnLst/>
            <a:rect l="l" t="t" r="r" b="b"/>
            <a:pathLst>
              <a:path w="1000805" h="571427">
                <a:moveTo>
                  <a:pt x="0" y="0"/>
                </a:moveTo>
                <a:lnTo>
                  <a:pt x="1000805" y="0"/>
                </a:lnTo>
                <a:lnTo>
                  <a:pt x="1000805" y="571427"/>
                </a:lnTo>
                <a:lnTo>
                  <a:pt x="0" y="571427"/>
                </a:lnTo>
                <a:lnTo>
                  <a:pt x="0" y="0"/>
                </a:lnTo>
                <a:close/>
              </a:path>
            </a:pathLst>
          </a:custGeom>
          <a:blipFill>
            <a:blip r:embed="rId5">
              <a:extLst>
                <a:ext uri="{96DAC541-7B7A-43D3-8B79-37D633B846F1}">
                  <asvg:svgBlip xmlns:asvg="http://schemas.microsoft.com/office/drawing/2016/SVG/main" r:embed="rId6"/>
                </a:ext>
              </a:extLst>
            </a:blip>
            <a:stretch>
              <a:fillRect t="-51576"/>
            </a:stretch>
          </a:blipFill>
        </p:spPr>
        <p:txBody>
          <a:bodyPr/>
          <a:lstStyle/>
          <a:p>
            <a:endParaRPr lang="en-US"/>
          </a:p>
        </p:txBody>
      </p:sp>
      <p:sp>
        <p:nvSpPr>
          <p:cNvPr id="9" name="TextBox 9"/>
          <p:cNvSpPr txBox="1"/>
          <p:nvPr/>
        </p:nvSpPr>
        <p:spPr>
          <a:xfrm>
            <a:off x="1028700" y="1867005"/>
            <a:ext cx="9035354" cy="1343787"/>
          </a:xfrm>
          <a:prstGeom prst="rect">
            <a:avLst/>
          </a:prstGeom>
        </p:spPr>
        <p:txBody>
          <a:bodyPr lIns="0" tIns="0" rIns="0" bIns="0" rtlCol="0" anchor="t">
            <a:spAutoFit/>
          </a:bodyPr>
          <a:lstStyle/>
          <a:p>
            <a:pPr algn="l">
              <a:lnSpc>
                <a:spcPts val="5334"/>
              </a:lnSpc>
            </a:pPr>
            <a:r>
              <a:rPr lang="en-US" sz="4200" b="1" spc="126">
                <a:solidFill>
                  <a:srgbClr val="1836B2"/>
                </a:solidFill>
                <a:latin typeface="Muli Bold"/>
                <a:ea typeface="Muli Bold"/>
                <a:cs typeface="Muli Bold"/>
                <a:sym typeface="Muli Bold"/>
              </a:rPr>
              <a:t>DỰ ĐOÁN NGUY CƠ MẮC BỆNH TIỂU ĐƯỜNG </a:t>
            </a:r>
          </a:p>
        </p:txBody>
      </p:sp>
      <p:sp>
        <p:nvSpPr>
          <p:cNvPr id="10" name="TextBox 10"/>
          <p:cNvSpPr txBox="1"/>
          <p:nvPr/>
        </p:nvSpPr>
        <p:spPr>
          <a:xfrm>
            <a:off x="1028700" y="6791153"/>
            <a:ext cx="12219339" cy="533400"/>
          </a:xfrm>
          <a:prstGeom prst="rect">
            <a:avLst/>
          </a:prstGeom>
        </p:spPr>
        <p:txBody>
          <a:bodyPr lIns="0" tIns="0" rIns="0" bIns="0" rtlCol="0" anchor="t">
            <a:spAutoFit/>
          </a:bodyPr>
          <a:lstStyle/>
          <a:p>
            <a:pPr algn="l">
              <a:lnSpc>
                <a:spcPts val="4200"/>
              </a:lnSpc>
            </a:pPr>
            <a:r>
              <a:rPr lang="en-US" sz="3500" b="1" spc="105">
                <a:solidFill>
                  <a:srgbClr val="A066CB"/>
                </a:solidFill>
                <a:latin typeface="Muli Ultra-Bold"/>
                <a:ea typeface="Muli Ultra-Bold"/>
                <a:cs typeface="Muli Ultra-Bold"/>
                <a:sym typeface="Muli Ultra-Bold"/>
              </a:rPr>
              <a:t>Nguyễn Trung Nguyên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487473" y="1536257"/>
            <a:ext cx="6979141" cy="1663065"/>
          </a:xfrm>
          <a:prstGeom prst="rect">
            <a:avLst/>
          </a:prstGeom>
        </p:spPr>
        <p:txBody>
          <a:bodyPr lIns="0" tIns="0" rIns="0" bIns="0" rtlCol="0" anchor="t">
            <a:spAutoFit/>
          </a:bodyPr>
          <a:lstStyle/>
          <a:p>
            <a:pPr algn="l">
              <a:lnSpc>
                <a:spcPts val="3359"/>
              </a:lnSpc>
            </a:pPr>
            <a:r>
              <a:rPr lang="en-US" sz="2400" spc="12">
                <a:solidFill>
                  <a:srgbClr val="000000"/>
                </a:solidFill>
                <a:latin typeface="Muli Light"/>
                <a:ea typeface="Muli Light"/>
                <a:cs typeface="Muli Light"/>
                <a:sym typeface="Muli Light"/>
              </a:rPr>
              <a:t>Tỷ lệ người mắc bệnh tiểu đường type 2 đang tăng nhanh chóng, đặc biệt ở các nước đang phát triển.</a:t>
            </a:r>
          </a:p>
          <a:p>
            <a:pPr algn="l">
              <a:lnSpc>
                <a:spcPts val="3359"/>
              </a:lnSpc>
            </a:pPr>
            <a:endParaRPr lang="en-US" sz="2400" spc="12">
              <a:solidFill>
                <a:srgbClr val="000000"/>
              </a:solidFill>
              <a:latin typeface="Muli Light"/>
              <a:ea typeface="Muli Light"/>
              <a:cs typeface="Muli Light"/>
              <a:sym typeface="Muli Light"/>
            </a:endParaRPr>
          </a:p>
        </p:txBody>
      </p:sp>
      <p:sp>
        <p:nvSpPr>
          <p:cNvPr id="3" name="TextBox 3"/>
          <p:cNvSpPr txBox="1"/>
          <p:nvPr/>
        </p:nvSpPr>
        <p:spPr>
          <a:xfrm>
            <a:off x="8984925" y="1028700"/>
            <a:ext cx="7631740" cy="952500"/>
          </a:xfrm>
          <a:prstGeom prst="rect">
            <a:avLst/>
          </a:prstGeom>
        </p:spPr>
        <p:txBody>
          <a:bodyPr lIns="0" tIns="0" rIns="0" bIns="0" rtlCol="0" anchor="t">
            <a:spAutoFit/>
          </a:bodyPr>
          <a:lstStyle/>
          <a:p>
            <a:pPr marL="604519" lvl="1" indent="-302260" algn="l">
              <a:lnSpc>
                <a:spcPts val="3359"/>
              </a:lnSpc>
              <a:buFont typeface="Arial"/>
              <a:buChar char="•"/>
            </a:pPr>
            <a:r>
              <a:rPr lang="en-US" sz="2799" b="1" spc="83">
                <a:solidFill>
                  <a:srgbClr val="1836B2"/>
                </a:solidFill>
                <a:latin typeface="Muli Ultra-Bold"/>
                <a:ea typeface="Muli Ultra-Bold"/>
                <a:cs typeface="Muli Ultra-Bold"/>
                <a:sym typeface="Muli Ultra-Bold"/>
              </a:rPr>
              <a:t>Bệnh tiểu đường ngày càng phổ biến:</a:t>
            </a:r>
          </a:p>
          <a:p>
            <a:pPr algn="l">
              <a:lnSpc>
                <a:spcPts val="4200"/>
              </a:lnSpc>
            </a:pPr>
            <a:endParaRPr lang="en-US" sz="2799" b="1" spc="83">
              <a:solidFill>
                <a:srgbClr val="1836B2"/>
              </a:solidFill>
              <a:latin typeface="Muli Ultra-Bold"/>
              <a:ea typeface="Muli Ultra-Bold"/>
              <a:cs typeface="Muli Ultra-Bold"/>
              <a:sym typeface="Muli Ultra-Bold"/>
            </a:endParaRPr>
          </a:p>
        </p:txBody>
      </p:sp>
      <p:sp>
        <p:nvSpPr>
          <p:cNvPr id="4" name="TextBox 4"/>
          <p:cNvSpPr txBox="1"/>
          <p:nvPr/>
        </p:nvSpPr>
        <p:spPr>
          <a:xfrm>
            <a:off x="9487473" y="4624402"/>
            <a:ext cx="6979141" cy="2135505"/>
          </a:xfrm>
          <a:prstGeom prst="rect">
            <a:avLst/>
          </a:prstGeom>
        </p:spPr>
        <p:txBody>
          <a:bodyPr lIns="0" tIns="0" rIns="0" bIns="0" rtlCol="0" anchor="t">
            <a:spAutoFit/>
          </a:bodyPr>
          <a:lstStyle/>
          <a:p>
            <a:pPr algn="l">
              <a:lnSpc>
                <a:spcPts val="3359"/>
              </a:lnSpc>
            </a:pPr>
            <a:r>
              <a:rPr lang="en-US" sz="2400" spc="12">
                <a:solidFill>
                  <a:srgbClr val="000000"/>
                </a:solidFill>
                <a:latin typeface="Muli Light"/>
                <a:ea typeface="Muli Light"/>
                <a:cs typeface="Muli Light"/>
                <a:sym typeface="Muli Light"/>
              </a:rPr>
              <a:t>Phát hiện và can thiệp kịp thời có thể giảm đáng kể nguy cơ phát triển các biến chứng nghiêm trọng như bệnh tim mạch, suy thận, hoặc mất thị lực.</a:t>
            </a:r>
          </a:p>
          <a:p>
            <a:pPr algn="l">
              <a:lnSpc>
                <a:spcPts val="3779"/>
              </a:lnSpc>
            </a:pPr>
            <a:endParaRPr lang="en-US" sz="2400" spc="12">
              <a:solidFill>
                <a:srgbClr val="000000"/>
              </a:solidFill>
              <a:latin typeface="Muli Light"/>
              <a:ea typeface="Muli Light"/>
              <a:cs typeface="Muli Light"/>
              <a:sym typeface="Muli Light"/>
            </a:endParaRPr>
          </a:p>
        </p:txBody>
      </p:sp>
      <p:sp>
        <p:nvSpPr>
          <p:cNvPr id="5" name="TextBox 5"/>
          <p:cNvSpPr txBox="1"/>
          <p:nvPr/>
        </p:nvSpPr>
        <p:spPr>
          <a:xfrm>
            <a:off x="8984925" y="3516505"/>
            <a:ext cx="6979141" cy="1371600"/>
          </a:xfrm>
          <a:prstGeom prst="rect">
            <a:avLst/>
          </a:prstGeom>
        </p:spPr>
        <p:txBody>
          <a:bodyPr lIns="0" tIns="0" rIns="0" bIns="0" rtlCol="0" anchor="t">
            <a:spAutoFit/>
          </a:bodyPr>
          <a:lstStyle/>
          <a:p>
            <a:pPr marL="604519" lvl="1" indent="-302260" algn="l">
              <a:lnSpc>
                <a:spcPts val="3359"/>
              </a:lnSpc>
              <a:buFont typeface="Arial"/>
              <a:buChar char="•"/>
            </a:pPr>
            <a:r>
              <a:rPr lang="en-US" sz="2799" b="1" spc="83">
                <a:solidFill>
                  <a:srgbClr val="1836B2"/>
                </a:solidFill>
                <a:latin typeface="Muli Ultra-Bold"/>
                <a:ea typeface="Muli Ultra-Bold"/>
                <a:cs typeface="Muli Ultra-Bold"/>
                <a:sym typeface="Muli Ultra-Bold"/>
              </a:rPr>
              <a:t>Chẩn đoán sớm giúp ngăn ngừa biến chứng:</a:t>
            </a:r>
          </a:p>
          <a:p>
            <a:pPr algn="l">
              <a:lnSpc>
                <a:spcPts val="4200"/>
              </a:lnSpc>
            </a:pPr>
            <a:endParaRPr lang="en-US" sz="2799" b="1" spc="83">
              <a:solidFill>
                <a:srgbClr val="1836B2"/>
              </a:solidFill>
              <a:latin typeface="Muli Ultra-Bold"/>
              <a:ea typeface="Muli Ultra-Bold"/>
              <a:cs typeface="Muli Ultra-Bold"/>
              <a:sym typeface="Muli Ultra-Bold"/>
            </a:endParaRPr>
          </a:p>
        </p:txBody>
      </p:sp>
      <p:sp>
        <p:nvSpPr>
          <p:cNvPr id="6" name="TextBox 6"/>
          <p:cNvSpPr txBox="1"/>
          <p:nvPr/>
        </p:nvSpPr>
        <p:spPr>
          <a:xfrm>
            <a:off x="9487473" y="8184986"/>
            <a:ext cx="7563045" cy="1716405"/>
          </a:xfrm>
          <a:prstGeom prst="rect">
            <a:avLst/>
          </a:prstGeom>
        </p:spPr>
        <p:txBody>
          <a:bodyPr lIns="0" tIns="0" rIns="0" bIns="0" rtlCol="0" anchor="t">
            <a:spAutoFit/>
          </a:bodyPr>
          <a:lstStyle/>
          <a:p>
            <a:pPr algn="l">
              <a:lnSpc>
                <a:spcPts val="3359"/>
              </a:lnSpc>
            </a:pPr>
            <a:r>
              <a:rPr lang="en-US" sz="2400" spc="12">
                <a:solidFill>
                  <a:srgbClr val="000000"/>
                </a:solidFill>
                <a:latin typeface="Muli Light"/>
                <a:ea typeface="Muli Light"/>
                <a:cs typeface="Muli Light"/>
                <a:sym typeface="Muli Light"/>
              </a:rPr>
              <a:t>Các thuật toán học máy có khả năng phân tích lượng lớn dữ liệu để tìm ra các mẫu hình phức tạp, từ đó đưa ra dự đoán chính xác hơn</a:t>
            </a:r>
          </a:p>
          <a:p>
            <a:pPr algn="l">
              <a:lnSpc>
                <a:spcPts val="3779"/>
              </a:lnSpc>
            </a:pPr>
            <a:endParaRPr lang="en-US" sz="2400" spc="12">
              <a:solidFill>
                <a:srgbClr val="000000"/>
              </a:solidFill>
              <a:latin typeface="Muli Light"/>
              <a:ea typeface="Muli Light"/>
              <a:cs typeface="Muli Light"/>
              <a:sym typeface="Muli Light"/>
            </a:endParaRPr>
          </a:p>
        </p:txBody>
      </p:sp>
      <p:sp>
        <p:nvSpPr>
          <p:cNvPr id="7" name="TextBox 7"/>
          <p:cNvSpPr txBox="1"/>
          <p:nvPr/>
        </p:nvSpPr>
        <p:spPr>
          <a:xfrm>
            <a:off x="8984925" y="7013411"/>
            <a:ext cx="7322614" cy="1257300"/>
          </a:xfrm>
          <a:prstGeom prst="rect">
            <a:avLst/>
          </a:prstGeom>
        </p:spPr>
        <p:txBody>
          <a:bodyPr lIns="0" tIns="0" rIns="0" bIns="0" rtlCol="0" anchor="t">
            <a:spAutoFit/>
          </a:bodyPr>
          <a:lstStyle/>
          <a:p>
            <a:pPr marL="604519" lvl="1" indent="-302260" algn="l">
              <a:lnSpc>
                <a:spcPts val="3359"/>
              </a:lnSpc>
              <a:buFont typeface="Arial"/>
              <a:buChar char="•"/>
            </a:pPr>
            <a:r>
              <a:rPr lang="en-US" sz="2799" b="1" spc="83">
                <a:solidFill>
                  <a:srgbClr val="1836B2"/>
                </a:solidFill>
                <a:latin typeface="Muli Ultra-Bold"/>
                <a:ea typeface="Muli Ultra-Bold"/>
                <a:cs typeface="Muli Ultra-Bold"/>
                <a:sym typeface="Muli Ultra-Bold"/>
              </a:rPr>
              <a:t>Machine Learning hỗ trợ dự đoán nhanh và độ chính xác cao:</a:t>
            </a:r>
          </a:p>
          <a:p>
            <a:pPr algn="l">
              <a:lnSpc>
                <a:spcPts val="3359"/>
              </a:lnSpc>
            </a:pPr>
            <a:endParaRPr lang="en-US" sz="2799" b="1" spc="83">
              <a:solidFill>
                <a:srgbClr val="1836B2"/>
              </a:solidFill>
              <a:latin typeface="Muli Ultra-Bold"/>
              <a:ea typeface="Muli Ultra-Bold"/>
              <a:cs typeface="Muli Ultra-Bold"/>
              <a:sym typeface="Muli Ultra-Bold"/>
            </a:endParaRPr>
          </a:p>
        </p:txBody>
      </p:sp>
      <p:sp>
        <p:nvSpPr>
          <p:cNvPr id="8" name="TextBox 8"/>
          <p:cNvSpPr txBox="1"/>
          <p:nvPr/>
        </p:nvSpPr>
        <p:spPr>
          <a:xfrm>
            <a:off x="1373023" y="2477327"/>
            <a:ext cx="5866764" cy="3535680"/>
          </a:xfrm>
          <a:prstGeom prst="rect">
            <a:avLst/>
          </a:prstGeom>
        </p:spPr>
        <p:txBody>
          <a:bodyPr lIns="0" tIns="0" rIns="0" bIns="0" rtlCol="0" anchor="t">
            <a:spAutoFit/>
          </a:bodyPr>
          <a:lstStyle/>
          <a:p>
            <a:pPr algn="l">
              <a:lnSpc>
                <a:spcPts val="9240"/>
              </a:lnSpc>
            </a:pPr>
            <a:r>
              <a:rPr lang="en-US" sz="8400" b="1">
                <a:solidFill>
                  <a:srgbClr val="1836B2"/>
                </a:solidFill>
                <a:latin typeface="Muli Bold"/>
                <a:ea typeface="Muli Bold"/>
                <a:cs typeface="Muli Bold"/>
                <a:sym typeface="Muli Bold"/>
              </a:rPr>
              <a:t>LÝ DO CHỌN ĐỀ TÀI</a:t>
            </a:r>
          </a:p>
        </p:txBody>
      </p:sp>
      <p:sp>
        <p:nvSpPr>
          <p:cNvPr id="9" name="Freeform 9"/>
          <p:cNvSpPr/>
          <p:nvPr/>
        </p:nvSpPr>
        <p:spPr>
          <a:xfrm>
            <a:off x="1392073" y="1028700"/>
            <a:ext cx="1098500" cy="627207"/>
          </a:xfrm>
          <a:custGeom>
            <a:avLst/>
            <a:gdLst/>
            <a:ahLst/>
            <a:cxnLst/>
            <a:rect l="l" t="t" r="r" b="b"/>
            <a:pathLst>
              <a:path w="1098500" h="627207">
                <a:moveTo>
                  <a:pt x="0" y="0"/>
                </a:moveTo>
                <a:lnTo>
                  <a:pt x="1098500" y="0"/>
                </a:lnTo>
                <a:lnTo>
                  <a:pt x="1098500" y="627207"/>
                </a:lnTo>
                <a:lnTo>
                  <a:pt x="0" y="627207"/>
                </a:lnTo>
                <a:lnTo>
                  <a:pt x="0" y="0"/>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document&#10;&#10;AI-generated content may be incorrect.">
            <a:extLst>
              <a:ext uri="{FF2B5EF4-FFF2-40B4-BE49-F238E27FC236}">
                <a16:creationId xmlns:a16="http://schemas.microsoft.com/office/drawing/2014/main" id="{A719393D-588A-0D55-C983-67197E87B7A6}"/>
              </a:ext>
            </a:extLst>
          </p:cNvPr>
          <p:cNvPicPr>
            <a:picLocks noChangeAspect="1"/>
          </p:cNvPicPr>
          <p:nvPr/>
        </p:nvPicPr>
        <p:blipFill>
          <a:blip r:embed="rId2"/>
          <a:stretch>
            <a:fillRect/>
          </a:stretch>
        </p:blipFill>
        <p:spPr>
          <a:xfrm>
            <a:off x="1066800" y="495300"/>
            <a:ext cx="16376361" cy="9078786"/>
          </a:xfrm>
          <a:prstGeom prst="rect">
            <a:avLst/>
          </a:prstGeom>
        </p:spPr>
      </p:pic>
    </p:spTree>
    <p:extLst>
      <p:ext uri="{BB962C8B-B14F-4D97-AF65-F5344CB8AC3E}">
        <p14:creationId xmlns:p14="http://schemas.microsoft.com/office/powerpoint/2010/main" val="1338787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955115"/>
            <a:ext cx="2753602" cy="10668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Logistic Regression</a:t>
            </a:r>
          </a:p>
        </p:txBody>
      </p:sp>
      <p:sp>
        <p:nvSpPr>
          <p:cNvPr id="3" name="TextBox 3"/>
          <p:cNvSpPr txBox="1"/>
          <p:nvPr/>
        </p:nvSpPr>
        <p:spPr>
          <a:xfrm>
            <a:off x="5047186" y="6221815"/>
            <a:ext cx="3629457"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Naive Bayes</a:t>
            </a:r>
          </a:p>
        </p:txBody>
      </p:sp>
      <p:sp>
        <p:nvSpPr>
          <p:cNvPr id="4" name="TextBox 4"/>
          <p:cNvSpPr txBox="1"/>
          <p:nvPr/>
        </p:nvSpPr>
        <p:spPr>
          <a:xfrm>
            <a:off x="9941528" y="6221815"/>
            <a:ext cx="3629457"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Random Forest</a:t>
            </a:r>
          </a:p>
        </p:txBody>
      </p:sp>
      <p:sp>
        <p:nvSpPr>
          <p:cNvPr id="5" name="TextBox 5"/>
          <p:cNvSpPr txBox="1"/>
          <p:nvPr/>
        </p:nvSpPr>
        <p:spPr>
          <a:xfrm>
            <a:off x="1392073" y="1367598"/>
            <a:ext cx="11132246" cy="1192530"/>
          </a:xfrm>
          <a:prstGeom prst="rect">
            <a:avLst/>
          </a:prstGeom>
        </p:spPr>
        <p:txBody>
          <a:bodyPr lIns="0" tIns="0" rIns="0" bIns="0" rtlCol="0" anchor="t">
            <a:spAutoFit/>
          </a:bodyPr>
          <a:lstStyle/>
          <a:p>
            <a:pPr algn="l">
              <a:lnSpc>
                <a:spcPts val="9240"/>
              </a:lnSpc>
            </a:pPr>
            <a:r>
              <a:rPr lang="en-US" sz="8400" b="1">
                <a:solidFill>
                  <a:srgbClr val="1836B2"/>
                </a:solidFill>
                <a:latin typeface="Muli Bold"/>
                <a:ea typeface="Muli Bold"/>
                <a:cs typeface="Muli Bold"/>
                <a:sym typeface="Muli Bold"/>
              </a:rPr>
              <a:t>Sử dụng các mô hình:</a:t>
            </a:r>
          </a:p>
        </p:txBody>
      </p:sp>
      <p:sp>
        <p:nvSpPr>
          <p:cNvPr id="6" name="TextBox 6"/>
          <p:cNvSpPr txBox="1"/>
          <p:nvPr/>
        </p:nvSpPr>
        <p:spPr>
          <a:xfrm>
            <a:off x="1392073" y="2883951"/>
            <a:ext cx="11132246" cy="1581150"/>
          </a:xfrm>
          <a:prstGeom prst="rect">
            <a:avLst/>
          </a:prstGeom>
        </p:spPr>
        <p:txBody>
          <a:bodyPr lIns="0" tIns="0" rIns="0" bIns="0" rtlCol="0" anchor="t">
            <a:spAutoFit/>
          </a:bodyPr>
          <a:lstStyle/>
          <a:p>
            <a:pPr algn="l">
              <a:lnSpc>
                <a:spcPts val="4200"/>
              </a:lnSpc>
            </a:pPr>
            <a:r>
              <a:rPr lang="en-US" sz="3000" spc="15">
                <a:solidFill>
                  <a:srgbClr val="000000"/>
                </a:solidFill>
                <a:latin typeface="Muli Light"/>
                <a:ea typeface="Muli Light"/>
                <a:cs typeface="Muli Light"/>
                <a:sym typeface="Muli Light"/>
              </a:rPr>
              <a:t>Khám phá tiềm năng của các mô hình học máy trong việc dự đoán sớm bệnh tiểu đường.</a:t>
            </a:r>
          </a:p>
          <a:p>
            <a:pPr algn="l">
              <a:lnSpc>
                <a:spcPts val="4200"/>
              </a:lnSpc>
            </a:pPr>
            <a:endParaRPr lang="en-US" sz="3000" spc="15">
              <a:solidFill>
                <a:srgbClr val="000000"/>
              </a:solidFill>
              <a:latin typeface="Muli Light"/>
              <a:ea typeface="Muli Light"/>
              <a:cs typeface="Muli Light"/>
              <a:sym typeface="Muli Light"/>
            </a:endParaRPr>
          </a:p>
        </p:txBody>
      </p:sp>
      <p:sp>
        <p:nvSpPr>
          <p:cNvPr id="7" name="Freeform 7"/>
          <p:cNvSpPr/>
          <p:nvPr/>
        </p:nvSpPr>
        <p:spPr>
          <a:xfrm>
            <a:off x="16160800" y="1188635"/>
            <a:ext cx="1098500" cy="627207"/>
          </a:xfrm>
          <a:custGeom>
            <a:avLst/>
            <a:gdLst/>
            <a:ahLst/>
            <a:cxnLst/>
            <a:rect l="l" t="t" r="r" b="b"/>
            <a:pathLst>
              <a:path w="1098500" h="627207">
                <a:moveTo>
                  <a:pt x="0" y="0"/>
                </a:moveTo>
                <a:lnTo>
                  <a:pt x="1098500" y="0"/>
                </a:lnTo>
                <a:lnTo>
                  <a:pt x="1098500" y="627208"/>
                </a:lnTo>
                <a:lnTo>
                  <a:pt x="0" y="627208"/>
                </a:lnTo>
                <a:lnTo>
                  <a:pt x="0" y="0"/>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en-US"/>
          </a:p>
        </p:txBody>
      </p:sp>
      <p:sp>
        <p:nvSpPr>
          <p:cNvPr id="8" name="TextBox 8"/>
          <p:cNvSpPr txBox="1"/>
          <p:nvPr/>
        </p:nvSpPr>
        <p:spPr>
          <a:xfrm>
            <a:off x="15136059" y="6221815"/>
            <a:ext cx="3629457"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KNN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DAA8AF1C-74DC-95B6-15C0-BD0AF1B76B25}"/>
              </a:ext>
            </a:extLst>
          </p:cNvPr>
          <p:cNvPicPr>
            <a:picLocks noChangeAspect="1"/>
          </p:cNvPicPr>
          <p:nvPr/>
        </p:nvPicPr>
        <p:blipFill>
          <a:blip r:embed="rId2"/>
          <a:stretch>
            <a:fillRect/>
          </a:stretch>
        </p:blipFill>
        <p:spPr>
          <a:xfrm>
            <a:off x="609600" y="681957"/>
            <a:ext cx="16383000" cy="8923085"/>
          </a:xfrm>
          <a:prstGeom prst="rect">
            <a:avLst/>
          </a:prstGeom>
        </p:spPr>
      </p:pic>
    </p:spTree>
    <p:extLst>
      <p:ext uri="{BB962C8B-B14F-4D97-AF65-F5344CB8AC3E}">
        <p14:creationId xmlns:p14="http://schemas.microsoft.com/office/powerpoint/2010/main" val="1672003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E1116159-7CEF-5A31-C2D1-B29B7BB044DE}"/>
              </a:ext>
            </a:extLst>
          </p:cNvPr>
          <p:cNvPicPr>
            <a:picLocks noChangeAspect="1"/>
          </p:cNvPicPr>
          <p:nvPr/>
        </p:nvPicPr>
        <p:blipFill>
          <a:blip r:embed="rId3"/>
          <a:stretch>
            <a:fillRect/>
          </a:stretch>
        </p:blipFill>
        <p:spPr>
          <a:xfrm>
            <a:off x="609600" y="190500"/>
            <a:ext cx="15479116" cy="9380967"/>
          </a:xfrm>
          <a:prstGeom prst="rect">
            <a:avLst/>
          </a:prstGeom>
        </p:spPr>
      </p:pic>
    </p:spTree>
    <p:extLst>
      <p:ext uri="{BB962C8B-B14F-4D97-AF65-F5344CB8AC3E}">
        <p14:creationId xmlns:p14="http://schemas.microsoft.com/office/powerpoint/2010/main" val="2176291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764E57D5-2B33-6C80-177A-0D68560C3A07}"/>
              </a:ext>
            </a:extLst>
          </p:cNvPr>
          <p:cNvPicPr>
            <a:picLocks noChangeAspect="1"/>
          </p:cNvPicPr>
          <p:nvPr/>
        </p:nvPicPr>
        <p:blipFill>
          <a:blip r:embed="rId2"/>
          <a:stretch>
            <a:fillRect/>
          </a:stretch>
        </p:blipFill>
        <p:spPr>
          <a:xfrm>
            <a:off x="1966432" y="1409700"/>
            <a:ext cx="14355136" cy="8678486"/>
          </a:xfrm>
          <a:prstGeom prst="rect">
            <a:avLst/>
          </a:prstGeom>
        </p:spPr>
      </p:pic>
    </p:spTree>
    <p:extLst>
      <p:ext uri="{BB962C8B-B14F-4D97-AF65-F5344CB8AC3E}">
        <p14:creationId xmlns:p14="http://schemas.microsoft.com/office/powerpoint/2010/main" val="1382873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ge and age&#10;&#10;AI-generated content may be incorrect.">
            <a:extLst>
              <a:ext uri="{FF2B5EF4-FFF2-40B4-BE49-F238E27FC236}">
                <a16:creationId xmlns:a16="http://schemas.microsoft.com/office/drawing/2014/main" id="{CDFC93E0-D146-73D5-C0A5-0E520DEBE3B4}"/>
              </a:ext>
            </a:extLst>
          </p:cNvPr>
          <p:cNvPicPr>
            <a:picLocks noChangeAspect="1"/>
          </p:cNvPicPr>
          <p:nvPr/>
        </p:nvPicPr>
        <p:blipFill>
          <a:blip r:embed="rId3"/>
          <a:stretch>
            <a:fillRect/>
          </a:stretch>
        </p:blipFill>
        <p:spPr>
          <a:xfrm>
            <a:off x="3733800" y="2400300"/>
            <a:ext cx="11201400" cy="6579843"/>
          </a:xfrm>
          <a:prstGeom prst="rect">
            <a:avLst/>
          </a:prstGeom>
        </p:spPr>
      </p:pic>
      <p:sp>
        <p:nvSpPr>
          <p:cNvPr id="5" name="TextBox 4">
            <a:extLst>
              <a:ext uri="{FF2B5EF4-FFF2-40B4-BE49-F238E27FC236}">
                <a16:creationId xmlns:a16="http://schemas.microsoft.com/office/drawing/2014/main" id="{70F8DBB7-8B3F-27CC-0262-211502684E5F}"/>
              </a:ext>
            </a:extLst>
          </p:cNvPr>
          <p:cNvSpPr txBox="1"/>
          <p:nvPr/>
        </p:nvSpPr>
        <p:spPr>
          <a:xfrm>
            <a:off x="6248400" y="800100"/>
            <a:ext cx="5791200" cy="678327"/>
          </a:xfrm>
          <a:prstGeom prst="rect">
            <a:avLst/>
          </a:prstGeom>
          <a:noFill/>
        </p:spPr>
        <p:txBody>
          <a:bodyPr wrap="square">
            <a:spAutoFit/>
          </a:bodyPr>
          <a:lstStyle/>
          <a:p>
            <a:pPr algn="l">
              <a:lnSpc>
                <a:spcPts val="5199"/>
              </a:lnSpc>
            </a:pPr>
            <a:r>
              <a:rPr lang="en-US" sz="2800" b="1" dirty="0">
                <a:solidFill>
                  <a:srgbClr val="1836B2"/>
                </a:solidFill>
                <a:latin typeface="Muli Bold"/>
                <a:ea typeface="Muli Bold"/>
                <a:cs typeface="Muli Bold"/>
                <a:sym typeface="Muli Bold"/>
              </a:rPr>
              <a:t>BIỂU ĐỒ PHÂN PHỐI ĐỘ TUỔI</a:t>
            </a:r>
          </a:p>
        </p:txBody>
      </p:sp>
    </p:spTree>
    <p:extLst>
      <p:ext uri="{BB962C8B-B14F-4D97-AF65-F5344CB8AC3E}">
        <p14:creationId xmlns:p14="http://schemas.microsoft.com/office/powerpoint/2010/main" val="228748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8358030" y="2185424"/>
            <a:ext cx="8716176" cy="5699497"/>
          </a:xfrm>
          <a:custGeom>
            <a:avLst/>
            <a:gdLst/>
            <a:ahLst/>
            <a:cxnLst/>
            <a:rect l="l" t="t" r="r" b="b"/>
            <a:pathLst>
              <a:path w="8716176" h="5699497">
                <a:moveTo>
                  <a:pt x="0" y="0"/>
                </a:moveTo>
                <a:lnTo>
                  <a:pt x="8716176" y="0"/>
                </a:lnTo>
                <a:lnTo>
                  <a:pt x="8716176" y="5699497"/>
                </a:lnTo>
                <a:lnTo>
                  <a:pt x="0" y="5699497"/>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309723" y="1540899"/>
            <a:ext cx="5733698" cy="644525"/>
          </a:xfrm>
          <a:prstGeom prst="rect">
            <a:avLst/>
          </a:prstGeom>
        </p:spPr>
        <p:txBody>
          <a:bodyPr lIns="0" tIns="0" rIns="0" bIns="0" rtlCol="0" anchor="t">
            <a:spAutoFit/>
          </a:bodyPr>
          <a:lstStyle/>
          <a:p>
            <a:pPr algn="l">
              <a:lnSpc>
                <a:spcPts val="5199"/>
              </a:lnSpc>
            </a:pPr>
            <a:r>
              <a:rPr lang="en-US" sz="3999" b="1" dirty="0">
                <a:solidFill>
                  <a:srgbClr val="1836B2"/>
                </a:solidFill>
                <a:latin typeface="Muli Bold"/>
                <a:ea typeface="Muli Bold"/>
                <a:cs typeface="Muli Bold"/>
                <a:sym typeface="Muli Bold"/>
              </a:rPr>
              <a:t>BIỂU ĐỒ PHÂN PHỐI</a:t>
            </a:r>
          </a:p>
        </p:txBody>
      </p:sp>
      <p:sp>
        <p:nvSpPr>
          <p:cNvPr id="6" name="TextBox 6"/>
          <p:cNvSpPr txBox="1"/>
          <p:nvPr/>
        </p:nvSpPr>
        <p:spPr>
          <a:xfrm>
            <a:off x="811688" y="3855602"/>
            <a:ext cx="5733698" cy="3181350"/>
          </a:xfrm>
          <a:prstGeom prst="rect">
            <a:avLst/>
          </a:prstGeom>
        </p:spPr>
        <p:txBody>
          <a:bodyPr lIns="0" tIns="0" rIns="0" bIns="0" rtlCol="0" anchor="t">
            <a:spAutoFit/>
          </a:bodyPr>
          <a:lstStyle/>
          <a:p>
            <a:pPr algn="l">
              <a:lnSpc>
                <a:spcPts val="4200"/>
              </a:lnSpc>
            </a:pPr>
            <a:r>
              <a:rPr lang="en-US" sz="3000" spc="15">
                <a:solidFill>
                  <a:srgbClr val="000000"/>
                </a:solidFill>
                <a:latin typeface="Muli Light"/>
                <a:ea typeface="Muli Light"/>
                <a:cs typeface="Muli Light"/>
                <a:sym typeface="Muli Light"/>
              </a:rPr>
              <a:t>Biểu đồ phân phối của Glucose cung cấp cái nhìn sâu sắc về sự khác biệt giữa hai nhóm người (có và không có tiểu đường).</a:t>
            </a:r>
          </a:p>
          <a:p>
            <a:pPr algn="l">
              <a:lnSpc>
                <a:spcPts val="4200"/>
              </a:lnSpc>
            </a:pPr>
            <a:endParaRPr lang="en-US" sz="3000" spc="15">
              <a:solidFill>
                <a:srgbClr val="000000"/>
              </a:solidFill>
              <a:latin typeface="Muli Light"/>
              <a:ea typeface="Muli Light"/>
              <a:cs typeface="Muli Light"/>
              <a:sym typeface="Muli Light"/>
            </a:endParaRPr>
          </a:p>
          <a:p>
            <a:pPr algn="l">
              <a:lnSpc>
                <a:spcPts val="4200"/>
              </a:lnSpc>
            </a:pPr>
            <a:endParaRPr lang="en-US" sz="3000" spc="15">
              <a:solidFill>
                <a:srgbClr val="000000"/>
              </a:solidFill>
              <a:latin typeface="Muli Light"/>
              <a:ea typeface="Muli Light"/>
              <a:cs typeface="Muli Light"/>
              <a:sym typeface="Muli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8403049" y="1603892"/>
            <a:ext cx="8856251" cy="5692448"/>
          </a:xfrm>
          <a:custGeom>
            <a:avLst/>
            <a:gdLst/>
            <a:ahLst/>
            <a:cxnLst/>
            <a:rect l="l" t="t" r="r" b="b"/>
            <a:pathLst>
              <a:path w="8856251" h="5692448">
                <a:moveTo>
                  <a:pt x="0" y="0"/>
                </a:moveTo>
                <a:lnTo>
                  <a:pt x="8856251" y="0"/>
                </a:lnTo>
                <a:lnTo>
                  <a:pt x="8856251" y="5692448"/>
                </a:lnTo>
                <a:lnTo>
                  <a:pt x="0" y="5692448"/>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838557" y="1696172"/>
            <a:ext cx="6293290" cy="1811020"/>
          </a:xfrm>
          <a:prstGeom prst="rect">
            <a:avLst/>
          </a:prstGeom>
        </p:spPr>
        <p:txBody>
          <a:bodyPr lIns="0" tIns="0" rIns="0" bIns="0" rtlCol="0" anchor="t">
            <a:spAutoFit/>
          </a:bodyPr>
          <a:lstStyle/>
          <a:p>
            <a:pPr algn="ctr">
              <a:lnSpc>
                <a:spcPts val="7279"/>
              </a:lnSpc>
            </a:pPr>
            <a:r>
              <a:rPr lang="en-US" sz="5199" b="1">
                <a:solidFill>
                  <a:srgbClr val="1836B2"/>
                </a:solidFill>
                <a:latin typeface="Noto Sans Bold"/>
                <a:ea typeface="Noto Sans Bold"/>
                <a:cs typeface="Noto Sans Bold"/>
                <a:sym typeface="Noto Sans Bold"/>
              </a:rPr>
              <a:t>CÁC BIỂU ĐỒ TƯƠNG QUAN</a:t>
            </a:r>
          </a:p>
        </p:txBody>
      </p:sp>
      <p:sp>
        <p:nvSpPr>
          <p:cNvPr id="6" name="TextBox 6"/>
          <p:cNvSpPr txBox="1"/>
          <p:nvPr/>
        </p:nvSpPr>
        <p:spPr>
          <a:xfrm>
            <a:off x="838557" y="4848542"/>
            <a:ext cx="6135385" cy="1821815"/>
          </a:xfrm>
          <a:prstGeom prst="rect">
            <a:avLst/>
          </a:prstGeom>
        </p:spPr>
        <p:txBody>
          <a:bodyPr lIns="0" tIns="0" rIns="0" bIns="0" rtlCol="0" anchor="t">
            <a:spAutoFit/>
          </a:bodyPr>
          <a:lstStyle/>
          <a:p>
            <a:pPr algn="ctr">
              <a:lnSpc>
                <a:spcPts val="3359"/>
              </a:lnSpc>
            </a:pPr>
            <a:r>
              <a:rPr lang="en-US" sz="2400">
                <a:solidFill>
                  <a:srgbClr val="000000"/>
                </a:solidFill>
                <a:latin typeface="Noto Sans"/>
                <a:ea typeface="Noto Sans"/>
                <a:cs typeface="Noto Sans"/>
                <a:sym typeface="Noto Sans"/>
              </a:rPr>
              <a:t>Biểu đồ phân tán (Scatter Plot) giúp hình dung mối quan hệ giữa hai đặc trưng và cách chúng liên quan đến kết quả.</a:t>
            </a:r>
          </a:p>
          <a:p>
            <a:pPr algn="ctr">
              <a:lnSpc>
                <a:spcPts val="4759"/>
              </a:lnSpc>
            </a:pPr>
            <a:endParaRPr lang="en-US" sz="2400">
              <a:solidFill>
                <a:srgbClr val="000000"/>
              </a:solidFill>
              <a:latin typeface="Noto Sans"/>
              <a:ea typeface="Noto Sans"/>
              <a:cs typeface="Noto Sans"/>
              <a:sym typeface="No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0652" y="737235"/>
            <a:ext cx="9840811" cy="563880"/>
          </a:xfrm>
          <a:prstGeom prst="rect">
            <a:avLst/>
          </a:prstGeom>
        </p:spPr>
        <p:txBody>
          <a:bodyPr lIns="0" tIns="0" rIns="0" bIns="0" rtlCol="0" anchor="t">
            <a:spAutoFit/>
          </a:bodyPr>
          <a:lstStyle/>
          <a:p>
            <a:pPr algn="l">
              <a:lnSpc>
                <a:spcPts val="4680"/>
              </a:lnSpc>
            </a:pPr>
            <a:r>
              <a:rPr lang="en-US" sz="3600" b="1">
                <a:solidFill>
                  <a:srgbClr val="1836B2"/>
                </a:solidFill>
                <a:latin typeface="Muli Bold"/>
                <a:ea typeface="Muli Bold"/>
                <a:cs typeface="Muli Bold"/>
                <a:sym typeface="Muli Bold"/>
              </a:rPr>
              <a:t>PHÂN TÍCH DỮ LIỆU KHÁM PHÁ</a:t>
            </a:r>
          </a:p>
        </p:txBody>
      </p:sp>
      <p:sp>
        <p:nvSpPr>
          <p:cNvPr id="3" name="TextBox 3"/>
          <p:cNvSpPr txBox="1"/>
          <p:nvPr/>
        </p:nvSpPr>
        <p:spPr>
          <a:xfrm>
            <a:off x="392043" y="4710686"/>
            <a:ext cx="5057794" cy="2973705"/>
          </a:xfrm>
          <a:prstGeom prst="rect">
            <a:avLst/>
          </a:prstGeom>
        </p:spPr>
        <p:txBody>
          <a:bodyPr lIns="0" tIns="0" rIns="0" bIns="0" rtlCol="0" anchor="t">
            <a:spAutoFit/>
          </a:bodyPr>
          <a:lstStyle/>
          <a:p>
            <a:pPr algn="l">
              <a:lnSpc>
                <a:spcPts val="3359"/>
              </a:lnSpc>
            </a:pPr>
            <a:r>
              <a:rPr lang="en-US" sz="2400" spc="12">
                <a:solidFill>
                  <a:srgbClr val="000000"/>
                </a:solidFill>
                <a:latin typeface="Muli Light"/>
                <a:ea typeface="Muli Light"/>
                <a:cs typeface="Muli Light"/>
                <a:sym typeface="Muli Light"/>
              </a:rPr>
              <a:t>Nhiều cột như Glucose, BloodPressure, Insulin, SkinThickness, BMI chứa giá trị "0" không hợp lệ. Điều này cần được xử lý cẩn thận trong giai đoạn tiền xử lý để tránh làm sai lệch mô hình.</a:t>
            </a:r>
          </a:p>
          <a:p>
            <a:pPr algn="l">
              <a:lnSpc>
                <a:spcPts val="3779"/>
              </a:lnSpc>
            </a:pPr>
            <a:endParaRPr lang="en-US" sz="2400" spc="12">
              <a:solidFill>
                <a:srgbClr val="000000"/>
              </a:solidFill>
              <a:latin typeface="Muli Light"/>
              <a:ea typeface="Muli Light"/>
              <a:cs typeface="Muli Light"/>
              <a:sym typeface="Muli Light"/>
            </a:endParaRPr>
          </a:p>
        </p:txBody>
      </p:sp>
      <p:sp>
        <p:nvSpPr>
          <p:cNvPr id="4" name="TextBox 4"/>
          <p:cNvSpPr txBox="1"/>
          <p:nvPr/>
        </p:nvSpPr>
        <p:spPr>
          <a:xfrm>
            <a:off x="680652" y="3477517"/>
            <a:ext cx="4480577" cy="409575"/>
          </a:xfrm>
          <a:prstGeom prst="rect">
            <a:avLst/>
          </a:prstGeom>
        </p:spPr>
        <p:txBody>
          <a:bodyPr lIns="0" tIns="0" rIns="0" bIns="0" rtlCol="0" anchor="t">
            <a:spAutoFit/>
          </a:bodyPr>
          <a:lstStyle/>
          <a:p>
            <a:pPr algn="l">
              <a:lnSpc>
                <a:spcPts val="3240"/>
              </a:lnSpc>
            </a:pPr>
            <a:r>
              <a:rPr lang="en-US" sz="2700" b="1" spc="81">
                <a:solidFill>
                  <a:srgbClr val="1836B2"/>
                </a:solidFill>
                <a:latin typeface="Muli Ultra-Bold"/>
                <a:ea typeface="Muli Ultra-Bold"/>
                <a:cs typeface="Muli Ultra-Bold"/>
                <a:sym typeface="Muli Ultra-Bold"/>
              </a:rPr>
              <a:t>Giá trị "0" không hợp lệ</a:t>
            </a:r>
          </a:p>
        </p:txBody>
      </p:sp>
      <p:sp>
        <p:nvSpPr>
          <p:cNvPr id="5" name="TextBox 5"/>
          <p:cNvSpPr txBox="1"/>
          <p:nvPr/>
        </p:nvSpPr>
        <p:spPr>
          <a:xfrm>
            <a:off x="6767242" y="4710686"/>
            <a:ext cx="5116002" cy="3392805"/>
          </a:xfrm>
          <a:prstGeom prst="rect">
            <a:avLst/>
          </a:prstGeom>
        </p:spPr>
        <p:txBody>
          <a:bodyPr lIns="0" tIns="0" rIns="0" bIns="0" rtlCol="0" anchor="t">
            <a:spAutoFit/>
          </a:bodyPr>
          <a:lstStyle/>
          <a:p>
            <a:pPr algn="l">
              <a:lnSpc>
                <a:spcPts val="3359"/>
              </a:lnSpc>
            </a:pPr>
            <a:r>
              <a:rPr lang="en-US" sz="2400" spc="12">
                <a:solidFill>
                  <a:srgbClr val="000000"/>
                </a:solidFill>
                <a:latin typeface="Muli Light"/>
                <a:ea typeface="Muli Light"/>
                <a:cs typeface="Muli Light"/>
                <a:sym typeface="Muli Light"/>
              </a:rPr>
              <a:t>Biểu đồ phân phối cho thấy độ tuổi có xu hướng lệch trái, cho thấy phần lớn các mẫu dữ liệu là từ những người trẻ tuổi hơn. Điều này có thể ảnh hưởng đến khả năng tổng quát hóa của mô hình cho các nhóm tuổi khác.</a:t>
            </a:r>
          </a:p>
          <a:p>
            <a:pPr algn="l">
              <a:lnSpc>
                <a:spcPts val="3779"/>
              </a:lnSpc>
            </a:pPr>
            <a:endParaRPr lang="en-US" sz="2400" spc="12">
              <a:solidFill>
                <a:srgbClr val="000000"/>
              </a:solidFill>
              <a:latin typeface="Muli Light"/>
              <a:ea typeface="Muli Light"/>
              <a:cs typeface="Muli Light"/>
              <a:sym typeface="Muli Light"/>
            </a:endParaRPr>
          </a:p>
        </p:txBody>
      </p:sp>
      <p:sp>
        <p:nvSpPr>
          <p:cNvPr id="6" name="TextBox 6"/>
          <p:cNvSpPr txBox="1"/>
          <p:nvPr/>
        </p:nvSpPr>
        <p:spPr>
          <a:xfrm>
            <a:off x="7654335" y="3477517"/>
            <a:ext cx="5734253" cy="409575"/>
          </a:xfrm>
          <a:prstGeom prst="rect">
            <a:avLst/>
          </a:prstGeom>
        </p:spPr>
        <p:txBody>
          <a:bodyPr lIns="0" tIns="0" rIns="0" bIns="0" rtlCol="0" anchor="t">
            <a:spAutoFit/>
          </a:bodyPr>
          <a:lstStyle/>
          <a:p>
            <a:pPr algn="l">
              <a:lnSpc>
                <a:spcPts val="3240"/>
              </a:lnSpc>
            </a:pPr>
            <a:r>
              <a:rPr lang="en-US" sz="2700" b="1" spc="81">
                <a:solidFill>
                  <a:srgbClr val="1836B2"/>
                </a:solidFill>
                <a:latin typeface="Muli Ultra-Bold"/>
                <a:ea typeface="Muli Ultra-Bold"/>
                <a:cs typeface="Muli Ultra-Bold"/>
                <a:sym typeface="Muli Ultra-Bold"/>
              </a:rPr>
              <a:t>Phân phối tuổi lệch trái</a:t>
            </a:r>
          </a:p>
        </p:txBody>
      </p:sp>
      <p:sp>
        <p:nvSpPr>
          <p:cNvPr id="7" name="Freeform 7"/>
          <p:cNvSpPr/>
          <p:nvPr/>
        </p:nvSpPr>
        <p:spPr>
          <a:xfrm>
            <a:off x="12038446" y="-2389613"/>
            <a:ext cx="8370405" cy="4779226"/>
          </a:xfrm>
          <a:custGeom>
            <a:avLst/>
            <a:gdLst/>
            <a:ahLst/>
            <a:cxnLst/>
            <a:rect l="l" t="t" r="r" b="b"/>
            <a:pathLst>
              <a:path w="8370405" h="4779226">
                <a:moveTo>
                  <a:pt x="0" y="0"/>
                </a:moveTo>
                <a:lnTo>
                  <a:pt x="8370405" y="0"/>
                </a:lnTo>
                <a:lnTo>
                  <a:pt x="8370405" y="4779226"/>
                </a:lnTo>
                <a:lnTo>
                  <a:pt x="0" y="4779226"/>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grpSp>
        <p:nvGrpSpPr>
          <p:cNvPr id="8" name="Group 8"/>
          <p:cNvGrpSpPr/>
          <p:nvPr/>
        </p:nvGrpSpPr>
        <p:grpSpPr>
          <a:xfrm>
            <a:off x="680652" y="9515874"/>
            <a:ext cx="16926697" cy="1542251"/>
            <a:chOff x="0" y="0"/>
            <a:chExt cx="58960502" cy="5372100"/>
          </a:xfrm>
        </p:grpSpPr>
        <p:sp>
          <p:nvSpPr>
            <p:cNvPr id="9" name="Freeform 9"/>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10" name="AutoShape 10"/>
          <p:cNvSpPr/>
          <p:nvPr/>
        </p:nvSpPr>
        <p:spPr>
          <a:xfrm flipV="1">
            <a:off x="6110017" y="4443669"/>
            <a:ext cx="0" cy="3555364"/>
          </a:xfrm>
          <a:prstGeom prst="line">
            <a:avLst/>
          </a:prstGeom>
          <a:ln w="76200" cap="rnd">
            <a:solidFill>
              <a:srgbClr val="86C7ED"/>
            </a:solidFill>
            <a:prstDash val="sysDot"/>
            <a:headEnd type="none" w="sm" len="sm"/>
            <a:tailEnd type="none" w="sm" len="sm"/>
          </a:ln>
        </p:spPr>
        <p:txBody>
          <a:bodyPr/>
          <a:lstStyle/>
          <a:p>
            <a:endParaRPr lang="en-US"/>
          </a:p>
        </p:txBody>
      </p:sp>
      <p:sp>
        <p:nvSpPr>
          <p:cNvPr id="11" name="AutoShape 11"/>
          <p:cNvSpPr/>
          <p:nvPr/>
        </p:nvSpPr>
        <p:spPr>
          <a:xfrm flipH="1" flipV="1">
            <a:off x="12635916" y="4546581"/>
            <a:ext cx="0" cy="3452452"/>
          </a:xfrm>
          <a:prstGeom prst="line">
            <a:avLst/>
          </a:prstGeom>
          <a:ln w="76200" cap="rnd">
            <a:solidFill>
              <a:srgbClr val="86C7ED"/>
            </a:solidFill>
            <a:prstDash val="sysDot"/>
            <a:headEnd type="none" w="sm" len="sm"/>
            <a:tailEnd type="none" w="sm" len="sm"/>
          </a:ln>
        </p:spPr>
        <p:txBody>
          <a:bodyPr/>
          <a:lstStyle/>
          <a:p>
            <a:endParaRPr lang="en-US"/>
          </a:p>
        </p:txBody>
      </p:sp>
      <p:sp>
        <p:nvSpPr>
          <p:cNvPr id="12" name="TextBox 12"/>
          <p:cNvSpPr txBox="1"/>
          <p:nvPr/>
        </p:nvSpPr>
        <p:spPr>
          <a:xfrm>
            <a:off x="13993203" y="3477517"/>
            <a:ext cx="3724937" cy="819150"/>
          </a:xfrm>
          <a:prstGeom prst="rect">
            <a:avLst/>
          </a:prstGeom>
        </p:spPr>
        <p:txBody>
          <a:bodyPr lIns="0" tIns="0" rIns="0" bIns="0" rtlCol="0" anchor="t">
            <a:spAutoFit/>
          </a:bodyPr>
          <a:lstStyle/>
          <a:p>
            <a:pPr algn="l">
              <a:lnSpc>
                <a:spcPts val="3240"/>
              </a:lnSpc>
            </a:pPr>
            <a:r>
              <a:rPr lang="en-US" sz="2700" b="1" spc="81">
                <a:solidFill>
                  <a:srgbClr val="1836B2"/>
                </a:solidFill>
                <a:latin typeface="Muli Ultra-Bold"/>
                <a:ea typeface="Muli Ultra-Bold"/>
                <a:cs typeface="Muli Ultra-Bold"/>
                <a:sym typeface="Muli Ultra-Bold"/>
              </a:rPr>
              <a:t>BMI và Glucose cao ở bệnh nhân</a:t>
            </a:r>
          </a:p>
        </p:txBody>
      </p:sp>
      <p:sp>
        <p:nvSpPr>
          <p:cNvPr id="13" name="TextBox 13"/>
          <p:cNvSpPr txBox="1"/>
          <p:nvPr/>
        </p:nvSpPr>
        <p:spPr>
          <a:xfrm>
            <a:off x="13293141" y="4710686"/>
            <a:ext cx="4899411" cy="2973705"/>
          </a:xfrm>
          <a:prstGeom prst="rect">
            <a:avLst/>
          </a:prstGeom>
        </p:spPr>
        <p:txBody>
          <a:bodyPr lIns="0" tIns="0" rIns="0" bIns="0" rtlCol="0" anchor="t">
            <a:spAutoFit/>
          </a:bodyPr>
          <a:lstStyle/>
          <a:p>
            <a:pPr algn="l">
              <a:lnSpc>
                <a:spcPts val="3359"/>
              </a:lnSpc>
            </a:pPr>
            <a:r>
              <a:rPr lang="en-US" sz="2400" spc="12">
                <a:solidFill>
                  <a:srgbClr val="000000"/>
                </a:solidFill>
                <a:latin typeface="Muli Light"/>
                <a:ea typeface="Muli Light"/>
                <a:cs typeface="Muli Light"/>
                <a:sym typeface="Muli Light"/>
              </a:rPr>
              <a:t>Quan sát ban đầu cho thấy những bệnh nhân tiểu đường có xu hướng có chỉ số BMI và nồng độ Glucose cao hơn. Đây là những dấu hiệu quan trọng có thể được khai thác bởi các mô hình dự đoán.</a:t>
            </a:r>
          </a:p>
          <a:p>
            <a:pPr algn="l">
              <a:lnSpc>
                <a:spcPts val="3779"/>
              </a:lnSpc>
            </a:pPr>
            <a:endParaRPr lang="en-US" sz="2400" spc="12">
              <a:solidFill>
                <a:srgbClr val="000000"/>
              </a:solidFill>
              <a:latin typeface="Muli Light"/>
              <a:ea typeface="Muli Light"/>
              <a:cs typeface="Muli Light"/>
              <a:sym typeface="Muli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sp>
        <p:nvSpPr>
          <p:cNvPr id="4" name="Freeform 4"/>
          <p:cNvSpPr/>
          <p:nvPr/>
        </p:nvSpPr>
        <p:spPr>
          <a:xfrm>
            <a:off x="8187558" y="1428260"/>
            <a:ext cx="8913682" cy="7621198"/>
          </a:xfrm>
          <a:custGeom>
            <a:avLst/>
            <a:gdLst/>
            <a:ahLst/>
            <a:cxnLst/>
            <a:rect l="l" t="t" r="r" b="b"/>
            <a:pathLst>
              <a:path w="8913682" h="7621198">
                <a:moveTo>
                  <a:pt x="0" y="0"/>
                </a:moveTo>
                <a:lnTo>
                  <a:pt x="8913682" y="0"/>
                </a:lnTo>
                <a:lnTo>
                  <a:pt x="8913682" y="7621199"/>
                </a:lnTo>
                <a:lnTo>
                  <a:pt x="0" y="7621199"/>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028700" y="1854900"/>
            <a:ext cx="6110883" cy="679450"/>
          </a:xfrm>
          <a:prstGeom prst="rect">
            <a:avLst/>
          </a:prstGeom>
        </p:spPr>
        <p:txBody>
          <a:bodyPr lIns="0" tIns="0" rIns="0" bIns="0" rtlCol="0" anchor="t">
            <a:spAutoFit/>
          </a:bodyPr>
          <a:lstStyle/>
          <a:p>
            <a:pPr algn="ctr">
              <a:lnSpc>
                <a:spcPts val="5599"/>
              </a:lnSpc>
            </a:pPr>
            <a:r>
              <a:rPr lang="en-US" sz="3999" b="1">
                <a:solidFill>
                  <a:srgbClr val="1836B2"/>
                </a:solidFill>
                <a:latin typeface="Noto Sans Bold"/>
                <a:ea typeface="Noto Sans Bold"/>
                <a:cs typeface="Noto Sans Bold"/>
                <a:sym typeface="Noto Sans Bold"/>
              </a:rPr>
              <a:t>MA TRẬN TƯƠNG QUAN</a:t>
            </a:r>
          </a:p>
        </p:txBody>
      </p:sp>
      <p:sp>
        <p:nvSpPr>
          <p:cNvPr id="6" name="TextBox 6"/>
          <p:cNvSpPr txBox="1"/>
          <p:nvPr/>
        </p:nvSpPr>
        <p:spPr>
          <a:xfrm>
            <a:off x="866730" y="3773797"/>
            <a:ext cx="6821164" cy="2125980"/>
          </a:xfrm>
          <a:prstGeom prst="rect">
            <a:avLst/>
          </a:prstGeom>
        </p:spPr>
        <p:txBody>
          <a:bodyPr lIns="0" tIns="0" rIns="0" bIns="0" rtlCol="0" anchor="t">
            <a:spAutoFit/>
          </a:bodyPr>
          <a:lstStyle/>
          <a:p>
            <a:pPr algn="ctr">
              <a:lnSpc>
                <a:spcPts val="3359"/>
              </a:lnSpc>
            </a:pPr>
            <a:r>
              <a:rPr lang="en-US" sz="2400">
                <a:solidFill>
                  <a:srgbClr val="000000"/>
                </a:solidFill>
                <a:latin typeface="Noto Sans"/>
                <a:ea typeface="Noto Sans"/>
                <a:cs typeface="Noto Sans"/>
                <a:sym typeface="Noto Sans"/>
              </a:rPr>
              <a:t>Ma trận tương quan cung cấp một cái nhìn tổng thể về mối quan hệ tuyến tính giữa tất cả các cặp đặc trưng và giữa các đặc trưng với nhãn dự đoán (Outcome).</a:t>
            </a:r>
          </a:p>
          <a:p>
            <a:pPr algn="ctr">
              <a:lnSpc>
                <a:spcPts val="3779"/>
              </a:lnSpc>
            </a:pPr>
            <a:endParaRPr lang="en-US" sz="2400">
              <a:solidFill>
                <a:srgbClr val="000000"/>
              </a:solidFill>
              <a:latin typeface="Noto Sans"/>
              <a:ea typeface="Noto Sans"/>
              <a:cs typeface="Noto Sans"/>
              <a:sym typeface="No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648091" y="2914364"/>
          <a:ext cx="14991819" cy="6686874"/>
        </p:xfrm>
        <a:graphic>
          <a:graphicData uri="http://schemas.openxmlformats.org/drawingml/2006/table">
            <a:tbl>
              <a:tblPr/>
              <a:tblGrid>
                <a:gridCol w="7642257">
                  <a:extLst>
                    <a:ext uri="{9D8B030D-6E8A-4147-A177-3AD203B41FA5}">
                      <a16:colId xmlns:a16="http://schemas.microsoft.com/office/drawing/2014/main" val="20000"/>
                    </a:ext>
                  </a:extLst>
                </a:gridCol>
                <a:gridCol w="7349562">
                  <a:extLst>
                    <a:ext uri="{9D8B030D-6E8A-4147-A177-3AD203B41FA5}">
                      <a16:colId xmlns:a16="http://schemas.microsoft.com/office/drawing/2014/main" val="20001"/>
                    </a:ext>
                  </a:extLst>
                </a:gridCol>
              </a:tblGrid>
              <a:tr h="2994030">
                <a:tc>
                  <a:txBody>
                    <a:bodyPr/>
                    <a:lstStyle/>
                    <a:p>
                      <a:pPr algn="ctr">
                        <a:lnSpc>
                          <a:spcPts val="252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92844">
                <a:tc>
                  <a:txBody>
                    <a:bodyPr/>
                    <a:lstStyle/>
                    <a:p>
                      <a:pPr algn="ctr">
                        <a:lnSpc>
                          <a:spcPts val="252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Box 3"/>
          <p:cNvSpPr txBox="1"/>
          <p:nvPr/>
        </p:nvSpPr>
        <p:spPr>
          <a:xfrm>
            <a:off x="1028700" y="1145518"/>
            <a:ext cx="6362700" cy="712470"/>
          </a:xfrm>
          <a:prstGeom prst="rect">
            <a:avLst/>
          </a:prstGeom>
        </p:spPr>
        <p:txBody>
          <a:bodyPr wrap="square" lIns="0" tIns="0" rIns="0" bIns="0" rtlCol="0" anchor="t">
            <a:spAutoFit/>
          </a:bodyPr>
          <a:lstStyle/>
          <a:p>
            <a:pPr algn="ctr">
              <a:lnSpc>
                <a:spcPts val="5880"/>
              </a:lnSpc>
            </a:pPr>
            <a:r>
              <a:rPr lang="en-US" sz="4200" b="1" dirty="0">
                <a:solidFill>
                  <a:srgbClr val="1836B2"/>
                </a:solidFill>
                <a:latin typeface="Noto Sans Bold"/>
                <a:ea typeface="Noto Sans Bold"/>
                <a:cs typeface="Noto Sans Bold"/>
                <a:sym typeface="Noto Sans Bold"/>
              </a:rPr>
              <a:t>TIỀN XỬ LÝ DỮ LIỆU</a:t>
            </a:r>
          </a:p>
        </p:txBody>
      </p:sp>
      <p:sp>
        <p:nvSpPr>
          <p:cNvPr id="4" name="TextBox 4"/>
          <p:cNvSpPr txBox="1"/>
          <p:nvPr/>
        </p:nvSpPr>
        <p:spPr>
          <a:xfrm>
            <a:off x="2056757" y="3167690"/>
            <a:ext cx="6827224" cy="2484755"/>
          </a:xfrm>
          <a:prstGeom prst="rect">
            <a:avLst/>
          </a:prstGeom>
        </p:spPr>
        <p:txBody>
          <a:bodyPr lIns="0" tIns="0" rIns="0" bIns="0" rtlCol="0" anchor="t">
            <a:spAutoFit/>
          </a:bodyPr>
          <a:lstStyle/>
          <a:p>
            <a:pPr algn="l">
              <a:lnSpc>
                <a:spcPts val="3779"/>
              </a:lnSpc>
            </a:pPr>
            <a:r>
              <a:rPr lang="en-US" sz="2700" b="1">
                <a:solidFill>
                  <a:srgbClr val="000000"/>
                </a:solidFill>
                <a:latin typeface="Noto Sans Bold"/>
                <a:ea typeface="Noto Sans Bold"/>
                <a:cs typeface="Noto Sans Bold"/>
                <a:sym typeface="Noto Sans Bold"/>
              </a:rPr>
              <a:t>Thay giá trị 0 thành NaN</a:t>
            </a:r>
          </a:p>
          <a:p>
            <a:pPr algn="l">
              <a:lnSpc>
                <a:spcPts val="3779"/>
              </a:lnSpc>
            </a:pPr>
            <a:r>
              <a:rPr lang="en-US" sz="2700">
                <a:solidFill>
                  <a:srgbClr val="000000"/>
                </a:solidFill>
                <a:latin typeface="Noto Sans"/>
                <a:ea typeface="Noto Sans"/>
                <a:cs typeface="Noto Sans"/>
                <a:sym typeface="Noto Sans"/>
              </a:rPr>
              <a:t>Các giá trị '0' không hợp lệ (ví dụ: BloodPressure, BMI) được thay thế bằng NaN để xử lý đúng đắn.</a:t>
            </a:r>
          </a:p>
          <a:p>
            <a:pPr algn="l">
              <a:lnSpc>
                <a:spcPts val="4759"/>
              </a:lnSpc>
            </a:pPr>
            <a:endParaRPr lang="en-US" sz="2700">
              <a:solidFill>
                <a:srgbClr val="000000"/>
              </a:solidFill>
              <a:latin typeface="Noto Sans"/>
              <a:ea typeface="Noto Sans"/>
              <a:cs typeface="Noto Sans"/>
              <a:sym typeface="Noto Sans"/>
            </a:endParaRPr>
          </a:p>
        </p:txBody>
      </p:sp>
      <p:sp>
        <p:nvSpPr>
          <p:cNvPr id="5" name="TextBox 5"/>
          <p:cNvSpPr txBox="1"/>
          <p:nvPr/>
        </p:nvSpPr>
        <p:spPr>
          <a:xfrm>
            <a:off x="9535332" y="3167690"/>
            <a:ext cx="6913897" cy="2846070"/>
          </a:xfrm>
          <a:prstGeom prst="rect">
            <a:avLst/>
          </a:prstGeom>
        </p:spPr>
        <p:txBody>
          <a:bodyPr lIns="0" tIns="0" rIns="0" bIns="0" rtlCol="0" anchor="t">
            <a:spAutoFit/>
          </a:bodyPr>
          <a:lstStyle/>
          <a:p>
            <a:pPr algn="l">
              <a:lnSpc>
                <a:spcPts val="3779"/>
              </a:lnSpc>
            </a:pPr>
            <a:r>
              <a:rPr lang="en-US" sz="2700" b="1">
                <a:solidFill>
                  <a:srgbClr val="000000"/>
                </a:solidFill>
                <a:latin typeface="Noto Sans Bold"/>
                <a:ea typeface="Noto Sans Bold"/>
                <a:cs typeface="Noto Sans Bold"/>
                <a:sym typeface="Noto Sans Bold"/>
              </a:rPr>
              <a:t>Điền thiếu bằng Median</a:t>
            </a:r>
          </a:p>
          <a:p>
            <a:pPr algn="l">
              <a:lnSpc>
                <a:spcPts val="3779"/>
              </a:lnSpc>
            </a:pPr>
            <a:r>
              <a:rPr lang="en-US" sz="2700">
                <a:solidFill>
                  <a:srgbClr val="000000"/>
                </a:solidFill>
                <a:latin typeface="Noto Sans"/>
                <a:ea typeface="Noto Sans"/>
                <a:cs typeface="Noto Sans"/>
                <a:sym typeface="Noto Sans"/>
              </a:rPr>
              <a:t>Các giá trị thiếu (NaN) được điền bằng giá trị trung vị (Median) của cột tương ứng để duy trì phân phối dữ liệu và giảm thiểu ảnh hưởng của các giá trị ngoại lai.</a:t>
            </a:r>
          </a:p>
          <a:p>
            <a:pPr algn="ctr">
              <a:lnSpc>
                <a:spcPts val="3779"/>
              </a:lnSpc>
            </a:pPr>
            <a:endParaRPr lang="en-US" sz="2700">
              <a:solidFill>
                <a:srgbClr val="000000"/>
              </a:solidFill>
              <a:latin typeface="Noto Sans"/>
              <a:ea typeface="Noto Sans"/>
              <a:cs typeface="Noto Sans"/>
              <a:sym typeface="Noto Sans"/>
            </a:endParaRPr>
          </a:p>
        </p:txBody>
      </p:sp>
      <p:sp>
        <p:nvSpPr>
          <p:cNvPr id="6" name="TextBox 6"/>
          <p:cNvSpPr txBox="1"/>
          <p:nvPr/>
        </p:nvSpPr>
        <p:spPr>
          <a:xfrm>
            <a:off x="2056757" y="6163982"/>
            <a:ext cx="7020512" cy="3437255"/>
          </a:xfrm>
          <a:prstGeom prst="rect">
            <a:avLst/>
          </a:prstGeom>
        </p:spPr>
        <p:txBody>
          <a:bodyPr lIns="0" tIns="0" rIns="0" bIns="0" rtlCol="0" anchor="t">
            <a:spAutoFit/>
          </a:bodyPr>
          <a:lstStyle/>
          <a:p>
            <a:pPr algn="l">
              <a:lnSpc>
                <a:spcPts val="3779"/>
              </a:lnSpc>
            </a:pPr>
            <a:r>
              <a:rPr lang="en-US" sz="2700" b="1">
                <a:solidFill>
                  <a:srgbClr val="000000"/>
                </a:solidFill>
                <a:latin typeface="Noto Sans Bold"/>
                <a:ea typeface="Noto Sans Bold"/>
                <a:cs typeface="Noto Sans Bold"/>
                <a:sym typeface="Noto Sans Bold"/>
              </a:rPr>
              <a:t>Chuẩn hóa đặc trưng số </a:t>
            </a:r>
          </a:p>
          <a:p>
            <a:pPr algn="l">
              <a:lnSpc>
                <a:spcPts val="3779"/>
              </a:lnSpc>
            </a:pPr>
            <a:r>
              <a:rPr lang="en-US" sz="2700">
                <a:solidFill>
                  <a:srgbClr val="000000"/>
                </a:solidFill>
                <a:latin typeface="Noto Sans"/>
                <a:ea typeface="Noto Sans"/>
                <a:cs typeface="Noto Sans"/>
                <a:sym typeface="Noto Sans"/>
              </a:rPr>
              <a:t>Các đặc trưng số được chuẩn hóa bằng StandardScaler để đưa chúng về cùng một tỷ lệ, giúp các thuật toán nhạy cảm với thang đo (như KNN, Logistic Regression) hoạt động hiệu quả hơn.</a:t>
            </a:r>
          </a:p>
          <a:p>
            <a:pPr algn="l">
              <a:lnSpc>
                <a:spcPts val="4759"/>
              </a:lnSpc>
            </a:pPr>
            <a:endParaRPr lang="en-US" sz="2700">
              <a:solidFill>
                <a:srgbClr val="000000"/>
              </a:solidFill>
              <a:latin typeface="Noto Sans"/>
              <a:ea typeface="Noto Sans"/>
              <a:cs typeface="Noto Sans"/>
              <a:sym typeface="Noto Sans"/>
            </a:endParaRPr>
          </a:p>
        </p:txBody>
      </p:sp>
      <p:sp>
        <p:nvSpPr>
          <p:cNvPr id="7" name="TextBox 7"/>
          <p:cNvSpPr txBox="1"/>
          <p:nvPr/>
        </p:nvSpPr>
        <p:spPr>
          <a:xfrm>
            <a:off x="9535332" y="6200650"/>
            <a:ext cx="7055181" cy="2961005"/>
          </a:xfrm>
          <a:prstGeom prst="rect">
            <a:avLst/>
          </a:prstGeom>
        </p:spPr>
        <p:txBody>
          <a:bodyPr lIns="0" tIns="0" rIns="0" bIns="0" rtlCol="0" anchor="t">
            <a:spAutoFit/>
          </a:bodyPr>
          <a:lstStyle/>
          <a:p>
            <a:pPr algn="l">
              <a:lnSpc>
                <a:spcPts val="3779"/>
              </a:lnSpc>
            </a:pPr>
            <a:r>
              <a:rPr lang="en-US" sz="2700" b="1">
                <a:solidFill>
                  <a:srgbClr val="000000"/>
                </a:solidFill>
                <a:latin typeface="Noto Sans Bold"/>
                <a:ea typeface="Noto Sans Bold"/>
                <a:cs typeface="Noto Sans Bold"/>
                <a:sym typeface="Noto Sans Bold"/>
              </a:rPr>
              <a:t>Chia tập huấn luyện/kiểm thử</a:t>
            </a:r>
          </a:p>
          <a:p>
            <a:pPr algn="l">
              <a:lnSpc>
                <a:spcPts val="3779"/>
              </a:lnSpc>
            </a:pPr>
            <a:r>
              <a:rPr lang="en-US" sz="2700">
                <a:solidFill>
                  <a:srgbClr val="000000"/>
                </a:solidFill>
                <a:latin typeface="Noto Sans"/>
                <a:ea typeface="Noto Sans"/>
                <a:cs typeface="Noto Sans"/>
                <a:sym typeface="Noto Sans"/>
              </a:rPr>
              <a:t>Bộ dữ liệu được chia thành 80% cho tập huấn luyện (train set) và 20% cho tập kiểm thử (test set) để đánh giá khả năng tổng quát hóa của mô hình.</a:t>
            </a:r>
          </a:p>
          <a:p>
            <a:pPr algn="l">
              <a:lnSpc>
                <a:spcPts val="4759"/>
              </a:lnSpc>
            </a:pPr>
            <a:endParaRPr lang="en-US" sz="2700">
              <a:solidFill>
                <a:srgbClr val="000000"/>
              </a:solidFill>
              <a:latin typeface="Noto Sans"/>
              <a:ea typeface="Noto Sans"/>
              <a:cs typeface="Noto Sans"/>
              <a:sym typeface="No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28700"/>
            <a:ext cx="6544617" cy="1200150"/>
          </a:xfrm>
          <a:prstGeom prst="rect">
            <a:avLst/>
          </a:prstGeom>
        </p:spPr>
        <p:txBody>
          <a:bodyPr lIns="0" tIns="0" rIns="0" bIns="0" rtlCol="0" anchor="t">
            <a:spAutoFit/>
          </a:bodyPr>
          <a:lstStyle/>
          <a:p>
            <a:pPr algn="l">
              <a:lnSpc>
                <a:spcPts val="4799"/>
              </a:lnSpc>
            </a:pPr>
            <a:r>
              <a:rPr lang="en-US" sz="3999" b="1">
                <a:solidFill>
                  <a:srgbClr val="1836B2"/>
                </a:solidFill>
                <a:latin typeface="Muli Bold"/>
                <a:ea typeface="Muli Bold"/>
                <a:cs typeface="Muli Bold"/>
                <a:sym typeface="Muli Bold"/>
              </a:rPr>
              <a:t> CHUẨN BỊ ĐẶC TRƯNG (FEATURE ENGINEERING)</a:t>
            </a:r>
          </a:p>
        </p:txBody>
      </p:sp>
      <p:sp>
        <p:nvSpPr>
          <p:cNvPr id="3" name="TextBox 3"/>
          <p:cNvSpPr txBox="1"/>
          <p:nvPr/>
        </p:nvSpPr>
        <p:spPr>
          <a:xfrm>
            <a:off x="1028700" y="3905571"/>
            <a:ext cx="6800745" cy="2594610"/>
          </a:xfrm>
          <a:prstGeom prst="rect">
            <a:avLst/>
          </a:prstGeom>
        </p:spPr>
        <p:txBody>
          <a:bodyPr lIns="0" tIns="0" rIns="0" bIns="0" rtlCol="0" anchor="t">
            <a:spAutoFit/>
          </a:bodyPr>
          <a:lstStyle/>
          <a:p>
            <a:pPr algn="l">
              <a:lnSpc>
                <a:spcPts val="4170"/>
              </a:lnSpc>
            </a:pPr>
            <a:r>
              <a:rPr lang="en-US" sz="3000" spc="15">
                <a:solidFill>
                  <a:srgbClr val="000000"/>
                </a:solidFill>
                <a:latin typeface="Muli Light"/>
                <a:ea typeface="Muli Light"/>
                <a:cs typeface="Muli Light"/>
                <a:sym typeface="Muli Light"/>
              </a:rPr>
              <a:t>Tạo ra các đặc trưng mới từ dữ liệu hiện có giúp mô hình học được những mẫu hình phức tạp hơn và cải thiện hiệu suất dự đoán.</a:t>
            </a:r>
          </a:p>
          <a:p>
            <a:pPr algn="l">
              <a:lnSpc>
                <a:spcPts val="4170"/>
              </a:lnSpc>
            </a:pPr>
            <a:endParaRPr lang="en-US" sz="3000" spc="15">
              <a:solidFill>
                <a:srgbClr val="000000"/>
              </a:solidFill>
              <a:latin typeface="Muli Light"/>
              <a:ea typeface="Muli Light"/>
              <a:cs typeface="Muli Light"/>
              <a:sym typeface="Muli Light"/>
            </a:endParaRPr>
          </a:p>
        </p:txBody>
      </p:sp>
      <p:sp>
        <p:nvSpPr>
          <p:cNvPr id="4" name="TextBox 4"/>
          <p:cNvSpPr txBox="1"/>
          <p:nvPr/>
        </p:nvSpPr>
        <p:spPr>
          <a:xfrm>
            <a:off x="10369499" y="2490706"/>
            <a:ext cx="6402407" cy="931545"/>
          </a:xfrm>
          <a:prstGeom prst="rect">
            <a:avLst/>
          </a:prstGeom>
        </p:spPr>
        <p:txBody>
          <a:bodyPr lIns="0" tIns="0" rIns="0" bIns="0" rtlCol="0" anchor="t">
            <a:spAutoFit/>
          </a:bodyPr>
          <a:lstStyle/>
          <a:p>
            <a:pPr marL="0" lvl="0" indent="0" algn="l">
              <a:lnSpc>
                <a:spcPts val="3780"/>
              </a:lnSpc>
              <a:spcBef>
                <a:spcPct val="0"/>
              </a:spcBef>
            </a:pPr>
            <a:r>
              <a:rPr lang="en-US" sz="2700" u="none" spc="13">
                <a:solidFill>
                  <a:srgbClr val="000000"/>
                </a:solidFill>
                <a:latin typeface="Muli Light"/>
                <a:ea typeface="Muli Light"/>
                <a:cs typeface="Muli Light"/>
                <a:sym typeface="Muli Light"/>
              </a:rPr>
              <a:t>Tạo nhóm tuổi (Age_Group)</a:t>
            </a:r>
          </a:p>
          <a:p>
            <a:pPr marL="0" lvl="0" indent="0" algn="l">
              <a:lnSpc>
                <a:spcPts val="3780"/>
              </a:lnSpc>
              <a:spcBef>
                <a:spcPct val="0"/>
              </a:spcBef>
            </a:pPr>
            <a:endParaRPr lang="en-US" sz="2700" u="none" spc="13">
              <a:solidFill>
                <a:srgbClr val="000000"/>
              </a:solidFill>
              <a:latin typeface="Muli Light"/>
              <a:ea typeface="Muli Light"/>
              <a:cs typeface="Muli Light"/>
              <a:sym typeface="Muli Light"/>
            </a:endParaRPr>
          </a:p>
        </p:txBody>
      </p:sp>
      <p:sp>
        <p:nvSpPr>
          <p:cNvPr id="5" name="AutoShape 5"/>
          <p:cNvSpPr/>
          <p:nvPr/>
        </p:nvSpPr>
        <p:spPr>
          <a:xfrm rot="-10800000">
            <a:off x="10369499" y="3552949"/>
            <a:ext cx="6402407" cy="0"/>
          </a:xfrm>
          <a:prstGeom prst="line">
            <a:avLst/>
          </a:prstGeom>
          <a:ln w="28575" cap="rnd">
            <a:solidFill>
              <a:srgbClr val="1836B2"/>
            </a:solidFill>
            <a:prstDash val="solid"/>
            <a:headEnd type="none" w="sm" len="sm"/>
            <a:tailEnd type="none" w="sm" len="sm"/>
          </a:ln>
        </p:spPr>
        <p:txBody>
          <a:bodyPr/>
          <a:lstStyle/>
          <a:p>
            <a:endParaRPr lang="en-US"/>
          </a:p>
        </p:txBody>
      </p:sp>
      <p:sp>
        <p:nvSpPr>
          <p:cNvPr id="6" name="TextBox 6"/>
          <p:cNvSpPr txBox="1"/>
          <p:nvPr/>
        </p:nvSpPr>
        <p:spPr>
          <a:xfrm>
            <a:off x="10369499" y="5423651"/>
            <a:ext cx="6402407" cy="931545"/>
          </a:xfrm>
          <a:prstGeom prst="rect">
            <a:avLst/>
          </a:prstGeom>
        </p:spPr>
        <p:txBody>
          <a:bodyPr lIns="0" tIns="0" rIns="0" bIns="0" rtlCol="0" anchor="t">
            <a:spAutoFit/>
          </a:bodyPr>
          <a:lstStyle/>
          <a:p>
            <a:pPr marL="0" lvl="0" indent="0" algn="l">
              <a:lnSpc>
                <a:spcPts val="3780"/>
              </a:lnSpc>
              <a:spcBef>
                <a:spcPct val="0"/>
              </a:spcBef>
            </a:pPr>
            <a:r>
              <a:rPr lang="en-US" sz="2700" spc="13">
                <a:solidFill>
                  <a:srgbClr val="000000"/>
                </a:solidFill>
                <a:latin typeface="Muli Light"/>
                <a:ea typeface="Muli Light"/>
                <a:cs typeface="Muli Light"/>
                <a:sym typeface="Muli Light"/>
              </a:rPr>
              <a:t>Tạo nhóm BMI (Risk_BMI)</a:t>
            </a:r>
          </a:p>
          <a:p>
            <a:pPr marL="0" lvl="0" indent="0" algn="l">
              <a:lnSpc>
                <a:spcPts val="3780"/>
              </a:lnSpc>
              <a:spcBef>
                <a:spcPct val="0"/>
              </a:spcBef>
            </a:pPr>
            <a:endParaRPr lang="en-US" sz="2700" spc="13">
              <a:solidFill>
                <a:srgbClr val="000000"/>
              </a:solidFill>
              <a:latin typeface="Muli Light"/>
              <a:ea typeface="Muli Light"/>
              <a:cs typeface="Muli Light"/>
              <a:sym typeface="Muli Light"/>
            </a:endParaRPr>
          </a:p>
        </p:txBody>
      </p:sp>
      <p:sp>
        <p:nvSpPr>
          <p:cNvPr id="7" name="AutoShape 7"/>
          <p:cNvSpPr/>
          <p:nvPr/>
        </p:nvSpPr>
        <p:spPr>
          <a:xfrm rot="-10800000">
            <a:off x="10369499" y="6485894"/>
            <a:ext cx="6402407" cy="0"/>
          </a:xfrm>
          <a:prstGeom prst="line">
            <a:avLst/>
          </a:prstGeom>
          <a:ln w="28575" cap="rnd">
            <a:solidFill>
              <a:srgbClr val="1836B2"/>
            </a:solidFill>
            <a:prstDash val="solid"/>
            <a:headEnd type="none" w="sm" len="sm"/>
            <a:tailEnd type="none" w="sm" len="sm"/>
          </a:ln>
        </p:spPr>
        <p:txBody>
          <a:bodyPr/>
          <a:lstStyle/>
          <a:p>
            <a:endParaRPr lang="en-US"/>
          </a:p>
        </p:txBody>
      </p:sp>
      <p:sp>
        <p:nvSpPr>
          <p:cNvPr id="8" name="Freeform 8"/>
          <p:cNvSpPr/>
          <p:nvPr/>
        </p:nvSpPr>
        <p:spPr>
          <a:xfrm flipH="1">
            <a:off x="-2528531" y="7510355"/>
            <a:ext cx="8370405" cy="4779226"/>
          </a:xfrm>
          <a:custGeom>
            <a:avLst/>
            <a:gdLst/>
            <a:ahLst/>
            <a:cxnLst/>
            <a:rect l="l" t="t" r="r" b="b"/>
            <a:pathLst>
              <a:path w="8370405" h="4779226">
                <a:moveTo>
                  <a:pt x="8370405" y="0"/>
                </a:moveTo>
                <a:lnTo>
                  <a:pt x="0" y="0"/>
                </a:lnTo>
                <a:lnTo>
                  <a:pt x="0" y="4779227"/>
                </a:lnTo>
                <a:lnTo>
                  <a:pt x="8370405" y="4779227"/>
                </a:lnTo>
                <a:lnTo>
                  <a:pt x="8370405" y="0"/>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en-US"/>
          </a:p>
        </p:txBody>
      </p:sp>
      <p:sp>
        <p:nvSpPr>
          <p:cNvPr id="9" name="TextBox 9"/>
          <p:cNvSpPr txBox="1"/>
          <p:nvPr/>
        </p:nvSpPr>
        <p:spPr>
          <a:xfrm>
            <a:off x="10394621" y="7462730"/>
            <a:ext cx="6029920" cy="1046480"/>
          </a:xfrm>
          <a:prstGeom prst="rect">
            <a:avLst/>
          </a:prstGeom>
        </p:spPr>
        <p:txBody>
          <a:bodyPr lIns="0" tIns="0" rIns="0" bIns="0" rtlCol="0" anchor="t">
            <a:spAutoFit/>
          </a:bodyPr>
          <a:lstStyle/>
          <a:p>
            <a:pPr algn="ctr">
              <a:lnSpc>
                <a:spcPts val="3779"/>
              </a:lnSpc>
            </a:pPr>
            <a:r>
              <a:rPr lang="en-US" sz="2700">
                <a:solidFill>
                  <a:srgbClr val="000000"/>
                </a:solidFill>
                <a:latin typeface="Muli"/>
                <a:ea typeface="Muli"/>
                <a:cs typeface="Muli"/>
                <a:sym typeface="Muli"/>
              </a:rPr>
              <a:t>Tạo phân loại Glucose (Glucose_Level)</a:t>
            </a:r>
          </a:p>
          <a:p>
            <a:pPr algn="ctr">
              <a:lnSpc>
                <a:spcPts val="4759"/>
              </a:lnSpc>
            </a:pPr>
            <a:endParaRPr lang="en-US" sz="2700">
              <a:solidFill>
                <a:srgbClr val="000000"/>
              </a:solidFill>
              <a:latin typeface="Muli"/>
              <a:ea typeface="Muli"/>
              <a:cs typeface="Muli"/>
              <a:sym typeface="Mul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93012" y="2010517"/>
            <a:ext cx="341236" cy="295542"/>
            <a:chOff x="0" y="0"/>
            <a:chExt cx="6202680" cy="5372100"/>
          </a:xfrm>
        </p:grpSpPr>
        <p:sp>
          <p:nvSpPr>
            <p:cNvPr id="3" name="Freeform 3"/>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sp>
        <p:nvSpPr>
          <p:cNvPr id="4" name="TextBox 4"/>
          <p:cNvSpPr txBox="1"/>
          <p:nvPr/>
        </p:nvSpPr>
        <p:spPr>
          <a:xfrm>
            <a:off x="2527862" y="2569210"/>
            <a:ext cx="5714493" cy="1884045"/>
          </a:xfrm>
          <a:prstGeom prst="rect">
            <a:avLst/>
          </a:prstGeom>
        </p:spPr>
        <p:txBody>
          <a:bodyPr lIns="0" tIns="0" rIns="0" bIns="0" rtlCol="0" anchor="t">
            <a:spAutoFit/>
          </a:bodyPr>
          <a:lstStyle/>
          <a:p>
            <a:pPr algn="l">
              <a:lnSpc>
                <a:spcPts val="3780"/>
              </a:lnSpc>
            </a:pPr>
            <a:r>
              <a:rPr lang="en-US" sz="2700" spc="13">
                <a:solidFill>
                  <a:srgbClr val="000000"/>
                </a:solidFill>
                <a:latin typeface="Muli Light"/>
                <a:ea typeface="Muli Light"/>
                <a:cs typeface="Muli Light"/>
                <a:sym typeface="Muli Light"/>
              </a:rPr>
              <a:t>Một mô hình tuyến tính đơn giản nhưng hiệu quả cho bài toán phân loại nhị phân, dễ hiểu và diễn giải.</a:t>
            </a:r>
          </a:p>
          <a:p>
            <a:pPr algn="l">
              <a:lnSpc>
                <a:spcPts val="3780"/>
              </a:lnSpc>
            </a:pPr>
            <a:endParaRPr lang="en-US" sz="2700" spc="13">
              <a:solidFill>
                <a:srgbClr val="000000"/>
              </a:solidFill>
              <a:latin typeface="Muli Light"/>
              <a:ea typeface="Muli Light"/>
              <a:cs typeface="Muli Light"/>
              <a:sym typeface="Muli Light"/>
            </a:endParaRPr>
          </a:p>
        </p:txBody>
      </p:sp>
      <p:sp>
        <p:nvSpPr>
          <p:cNvPr id="5" name="TextBox 5"/>
          <p:cNvSpPr txBox="1"/>
          <p:nvPr/>
        </p:nvSpPr>
        <p:spPr>
          <a:xfrm>
            <a:off x="2527862" y="1892990"/>
            <a:ext cx="5714493"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Logistic Regression</a:t>
            </a:r>
          </a:p>
        </p:txBody>
      </p:sp>
      <p:grpSp>
        <p:nvGrpSpPr>
          <p:cNvPr id="6" name="Group 6"/>
          <p:cNvGrpSpPr/>
          <p:nvPr/>
        </p:nvGrpSpPr>
        <p:grpSpPr>
          <a:xfrm rot="-10800000">
            <a:off x="1793012" y="5907955"/>
            <a:ext cx="341236" cy="295542"/>
            <a:chOff x="0" y="0"/>
            <a:chExt cx="6202680" cy="5372100"/>
          </a:xfrm>
        </p:grpSpPr>
        <p:sp>
          <p:nvSpPr>
            <p:cNvPr id="7" name="Freeform 7"/>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sp>
        <p:nvSpPr>
          <p:cNvPr id="8" name="TextBox 8"/>
          <p:cNvSpPr txBox="1"/>
          <p:nvPr/>
        </p:nvSpPr>
        <p:spPr>
          <a:xfrm>
            <a:off x="2320568" y="6155873"/>
            <a:ext cx="5887839" cy="2836545"/>
          </a:xfrm>
          <a:prstGeom prst="rect">
            <a:avLst/>
          </a:prstGeom>
        </p:spPr>
        <p:txBody>
          <a:bodyPr lIns="0" tIns="0" rIns="0" bIns="0" rtlCol="0" anchor="t">
            <a:spAutoFit/>
          </a:bodyPr>
          <a:lstStyle/>
          <a:p>
            <a:pPr algn="l">
              <a:lnSpc>
                <a:spcPts val="3780"/>
              </a:lnSpc>
            </a:pPr>
            <a:endParaRPr/>
          </a:p>
          <a:p>
            <a:pPr algn="l">
              <a:lnSpc>
                <a:spcPts val="3780"/>
              </a:lnSpc>
            </a:pPr>
            <a:r>
              <a:rPr lang="en-US" sz="2700" spc="13">
                <a:solidFill>
                  <a:srgbClr val="000000"/>
                </a:solidFill>
                <a:latin typeface="Muli Light"/>
                <a:ea typeface="Muli Light"/>
                <a:cs typeface="Muli Light"/>
                <a:sym typeface="Muli Light"/>
              </a:rPr>
              <a:t>Là một thuật toán ensemble sử dụng nhiều cây quyết định. Mạnh mẽ trong việc xử lý dữ liệu phức tạp, ít bị overfitting và có độ chính xác cao.</a:t>
            </a:r>
          </a:p>
          <a:p>
            <a:pPr algn="l">
              <a:lnSpc>
                <a:spcPts val="3780"/>
              </a:lnSpc>
            </a:pPr>
            <a:endParaRPr lang="en-US" sz="2700" spc="13">
              <a:solidFill>
                <a:srgbClr val="000000"/>
              </a:solidFill>
              <a:latin typeface="Muli Light"/>
              <a:ea typeface="Muli Light"/>
              <a:cs typeface="Muli Light"/>
              <a:sym typeface="Muli Light"/>
            </a:endParaRPr>
          </a:p>
        </p:txBody>
      </p:sp>
      <p:sp>
        <p:nvSpPr>
          <p:cNvPr id="9" name="TextBox 9"/>
          <p:cNvSpPr txBox="1"/>
          <p:nvPr/>
        </p:nvSpPr>
        <p:spPr>
          <a:xfrm>
            <a:off x="2527862" y="5790428"/>
            <a:ext cx="5714493"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Random Forest</a:t>
            </a:r>
          </a:p>
        </p:txBody>
      </p:sp>
      <p:grpSp>
        <p:nvGrpSpPr>
          <p:cNvPr id="10" name="Group 10"/>
          <p:cNvGrpSpPr/>
          <p:nvPr/>
        </p:nvGrpSpPr>
        <p:grpSpPr>
          <a:xfrm>
            <a:off x="680652" y="9515874"/>
            <a:ext cx="16926697" cy="1542251"/>
            <a:chOff x="0" y="0"/>
            <a:chExt cx="58960502" cy="5372100"/>
          </a:xfrm>
        </p:grpSpPr>
        <p:sp>
          <p:nvSpPr>
            <p:cNvPr id="11" name="Freeform 11"/>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txBody>
            <a:bodyPr/>
            <a:lstStyle/>
            <a:p>
              <a:endParaRPr lang="en-US"/>
            </a:p>
          </p:txBody>
        </p:sp>
      </p:grpSp>
      <p:grpSp>
        <p:nvGrpSpPr>
          <p:cNvPr id="12" name="Group 12"/>
          <p:cNvGrpSpPr/>
          <p:nvPr/>
        </p:nvGrpSpPr>
        <p:grpSpPr>
          <a:xfrm rot="-10800000">
            <a:off x="10045645" y="2010517"/>
            <a:ext cx="341236" cy="295542"/>
            <a:chOff x="0" y="0"/>
            <a:chExt cx="6202680" cy="5372100"/>
          </a:xfrm>
        </p:grpSpPr>
        <p:sp>
          <p:nvSpPr>
            <p:cNvPr id="13" name="Freeform 13"/>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sp>
        <p:nvSpPr>
          <p:cNvPr id="14" name="TextBox 14"/>
          <p:cNvSpPr txBox="1"/>
          <p:nvPr/>
        </p:nvSpPr>
        <p:spPr>
          <a:xfrm>
            <a:off x="10780495" y="2569210"/>
            <a:ext cx="5714493" cy="2360295"/>
          </a:xfrm>
          <a:prstGeom prst="rect">
            <a:avLst/>
          </a:prstGeom>
        </p:spPr>
        <p:txBody>
          <a:bodyPr lIns="0" tIns="0" rIns="0" bIns="0" rtlCol="0" anchor="t">
            <a:spAutoFit/>
          </a:bodyPr>
          <a:lstStyle/>
          <a:p>
            <a:pPr algn="l">
              <a:lnSpc>
                <a:spcPts val="3780"/>
              </a:lnSpc>
            </a:pPr>
            <a:r>
              <a:rPr lang="en-US" sz="2700" spc="13">
                <a:solidFill>
                  <a:srgbClr val="000000"/>
                </a:solidFill>
                <a:latin typeface="Muli Light"/>
                <a:ea typeface="Muli Light"/>
                <a:cs typeface="Muli Light"/>
                <a:sym typeface="Muli Light"/>
              </a:rPr>
              <a:t>Dựa trên định lý Bayes với giả định độc lập có điều kiện. Hoạt động tốt với tập dữ liệu lớn và thường nhanh chóng trong huấn luyện.</a:t>
            </a:r>
          </a:p>
          <a:p>
            <a:pPr algn="l">
              <a:lnSpc>
                <a:spcPts val="3780"/>
              </a:lnSpc>
            </a:pPr>
            <a:endParaRPr lang="en-US" sz="2700" spc="13">
              <a:solidFill>
                <a:srgbClr val="000000"/>
              </a:solidFill>
              <a:latin typeface="Muli Light"/>
              <a:ea typeface="Muli Light"/>
              <a:cs typeface="Muli Light"/>
              <a:sym typeface="Muli Light"/>
            </a:endParaRPr>
          </a:p>
        </p:txBody>
      </p:sp>
      <p:sp>
        <p:nvSpPr>
          <p:cNvPr id="15" name="TextBox 15"/>
          <p:cNvSpPr txBox="1"/>
          <p:nvPr/>
        </p:nvSpPr>
        <p:spPr>
          <a:xfrm>
            <a:off x="10780495" y="1892990"/>
            <a:ext cx="5714493"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Naive Bayes</a:t>
            </a:r>
          </a:p>
        </p:txBody>
      </p:sp>
      <p:grpSp>
        <p:nvGrpSpPr>
          <p:cNvPr id="16" name="Group 16"/>
          <p:cNvGrpSpPr/>
          <p:nvPr/>
        </p:nvGrpSpPr>
        <p:grpSpPr>
          <a:xfrm rot="-10800000">
            <a:off x="10045645" y="5907955"/>
            <a:ext cx="341236" cy="295542"/>
            <a:chOff x="0" y="0"/>
            <a:chExt cx="6202680" cy="5372100"/>
          </a:xfrm>
        </p:grpSpPr>
        <p:sp>
          <p:nvSpPr>
            <p:cNvPr id="17" name="Freeform 17"/>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txBody>
            <a:bodyPr/>
            <a:lstStyle/>
            <a:p>
              <a:endParaRPr lang="en-US"/>
            </a:p>
          </p:txBody>
        </p:sp>
      </p:grpSp>
      <p:sp>
        <p:nvSpPr>
          <p:cNvPr id="18" name="TextBox 18"/>
          <p:cNvSpPr txBox="1"/>
          <p:nvPr/>
        </p:nvSpPr>
        <p:spPr>
          <a:xfrm>
            <a:off x="10780495" y="6688261"/>
            <a:ext cx="5714493" cy="2360295"/>
          </a:xfrm>
          <a:prstGeom prst="rect">
            <a:avLst/>
          </a:prstGeom>
        </p:spPr>
        <p:txBody>
          <a:bodyPr lIns="0" tIns="0" rIns="0" bIns="0" rtlCol="0" anchor="t">
            <a:spAutoFit/>
          </a:bodyPr>
          <a:lstStyle/>
          <a:p>
            <a:pPr algn="l">
              <a:lnSpc>
                <a:spcPts val="3780"/>
              </a:lnSpc>
            </a:pPr>
            <a:r>
              <a:rPr lang="en-US" sz="2700" spc="13" dirty="0" err="1">
                <a:solidFill>
                  <a:srgbClr val="000000"/>
                </a:solidFill>
                <a:latin typeface="Muli Light"/>
                <a:ea typeface="Muli Light"/>
                <a:cs typeface="Muli Light"/>
                <a:sym typeface="Muli Light"/>
              </a:rPr>
              <a:t>Thuật</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toán</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phân</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loại</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dựa</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trên</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khoảng</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cách</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dự</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đoán</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nhãn</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của</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một</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điểm</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dữ</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liệu</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dựa</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trên</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nhãn</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của</a:t>
            </a:r>
            <a:r>
              <a:rPr lang="en-US" sz="2700" spc="13" dirty="0">
                <a:solidFill>
                  <a:srgbClr val="000000"/>
                </a:solidFill>
                <a:latin typeface="Muli Light"/>
                <a:ea typeface="Muli Light"/>
                <a:cs typeface="Muli Light"/>
                <a:sym typeface="Muli Light"/>
              </a:rPr>
              <a:t> 'k' </a:t>
            </a:r>
            <a:r>
              <a:rPr lang="en-US" sz="2700" spc="13" dirty="0" err="1">
                <a:solidFill>
                  <a:srgbClr val="000000"/>
                </a:solidFill>
                <a:latin typeface="Muli Light"/>
                <a:ea typeface="Muli Light"/>
                <a:cs typeface="Muli Light"/>
                <a:sym typeface="Muli Light"/>
              </a:rPr>
              <a:t>điểm</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lân</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cận</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gần</a:t>
            </a:r>
            <a:r>
              <a:rPr lang="en-US" sz="2700" spc="13" dirty="0">
                <a:solidFill>
                  <a:srgbClr val="000000"/>
                </a:solidFill>
                <a:latin typeface="Muli Light"/>
                <a:ea typeface="Muli Light"/>
                <a:cs typeface="Muli Light"/>
                <a:sym typeface="Muli Light"/>
              </a:rPr>
              <a:t> </a:t>
            </a:r>
            <a:r>
              <a:rPr lang="en-US" sz="2700" spc="13" dirty="0" err="1">
                <a:solidFill>
                  <a:srgbClr val="000000"/>
                </a:solidFill>
                <a:latin typeface="Muli Light"/>
                <a:ea typeface="Muli Light"/>
                <a:cs typeface="Muli Light"/>
                <a:sym typeface="Muli Light"/>
              </a:rPr>
              <a:t>nhất</a:t>
            </a:r>
            <a:r>
              <a:rPr lang="en-US" sz="2700" spc="13" dirty="0">
                <a:solidFill>
                  <a:srgbClr val="000000"/>
                </a:solidFill>
                <a:latin typeface="Muli Light"/>
                <a:ea typeface="Muli Light"/>
                <a:cs typeface="Muli Light"/>
                <a:sym typeface="Muli Light"/>
              </a:rPr>
              <a:t>.</a:t>
            </a:r>
          </a:p>
          <a:p>
            <a:pPr algn="l">
              <a:lnSpc>
                <a:spcPts val="3780"/>
              </a:lnSpc>
            </a:pPr>
            <a:endParaRPr lang="en-US" sz="2700" spc="13" dirty="0">
              <a:solidFill>
                <a:srgbClr val="000000"/>
              </a:solidFill>
              <a:latin typeface="Muli Light"/>
              <a:ea typeface="Muli Light"/>
              <a:cs typeface="Muli Light"/>
              <a:sym typeface="Muli Light"/>
            </a:endParaRPr>
          </a:p>
        </p:txBody>
      </p:sp>
      <p:sp>
        <p:nvSpPr>
          <p:cNvPr id="19" name="TextBox 19"/>
          <p:cNvSpPr txBox="1"/>
          <p:nvPr/>
        </p:nvSpPr>
        <p:spPr>
          <a:xfrm>
            <a:off x="10780495" y="5790428"/>
            <a:ext cx="6303869"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KNN (K-Nearest Neighbors)</a:t>
            </a:r>
          </a:p>
        </p:txBody>
      </p:sp>
      <p:sp>
        <p:nvSpPr>
          <p:cNvPr id="20" name="TextBox 20"/>
          <p:cNvSpPr txBox="1"/>
          <p:nvPr/>
        </p:nvSpPr>
        <p:spPr>
          <a:xfrm>
            <a:off x="1028700" y="398780"/>
            <a:ext cx="8572500" cy="629920"/>
          </a:xfrm>
          <a:prstGeom prst="rect">
            <a:avLst/>
          </a:prstGeom>
        </p:spPr>
        <p:txBody>
          <a:bodyPr wrap="square" lIns="0" tIns="0" rIns="0" bIns="0" rtlCol="0" anchor="t">
            <a:spAutoFit/>
          </a:bodyPr>
          <a:lstStyle/>
          <a:p>
            <a:pPr algn="ctr">
              <a:lnSpc>
                <a:spcPts val="5179"/>
              </a:lnSpc>
            </a:pPr>
            <a:r>
              <a:rPr lang="en-US" sz="3699" b="1" dirty="0">
                <a:solidFill>
                  <a:srgbClr val="1836B2"/>
                </a:solidFill>
                <a:latin typeface="Noto Sans Bold"/>
                <a:ea typeface="Noto Sans Bold"/>
                <a:cs typeface="Noto Sans Bold"/>
                <a:sym typeface="Noto Sans Bold"/>
              </a:rPr>
              <a:t>CÁC MÔ HÌNH ĐƯỢC SỬ DỤNG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400000">
            <a:off x="3790070" y="5129212"/>
            <a:ext cx="10703767" cy="0"/>
          </a:xfrm>
          <a:prstGeom prst="line">
            <a:avLst/>
          </a:prstGeom>
          <a:ln w="28575" cap="rnd">
            <a:solidFill>
              <a:srgbClr val="86C7ED"/>
            </a:solidFill>
            <a:prstDash val="solid"/>
            <a:headEnd type="none" w="sm" len="sm"/>
            <a:tailEnd type="none" w="sm" len="sm"/>
          </a:ln>
        </p:spPr>
        <p:txBody>
          <a:bodyPr/>
          <a:lstStyle/>
          <a:p>
            <a:endParaRPr lang="en-US"/>
          </a:p>
        </p:txBody>
      </p:sp>
      <p:sp>
        <p:nvSpPr>
          <p:cNvPr id="3" name="Freeform 3"/>
          <p:cNvSpPr/>
          <p:nvPr/>
        </p:nvSpPr>
        <p:spPr>
          <a:xfrm>
            <a:off x="392752" y="3781053"/>
            <a:ext cx="8332494" cy="5420097"/>
          </a:xfrm>
          <a:custGeom>
            <a:avLst/>
            <a:gdLst/>
            <a:ahLst/>
            <a:cxnLst/>
            <a:rect l="l" t="t" r="r" b="b"/>
            <a:pathLst>
              <a:path w="8332494" h="5420097">
                <a:moveTo>
                  <a:pt x="0" y="0"/>
                </a:moveTo>
                <a:lnTo>
                  <a:pt x="8332494" y="0"/>
                </a:lnTo>
                <a:lnTo>
                  <a:pt x="8332494" y="5420097"/>
                </a:lnTo>
                <a:lnTo>
                  <a:pt x="0" y="5420097"/>
                </a:lnTo>
                <a:lnTo>
                  <a:pt x="0" y="0"/>
                </a:lnTo>
                <a:close/>
              </a:path>
            </a:pathLst>
          </a:custGeom>
          <a:blipFill>
            <a:blip r:embed="rId3"/>
            <a:stretch>
              <a:fillRect r="-12274"/>
            </a:stretch>
          </a:blipFill>
        </p:spPr>
        <p:txBody>
          <a:bodyPr/>
          <a:lstStyle/>
          <a:p>
            <a:endParaRPr lang="en-US"/>
          </a:p>
        </p:txBody>
      </p:sp>
      <p:sp>
        <p:nvSpPr>
          <p:cNvPr id="4" name="Freeform 4"/>
          <p:cNvSpPr/>
          <p:nvPr/>
        </p:nvSpPr>
        <p:spPr>
          <a:xfrm>
            <a:off x="9556292" y="3822616"/>
            <a:ext cx="8341823" cy="5435684"/>
          </a:xfrm>
          <a:custGeom>
            <a:avLst/>
            <a:gdLst/>
            <a:ahLst/>
            <a:cxnLst/>
            <a:rect l="l" t="t" r="r" b="b"/>
            <a:pathLst>
              <a:path w="8341823" h="5435684">
                <a:moveTo>
                  <a:pt x="0" y="0"/>
                </a:moveTo>
                <a:lnTo>
                  <a:pt x="8341823" y="0"/>
                </a:lnTo>
                <a:lnTo>
                  <a:pt x="8341823" y="5435684"/>
                </a:lnTo>
                <a:lnTo>
                  <a:pt x="0" y="5435684"/>
                </a:lnTo>
                <a:lnTo>
                  <a:pt x="0" y="0"/>
                </a:lnTo>
                <a:close/>
              </a:path>
            </a:pathLst>
          </a:custGeom>
          <a:blipFill>
            <a:blip r:embed="rId4"/>
            <a:stretch>
              <a:fillRect r="-1870"/>
            </a:stretch>
          </a:blipFill>
        </p:spPr>
        <p:txBody>
          <a:bodyPr/>
          <a:lstStyle/>
          <a:p>
            <a:endParaRPr lang="en-US"/>
          </a:p>
        </p:txBody>
      </p:sp>
      <p:sp>
        <p:nvSpPr>
          <p:cNvPr id="5" name="TextBox 5"/>
          <p:cNvSpPr txBox="1"/>
          <p:nvPr/>
        </p:nvSpPr>
        <p:spPr>
          <a:xfrm>
            <a:off x="1028700" y="1469367"/>
            <a:ext cx="6758977" cy="887095"/>
          </a:xfrm>
          <a:prstGeom prst="rect">
            <a:avLst/>
          </a:prstGeom>
        </p:spPr>
        <p:txBody>
          <a:bodyPr lIns="0" tIns="0" rIns="0" bIns="0" rtlCol="0" anchor="t">
            <a:spAutoFit/>
          </a:bodyPr>
          <a:lstStyle/>
          <a:p>
            <a:pPr algn="l">
              <a:lnSpc>
                <a:spcPts val="7279"/>
              </a:lnSpc>
              <a:spcBef>
                <a:spcPct val="0"/>
              </a:spcBef>
            </a:pPr>
            <a:r>
              <a:rPr lang="en-US" sz="5199" b="1" spc="-103">
                <a:solidFill>
                  <a:srgbClr val="1836B2"/>
                </a:solidFill>
                <a:latin typeface="Muli Bold"/>
                <a:ea typeface="Muli Bold"/>
                <a:cs typeface="Muli Bold"/>
                <a:sym typeface="Muli Bold"/>
              </a:rPr>
              <a:t>Logistic Regression</a:t>
            </a:r>
          </a:p>
        </p:txBody>
      </p:sp>
      <p:sp>
        <p:nvSpPr>
          <p:cNvPr id="6" name="TextBox 6"/>
          <p:cNvSpPr txBox="1"/>
          <p:nvPr/>
        </p:nvSpPr>
        <p:spPr>
          <a:xfrm>
            <a:off x="10812834" y="1469367"/>
            <a:ext cx="6847956" cy="887095"/>
          </a:xfrm>
          <a:prstGeom prst="rect">
            <a:avLst/>
          </a:prstGeom>
        </p:spPr>
        <p:txBody>
          <a:bodyPr lIns="0" tIns="0" rIns="0" bIns="0" rtlCol="0" anchor="t">
            <a:spAutoFit/>
          </a:bodyPr>
          <a:lstStyle/>
          <a:p>
            <a:pPr algn="l">
              <a:lnSpc>
                <a:spcPts val="7279"/>
              </a:lnSpc>
              <a:spcBef>
                <a:spcPct val="0"/>
              </a:spcBef>
            </a:pPr>
            <a:r>
              <a:rPr lang="en-US" sz="5199" b="1" spc="-103">
                <a:solidFill>
                  <a:srgbClr val="1836B2"/>
                </a:solidFill>
                <a:latin typeface="Muli Bold"/>
                <a:ea typeface="Muli Bold"/>
                <a:cs typeface="Muli Bold"/>
                <a:sym typeface="Muli Bold"/>
              </a:rPr>
              <a:t>Naive Bayes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400000">
            <a:off x="3790070" y="5129212"/>
            <a:ext cx="10703767" cy="0"/>
          </a:xfrm>
          <a:prstGeom prst="line">
            <a:avLst/>
          </a:prstGeom>
          <a:ln w="28575" cap="rnd">
            <a:solidFill>
              <a:srgbClr val="86C7ED"/>
            </a:solidFill>
            <a:prstDash val="solid"/>
            <a:headEnd type="none" w="sm" len="sm"/>
            <a:tailEnd type="none" w="sm" len="sm"/>
          </a:ln>
        </p:spPr>
        <p:txBody>
          <a:bodyPr/>
          <a:lstStyle/>
          <a:p>
            <a:endParaRPr lang="en-US"/>
          </a:p>
        </p:txBody>
      </p:sp>
      <p:sp>
        <p:nvSpPr>
          <p:cNvPr id="3" name="Freeform 3"/>
          <p:cNvSpPr/>
          <p:nvPr/>
        </p:nvSpPr>
        <p:spPr>
          <a:xfrm>
            <a:off x="618271" y="3553703"/>
            <a:ext cx="8002798" cy="5433092"/>
          </a:xfrm>
          <a:custGeom>
            <a:avLst/>
            <a:gdLst/>
            <a:ahLst/>
            <a:cxnLst/>
            <a:rect l="l" t="t" r="r" b="b"/>
            <a:pathLst>
              <a:path w="8002798" h="5433092">
                <a:moveTo>
                  <a:pt x="0" y="0"/>
                </a:moveTo>
                <a:lnTo>
                  <a:pt x="8002798" y="0"/>
                </a:lnTo>
                <a:lnTo>
                  <a:pt x="8002798" y="5433092"/>
                </a:lnTo>
                <a:lnTo>
                  <a:pt x="0" y="5433092"/>
                </a:lnTo>
                <a:lnTo>
                  <a:pt x="0" y="0"/>
                </a:lnTo>
                <a:close/>
              </a:path>
            </a:pathLst>
          </a:custGeom>
          <a:blipFill>
            <a:blip r:embed="rId3"/>
            <a:stretch>
              <a:fillRect/>
            </a:stretch>
          </a:blipFill>
        </p:spPr>
        <p:txBody>
          <a:bodyPr/>
          <a:lstStyle/>
          <a:p>
            <a:endParaRPr lang="en-US"/>
          </a:p>
        </p:txBody>
      </p:sp>
      <p:sp>
        <p:nvSpPr>
          <p:cNvPr id="4" name="Freeform 4"/>
          <p:cNvSpPr/>
          <p:nvPr/>
        </p:nvSpPr>
        <p:spPr>
          <a:xfrm>
            <a:off x="9661067" y="3577139"/>
            <a:ext cx="8346754" cy="5409656"/>
          </a:xfrm>
          <a:custGeom>
            <a:avLst/>
            <a:gdLst/>
            <a:ahLst/>
            <a:cxnLst/>
            <a:rect l="l" t="t" r="r" b="b"/>
            <a:pathLst>
              <a:path w="8346754" h="5409656">
                <a:moveTo>
                  <a:pt x="0" y="0"/>
                </a:moveTo>
                <a:lnTo>
                  <a:pt x="8346754" y="0"/>
                </a:lnTo>
                <a:lnTo>
                  <a:pt x="8346754" y="5409656"/>
                </a:lnTo>
                <a:lnTo>
                  <a:pt x="0" y="5409656"/>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711007" y="1861457"/>
            <a:ext cx="4985266" cy="887095"/>
          </a:xfrm>
          <a:prstGeom prst="rect">
            <a:avLst/>
          </a:prstGeom>
        </p:spPr>
        <p:txBody>
          <a:bodyPr lIns="0" tIns="0" rIns="0" bIns="0" rtlCol="0" anchor="t">
            <a:spAutoFit/>
          </a:bodyPr>
          <a:lstStyle/>
          <a:p>
            <a:pPr algn="ctr">
              <a:lnSpc>
                <a:spcPts val="7279"/>
              </a:lnSpc>
            </a:pPr>
            <a:r>
              <a:rPr lang="en-US" sz="5199" b="1">
                <a:solidFill>
                  <a:srgbClr val="1836B2"/>
                </a:solidFill>
                <a:latin typeface="Noto Sans Bold"/>
                <a:ea typeface="Noto Sans Bold"/>
                <a:cs typeface="Noto Sans Bold"/>
                <a:sym typeface="Noto Sans Bold"/>
              </a:rPr>
              <a:t>Random Forest</a:t>
            </a:r>
          </a:p>
        </p:txBody>
      </p:sp>
      <p:sp>
        <p:nvSpPr>
          <p:cNvPr id="6" name="TextBox 6"/>
          <p:cNvSpPr txBox="1"/>
          <p:nvPr/>
        </p:nvSpPr>
        <p:spPr>
          <a:xfrm>
            <a:off x="13102844" y="1861457"/>
            <a:ext cx="1512332" cy="887095"/>
          </a:xfrm>
          <a:prstGeom prst="rect">
            <a:avLst/>
          </a:prstGeom>
        </p:spPr>
        <p:txBody>
          <a:bodyPr lIns="0" tIns="0" rIns="0" bIns="0" rtlCol="0" anchor="t">
            <a:spAutoFit/>
          </a:bodyPr>
          <a:lstStyle/>
          <a:p>
            <a:pPr algn="ctr">
              <a:lnSpc>
                <a:spcPts val="7279"/>
              </a:lnSpc>
            </a:pPr>
            <a:r>
              <a:rPr lang="en-US" sz="5199" b="1">
                <a:solidFill>
                  <a:srgbClr val="1836B2"/>
                </a:solidFill>
                <a:latin typeface="Noto Sans Bold"/>
                <a:ea typeface="Noto Sans Bold"/>
                <a:cs typeface="Noto Sans Bold"/>
                <a:sym typeface="Noto Sans Bold"/>
              </a:rPr>
              <a:t>KNN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836B2"/>
        </a:solidFill>
        <a:effectLst/>
      </p:bgPr>
    </p:bg>
    <p:spTree>
      <p:nvGrpSpPr>
        <p:cNvPr id="1" name=""/>
        <p:cNvGrpSpPr/>
        <p:nvPr/>
      </p:nvGrpSpPr>
      <p:grpSpPr>
        <a:xfrm>
          <a:off x="0" y="0"/>
          <a:ext cx="0" cy="0"/>
          <a:chOff x="0" y="0"/>
          <a:chExt cx="0" cy="0"/>
        </a:xfrm>
      </p:grpSpPr>
      <p:sp>
        <p:nvSpPr>
          <p:cNvPr id="2" name="TextBox 2"/>
          <p:cNvSpPr txBox="1"/>
          <p:nvPr/>
        </p:nvSpPr>
        <p:spPr>
          <a:xfrm>
            <a:off x="9291397" y="2089699"/>
            <a:ext cx="7564327" cy="495905"/>
          </a:xfrm>
          <a:prstGeom prst="rect">
            <a:avLst/>
          </a:prstGeom>
        </p:spPr>
        <p:txBody>
          <a:bodyPr lIns="0" tIns="0" rIns="0" bIns="0" rtlCol="0" anchor="t">
            <a:spAutoFit/>
          </a:bodyPr>
          <a:lstStyle/>
          <a:p>
            <a:pPr>
              <a:lnSpc>
                <a:spcPts val="4200"/>
              </a:lnSpc>
            </a:pPr>
            <a:r>
              <a:rPr lang="en-US" sz="3000" spc="15" dirty="0">
                <a:solidFill>
                  <a:srgbClr val="FFFFFF"/>
                </a:solidFill>
                <a:latin typeface="Muli Light"/>
                <a:ea typeface="Muli Light"/>
                <a:cs typeface="Muli Light"/>
                <a:sym typeface="Muli Light"/>
              </a:rPr>
              <a:t>Naive Bayes </a:t>
            </a:r>
            <a:r>
              <a:rPr lang="en-US" sz="3000" spc="15" dirty="0" err="1">
                <a:solidFill>
                  <a:srgbClr val="FFFFFF"/>
                </a:solidFill>
                <a:latin typeface="Muli Light"/>
                <a:ea typeface="Muli Light"/>
                <a:cs typeface="Muli Light"/>
                <a:sym typeface="Muli Light"/>
              </a:rPr>
              <a:t>có</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hiệu</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năng</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cao</a:t>
            </a:r>
            <a:r>
              <a:rPr lang="en-US" sz="3000" spc="15" dirty="0">
                <a:solidFill>
                  <a:srgbClr val="FFFFFF"/>
                </a:solidFill>
                <a:latin typeface="Muli Light"/>
                <a:ea typeface="Muli Light"/>
                <a:cs typeface="Muli Light"/>
                <a:sym typeface="Muli Light"/>
              </a:rPr>
              <a:t> </a:t>
            </a:r>
            <a:r>
              <a:rPr lang="en-US" sz="3000" spc="15">
                <a:solidFill>
                  <a:srgbClr val="FFFFFF"/>
                </a:solidFill>
                <a:latin typeface="Muli Light"/>
                <a:ea typeface="Muli Light"/>
                <a:cs typeface="Muli Light"/>
                <a:sym typeface="Muli Light"/>
              </a:rPr>
              <a:t>nhất</a:t>
            </a:r>
            <a:endParaRPr lang="en-US" sz="3000" spc="15" dirty="0">
              <a:solidFill>
                <a:srgbClr val="FFFFFF"/>
              </a:solidFill>
              <a:latin typeface="Muli Light"/>
              <a:ea typeface="Muli Light"/>
              <a:cs typeface="Muli Light"/>
              <a:sym typeface="Muli Light"/>
            </a:endParaRPr>
          </a:p>
        </p:txBody>
      </p:sp>
      <p:grpSp>
        <p:nvGrpSpPr>
          <p:cNvPr id="3" name="Group 3"/>
          <p:cNvGrpSpPr/>
          <p:nvPr/>
        </p:nvGrpSpPr>
        <p:grpSpPr>
          <a:xfrm>
            <a:off x="7614821" y="4027005"/>
            <a:ext cx="8968429" cy="1731835"/>
            <a:chOff x="0" y="0"/>
            <a:chExt cx="11957906" cy="2309113"/>
          </a:xfrm>
        </p:grpSpPr>
        <p:sp>
          <p:nvSpPr>
            <p:cNvPr id="4" name="TextBox 4"/>
            <p:cNvSpPr txBox="1"/>
            <p:nvPr/>
          </p:nvSpPr>
          <p:spPr>
            <a:xfrm>
              <a:off x="1910975" y="931163"/>
              <a:ext cx="10046931" cy="1377950"/>
            </a:xfrm>
            <a:prstGeom prst="rect">
              <a:avLst/>
            </a:prstGeom>
          </p:spPr>
          <p:txBody>
            <a:bodyPr lIns="0" tIns="0" rIns="0" bIns="0" rtlCol="0" anchor="t">
              <a:spAutoFit/>
            </a:bodyPr>
            <a:lstStyle/>
            <a:p>
              <a:pPr>
                <a:lnSpc>
                  <a:spcPts val="4200"/>
                </a:lnSpc>
              </a:pPr>
              <a:r>
                <a:rPr lang="en-US" sz="3000" spc="15" dirty="0">
                  <a:solidFill>
                    <a:srgbClr val="FFFFFF"/>
                  </a:solidFill>
                  <a:latin typeface="Muli Light"/>
                  <a:ea typeface="Muli Light"/>
                  <a:cs typeface="Muli Light"/>
                  <a:sym typeface="Muli Light"/>
                </a:rPr>
                <a:t>Logistic Regression </a:t>
              </a:r>
              <a:r>
                <a:rPr lang="en-US" sz="3000" spc="15" dirty="0" err="1">
                  <a:solidFill>
                    <a:srgbClr val="FFFFFF"/>
                  </a:solidFill>
                  <a:latin typeface="Muli Light"/>
                  <a:ea typeface="Muli Light"/>
                  <a:cs typeface="Muli Light"/>
                  <a:sym typeface="Muli Light"/>
                </a:rPr>
                <a:t>và</a:t>
              </a:r>
              <a:r>
                <a:rPr lang="en-US" sz="3000" spc="15" dirty="0">
                  <a:solidFill>
                    <a:srgbClr val="FFFFFF"/>
                  </a:solidFill>
                  <a:latin typeface="Muli Light"/>
                  <a:ea typeface="Muli Light"/>
                  <a:cs typeface="Muli Light"/>
                  <a:sym typeface="Muli Light"/>
                </a:rPr>
                <a:t> Random Forest </a:t>
              </a:r>
              <a:r>
                <a:rPr lang="en-US" sz="3000" spc="15" dirty="0" err="1">
                  <a:solidFill>
                    <a:srgbClr val="FFFFFF"/>
                  </a:solidFill>
                  <a:latin typeface="Muli Light"/>
                  <a:ea typeface="Muli Light"/>
                  <a:cs typeface="Muli Light"/>
                  <a:sym typeface="Muli Light"/>
                </a:rPr>
                <a:t>đứng</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thứ</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hai</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ổn</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định</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và</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dễ</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giải</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thích</a:t>
              </a:r>
              <a:endParaRPr lang="en-US" sz="3000" spc="15" dirty="0">
                <a:solidFill>
                  <a:srgbClr val="FFFFFF"/>
                </a:solidFill>
                <a:latin typeface="Muli Light"/>
                <a:ea typeface="Muli Light"/>
                <a:cs typeface="Muli Light"/>
                <a:sym typeface="Muli Light"/>
              </a:endParaRPr>
            </a:p>
          </p:txBody>
        </p:sp>
        <p:sp>
          <p:nvSpPr>
            <p:cNvPr id="5" name="TextBox 5"/>
            <p:cNvSpPr txBox="1"/>
            <p:nvPr/>
          </p:nvSpPr>
          <p:spPr>
            <a:xfrm>
              <a:off x="0" y="0"/>
              <a:ext cx="3332634" cy="711200"/>
            </a:xfrm>
            <a:prstGeom prst="rect">
              <a:avLst/>
            </a:prstGeom>
          </p:spPr>
          <p:txBody>
            <a:bodyPr lIns="0" tIns="0" rIns="0" bIns="0" rtlCol="0" anchor="t">
              <a:spAutoFit/>
            </a:bodyPr>
            <a:lstStyle/>
            <a:p>
              <a:pPr algn="l">
                <a:lnSpc>
                  <a:spcPts val="4200"/>
                </a:lnSpc>
              </a:pPr>
              <a:endParaRPr/>
            </a:p>
          </p:txBody>
        </p:sp>
      </p:grpSp>
      <p:sp>
        <p:nvSpPr>
          <p:cNvPr id="6" name="TextBox 6"/>
          <p:cNvSpPr txBox="1"/>
          <p:nvPr/>
        </p:nvSpPr>
        <p:spPr>
          <a:xfrm>
            <a:off x="9291397" y="7315092"/>
            <a:ext cx="7564327" cy="1047750"/>
          </a:xfrm>
          <a:prstGeom prst="rect">
            <a:avLst/>
          </a:prstGeom>
        </p:spPr>
        <p:txBody>
          <a:bodyPr lIns="0" tIns="0" rIns="0" bIns="0" rtlCol="0" anchor="t">
            <a:spAutoFit/>
          </a:bodyPr>
          <a:lstStyle/>
          <a:p>
            <a:pPr algn="l">
              <a:lnSpc>
                <a:spcPts val="4200"/>
              </a:lnSpc>
            </a:pPr>
            <a:r>
              <a:rPr lang="en-US" sz="3000" spc="15" dirty="0">
                <a:solidFill>
                  <a:srgbClr val="FFFFFF"/>
                </a:solidFill>
                <a:latin typeface="Muli Light"/>
                <a:ea typeface="Muli Light"/>
                <a:cs typeface="Muli Light"/>
                <a:sym typeface="Muli Light"/>
              </a:rPr>
              <a:t>KNN  </a:t>
            </a:r>
            <a:r>
              <a:rPr lang="en-US" sz="3000" spc="15" dirty="0" err="1">
                <a:solidFill>
                  <a:srgbClr val="FFFFFF"/>
                </a:solidFill>
                <a:latin typeface="Muli Light"/>
                <a:ea typeface="Muli Light"/>
                <a:cs typeface="Muli Light"/>
                <a:sym typeface="Muli Light"/>
              </a:rPr>
              <a:t>cho</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kết</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quả</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thấp</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hơn</a:t>
            </a:r>
            <a:r>
              <a:rPr lang="en-US" sz="3000" spc="15" dirty="0">
                <a:solidFill>
                  <a:srgbClr val="FFFFFF"/>
                </a:solidFill>
                <a:latin typeface="Muli Light"/>
                <a:ea typeface="Muli Light"/>
                <a:cs typeface="Muli Light"/>
                <a:sym typeface="Muli Light"/>
              </a:rPr>
              <a:t> do </a:t>
            </a:r>
            <a:r>
              <a:rPr lang="en-US" sz="3000" spc="15" dirty="0" err="1">
                <a:solidFill>
                  <a:srgbClr val="FFFFFF"/>
                </a:solidFill>
                <a:latin typeface="Muli Light"/>
                <a:ea typeface="Muli Light"/>
                <a:cs typeface="Muli Light"/>
                <a:sym typeface="Muli Light"/>
              </a:rPr>
              <a:t>hạn</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chế</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với</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dữ</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liệu</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thực</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tế</a:t>
            </a:r>
            <a:endParaRPr lang="en-US" sz="3000" spc="15" dirty="0">
              <a:solidFill>
                <a:srgbClr val="FFFFFF"/>
              </a:solidFill>
              <a:latin typeface="Muli Light"/>
              <a:ea typeface="Muli Light"/>
              <a:cs typeface="Muli Light"/>
              <a:sym typeface="Muli Light"/>
            </a:endParaRPr>
          </a:p>
        </p:txBody>
      </p:sp>
      <p:sp>
        <p:nvSpPr>
          <p:cNvPr id="7" name="TextBox 7"/>
          <p:cNvSpPr txBox="1"/>
          <p:nvPr/>
        </p:nvSpPr>
        <p:spPr>
          <a:xfrm>
            <a:off x="1028700" y="1437554"/>
            <a:ext cx="5614898" cy="1466215"/>
          </a:xfrm>
          <a:prstGeom prst="rect">
            <a:avLst/>
          </a:prstGeom>
        </p:spPr>
        <p:txBody>
          <a:bodyPr lIns="0" tIns="0" rIns="0" bIns="0" rtlCol="0" anchor="t">
            <a:spAutoFit/>
          </a:bodyPr>
          <a:lstStyle/>
          <a:p>
            <a:pPr algn="l">
              <a:lnSpc>
                <a:spcPts val="5719"/>
              </a:lnSpc>
            </a:pPr>
            <a:r>
              <a:rPr lang="en-US" sz="5199" b="1">
                <a:solidFill>
                  <a:srgbClr val="FFFFFF"/>
                </a:solidFill>
                <a:latin typeface="Muli Semi-Bold"/>
                <a:ea typeface="Muli Semi-Bold"/>
                <a:cs typeface="Muli Semi-Bold"/>
                <a:sym typeface="Muli Semi-Bold"/>
              </a:rPr>
              <a:t> So sánh hiệu năng các mô hình </a:t>
            </a:r>
          </a:p>
        </p:txBody>
      </p:sp>
      <p:sp>
        <p:nvSpPr>
          <p:cNvPr id="8" name="Freeform 8"/>
          <p:cNvSpPr/>
          <p:nvPr/>
        </p:nvSpPr>
        <p:spPr>
          <a:xfrm flipH="1">
            <a:off x="-2053973" y="6773437"/>
            <a:ext cx="8370405" cy="4779226"/>
          </a:xfrm>
          <a:custGeom>
            <a:avLst/>
            <a:gdLst/>
            <a:ahLst/>
            <a:cxnLst/>
            <a:rect l="l" t="t" r="r" b="b"/>
            <a:pathLst>
              <a:path w="8370405" h="4779226">
                <a:moveTo>
                  <a:pt x="8370405" y="0"/>
                </a:moveTo>
                <a:lnTo>
                  <a:pt x="0" y="0"/>
                </a:lnTo>
                <a:lnTo>
                  <a:pt x="0" y="4779226"/>
                </a:lnTo>
                <a:lnTo>
                  <a:pt x="8370405" y="4779226"/>
                </a:lnTo>
                <a:lnTo>
                  <a:pt x="8370405" y="0"/>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A066CB"/>
        </a:solidFill>
        <a:effectLst/>
      </p:bgPr>
    </p:bg>
    <p:spTree>
      <p:nvGrpSpPr>
        <p:cNvPr id="1" name=""/>
        <p:cNvGrpSpPr/>
        <p:nvPr/>
      </p:nvGrpSpPr>
      <p:grpSpPr>
        <a:xfrm>
          <a:off x="0" y="0"/>
          <a:ext cx="0" cy="0"/>
          <a:chOff x="0" y="0"/>
          <a:chExt cx="0" cy="0"/>
        </a:xfrm>
      </p:grpSpPr>
      <p:sp>
        <p:nvSpPr>
          <p:cNvPr id="2" name="Freeform 2"/>
          <p:cNvSpPr/>
          <p:nvPr/>
        </p:nvSpPr>
        <p:spPr>
          <a:xfrm>
            <a:off x="4139021" y="2466094"/>
            <a:ext cx="1281063" cy="731445"/>
          </a:xfrm>
          <a:custGeom>
            <a:avLst/>
            <a:gdLst/>
            <a:ahLst/>
            <a:cxnLst/>
            <a:rect l="l" t="t" r="r" b="b"/>
            <a:pathLst>
              <a:path w="1281063" h="731445">
                <a:moveTo>
                  <a:pt x="0" y="0"/>
                </a:moveTo>
                <a:lnTo>
                  <a:pt x="1281063" y="0"/>
                </a:lnTo>
                <a:lnTo>
                  <a:pt x="1281063" y="731445"/>
                </a:lnTo>
                <a:lnTo>
                  <a:pt x="0" y="731445"/>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
        <p:nvSpPr>
          <p:cNvPr id="3" name="TextBox 3"/>
          <p:cNvSpPr txBox="1"/>
          <p:nvPr/>
        </p:nvSpPr>
        <p:spPr>
          <a:xfrm>
            <a:off x="1028700" y="613673"/>
            <a:ext cx="6487458" cy="1424940"/>
          </a:xfrm>
          <a:prstGeom prst="rect">
            <a:avLst/>
          </a:prstGeom>
        </p:spPr>
        <p:txBody>
          <a:bodyPr lIns="0" tIns="0" rIns="0" bIns="0" rtlCol="0" anchor="t">
            <a:spAutoFit/>
          </a:bodyPr>
          <a:lstStyle/>
          <a:p>
            <a:pPr algn="l">
              <a:lnSpc>
                <a:spcPts val="11760"/>
              </a:lnSpc>
            </a:pPr>
            <a:r>
              <a:rPr lang="en-US" sz="8400" b="1">
                <a:solidFill>
                  <a:srgbClr val="FFFFFF"/>
                </a:solidFill>
                <a:latin typeface="Muli Bold"/>
                <a:ea typeface="Muli Bold"/>
                <a:cs typeface="Muli Bold"/>
                <a:sym typeface="Muli Bold"/>
              </a:rPr>
              <a:t>KẾT LUẬN</a:t>
            </a:r>
          </a:p>
        </p:txBody>
      </p:sp>
      <p:sp>
        <p:nvSpPr>
          <p:cNvPr id="4" name="TextBox 4"/>
          <p:cNvSpPr txBox="1"/>
          <p:nvPr/>
        </p:nvSpPr>
        <p:spPr>
          <a:xfrm>
            <a:off x="1028700" y="4542295"/>
            <a:ext cx="16697536" cy="1573123"/>
          </a:xfrm>
          <a:prstGeom prst="rect">
            <a:avLst/>
          </a:prstGeom>
        </p:spPr>
        <p:txBody>
          <a:bodyPr lIns="0" tIns="0" rIns="0" bIns="0" rtlCol="0" anchor="t">
            <a:spAutoFit/>
          </a:bodyPr>
          <a:lstStyle/>
          <a:p>
            <a:pPr algn="l">
              <a:lnSpc>
                <a:spcPts val="4200"/>
              </a:lnSpc>
            </a:pPr>
            <a:r>
              <a:rPr lang="en-US" sz="3000" spc="15" dirty="0" err="1">
                <a:solidFill>
                  <a:srgbClr val="FFFFFF"/>
                </a:solidFill>
                <a:latin typeface="Muli Light"/>
                <a:ea typeface="Muli Light"/>
                <a:cs typeface="Muli Light"/>
                <a:sym typeface="Muli Light"/>
              </a:rPr>
              <a:t>Đề</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tài</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đã</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minh</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chứng</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rằng</a:t>
            </a:r>
            <a:r>
              <a:rPr lang="en-US" sz="3000" spc="15" dirty="0">
                <a:solidFill>
                  <a:srgbClr val="FFFFFF"/>
                </a:solidFill>
                <a:latin typeface="Muli Light"/>
                <a:ea typeface="Muli Light"/>
                <a:cs typeface="Muli Light"/>
                <a:sym typeface="Muli Light"/>
              </a:rPr>
              <a:t> Machine Learning </a:t>
            </a:r>
            <a:r>
              <a:rPr lang="en-US" sz="3000" spc="15" dirty="0" err="1">
                <a:solidFill>
                  <a:srgbClr val="FFFFFF"/>
                </a:solidFill>
                <a:latin typeface="Muli Light"/>
                <a:ea typeface="Muli Light"/>
                <a:cs typeface="Muli Light"/>
                <a:sym typeface="Muli Light"/>
              </a:rPr>
              <a:t>có</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thể</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hỗ</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trợ</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hiệu</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quả</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trong</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dự</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đoán</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bệnh</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tiểu</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đường</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Với</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phương</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pháp</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tiền</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xử</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lý</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đúng</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đắn</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và</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mô</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hình</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phù</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hợp</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độ</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chính</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xác</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và</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khả</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năng</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phát</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hiện</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bệnh</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đạt</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mức</a:t>
            </a:r>
            <a:r>
              <a:rPr lang="en-US" sz="3000" spc="15" dirty="0">
                <a:solidFill>
                  <a:srgbClr val="FFFFFF"/>
                </a:solidFill>
                <a:latin typeface="Muli Light"/>
                <a:ea typeface="Muli Light"/>
                <a:cs typeface="Muli Light"/>
                <a:sym typeface="Muli Light"/>
              </a:rPr>
              <a:t> </a:t>
            </a:r>
            <a:r>
              <a:rPr lang="en-US" sz="3000" spc="15" dirty="0" err="1">
                <a:solidFill>
                  <a:srgbClr val="FFFFFF"/>
                </a:solidFill>
                <a:latin typeface="Muli Light"/>
                <a:ea typeface="Muli Light"/>
                <a:cs typeface="Muli Light"/>
                <a:sym typeface="Muli Light"/>
              </a:rPr>
              <a:t>đáng</a:t>
            </a:r>
            <a:r>
              <a:rPr lang="en-US" sz="3000" spc="15" dirty="0">
                <a:solidFill>
                  <a:srgbClr val="FFFFFF"/>
                </a:solidFill>
                <a:latin typeface="Muli Light"/>
                <a:ea typeface="Muli Light"/>
                <a:cs typeface="Muli Light"/>
                <a:sym typeface="Muli Light"/>
              </a:rPr>
              <a:t> tin </a:t>
            </a:r>
            <a:r>
              <a:rPr lang="en-US" sz="3000" spc="15" dirty="0" err="1">
                <a:solidFill>
                  <a:srgbClr val="FFFFFF"/>
                </a:solidFill>
                <a:latin typeface="Muli Light"/>
                <a:ea typeface="Muli Light"/>
                <a:cs typeface="Muli Light"/>
                <a:sym typeface="Muli Light"/>
              </a:rPr>
              <a:t>cậy</a:t>
            </a:r>
            <a:r>
              <a:rPr lang="en-US" sz="3000" spc="15" dirty="0">
                <a:solidFill>
                  <a:srgbClr val="FFFFFF"/>
                </a:solidFill>
                <a:latin typeface="Muli Light"/>
                <a:ea typeface="Muli Light"/>
                <a:cs typeface="Muli Light"/>
                <a:sym typeface="Muli Light"/>
              </a:rPr>
              <a:t> .</a:t>
            </a:r>
          </a:p>
        </p:txBody>
      </p:sp>
      <p:sp>
        <p:nvSpPr>
          <p:cNvPr id="5" name="AutoShape 5"/>
          <p:cNvSpPr/>
          <p:nvPr/>
        </p:nvSpPr>
        <p:spPr>
          <a:xfrm flipH="1">
            <a:off x="9377902" y="8839740"/>
            <a:ext cx="8610163" cy="0"/>
          </a:xfrm>
          <a:prstGeom prst="line">
            <a:avLst/>
          </a:prstGeom>
          <a:ln w="28575" cap="rnd">
            <a:solidFill>
              <a:srgbClr val="86C7ED"/>
            </a:solidFill>
            <a:prstDash val="solid"/>
            <a:headEnd type="none" w="sm" len="sm"/>
            <a:tailEnd type="none" w="sm" len="sm"/>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A066CB"/>
        </a:solidFill>
        <a:effectLst/>
      </p:bgPr>
    </p:bg>
    <p:spTree>
      <p:nvGrpSpPr>
        <p:cNvPr id="1" name=""/>
        <p:cNvGrpSpPr/>
        <p:nvPr/>
      </p:nvGrpSpPr>
      <p:grpSpPr>
        <a:xfrm>
          <a:off x="0" y="0"/>
          <a:ext cx="0" cy="0"/>
          <a:chOff x="0" y="0"/>
          <a:chExt cx="0" cy="0"/>
        </a:xfrm>
      </p:grpSpPr>
      <p:sp>
        <p:nvSpPr>
          <p:cNvPr id="2" name="TextBox 2"/>
          <p:cNvSpPr txBox="1"/>
          <p:nvPr/>
        </p:nvSpPr>
        <p:spPr>
          <a:xfrm>
            <a:off x="8303806" y="3307150"/>
            <a:ext cx="7218583" cy="2364105"/>
          </a:xfrm>
          <a:prstGeom prst="rect">
            <a:avLst/>
          </a:prstGeom>
        </p:spPr>
        <p:txBody>
          <a:bodyPr lIns="0" tIns="0" rIns="0" bIns="0" rtlCol="0" anchor="t">
            <a:spAutoFit/>
          </a:bodyPr>
          <a:lstStyle/>
          <a:p>
            <a:pPr algn="l">
              <a:lnSpc>
                <a:spcPts val="9240"/>
              </a:lnSpc>
            </a:pPr>
            <a:r>
              <a:rPr lang="en-US" sz="8400" b="1">
                <a:solidFill>
                  <a:srgbClr val="FFFFFF"/>
                </a:solidFill>
                <a:latin typeface="Muli Bold"/>
                <a:ea typeface="Muli Bold"/>
                <a:cs typeface="Muli Bold"/>
                <a:sym typeface="Muli Bold"/>
              </a:rPr>
              <a:t>thank you for watching</a:t>
            </a:r>
          </a:p>
        </p:txBody>
      </p:sp>
      <p:grpSp>
        <p:nvGrpSpPr>
          <p:cNvPr id="3" name="Group 3"/>
          <p:cNvGrpSpPr>
            <a:grpSpLocks noChangeAspect="1"/>
          </p:cNvGrpSpPr>
          <p:nvPr/>
        </p:nvGrpSpPr>
        <p:grpSpPr>
          <a:xfrm>
            <a:off x="-4858654" y="-680491"/>
            <a:ext cx="11774707" cy="10196366"/>
            <a:chOff x="0" y="0"/>
            <a:chExt cx="4282440" cy="3708400"/>
          </a:xfrm>
        </p:grpSpPr>
        <p:sp>
          <p:nvSpPr>
            <p:cNvPr id="4" name="Freeform 4"/>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503" r="-14956"/>
              </a:stretch>
            </a:blipFill>
          </p:spPr>
          <p:txBody>
            <a:bodyPr/>
            <a:lstStyle/>
            <a:p>
              <a:endParaRPr lang="en-US"/>
            </a:p>
          </p:txBody>
        </p:sp>
      </p:grpSp>
      <p:grpSp>
        <p:nvGrpSpPr>
          <p:cNvPr id="5" name="Group 5"/>
          <p:cNvGrpSpPr/>
          <p:nvPr/>
        </p:nvGrpSpPr>
        <p:grpSpPr>
          <a:xfrm>
            <a:off x="3524297" y="9515874"/>
            <a:ext cx="15252699" cy="1542251"/>
            <a:chOff x="0" y="0"/>
            <a:chExt cx="53129492" cy="5372100"/>
          </a:xfrm>
        </p:grpSpPr>
        <p:sp>
          <p:nvSpPr>
            <p:cNvPr id="6" name="Freeform 6"/>
            <p:cNvSpPr/>
            <p:nvPr/>
          </p:nvSpPr>
          <p:spPr>
            <a:xfrm>
              <a:off x="0" y="0"/>
              <a:ext cx="53129495" cy="5372100"/>
            </a:xfrm>
            <a:custGeom>
              <a:avLst/>
              <a:gdLst/>
              <a:ahLst/>
              <a:cxnLst/>
              <a:rect l="l" t="t" r="r" b="b"/>
              <a:pathLst>
                <a:path w="53129495" h="5372100">
                  <a:moveTo>
                    <a:pt x="51578821" y="0"/>
                  </a:moveTo>
                  <a:lnTo>
                    <a:pt x="1550670" y="0"/>
                  </a:lnTo>
                  <a:lnTo>
                    <a:pt x="0" y="2686050"/>
                  </a:lnTo>
                  <a:lnTo>
                    <a:pt x="1550670" y="5372100"/>
                  </a:lnTo>
                  <a:lnTo>
                    <a:pt x="51578821" y="5372100"/>
                  </a:lnTo>
                  <a:lnTo>
                    <a:pt x="53129495" y="2686050"/>
                  </a:lnTo>
                  <a:lnTo>
                    <a:pt x="51578821" y="0"/>
                  </a:lnTo>
                  <a:close/>
                </a:path>
              </a:pathLst>
            </a:custGeom>
            <a:solidFill>
              <a:srgbClr val="FFFFFF"/>
            </a:solidFill>
          </p:spPr>
          <p:txBody>
            <a:bodyPr/>
            <a:lstStyle/>
            <a:p>
              <a:endParaRPr lang="en-US"/>
            </a:p>
          </p:txBody>
        </p:sp>
      </p:grpSp>
      <p:sp>
        <p:nvSpPr>
          <p:cNvPr id="7" name="Freeform 7"/>
          <p:cNvSpPr/>
          <p:nvPr/>
        </p:nvSpPr>
        <p:spPr>
          <a:xfrm>
            <a:off x="16160800" y="1028700"/>
            <a:ext cx="1098500" cy="627207"/>
          </a:xfrm>
          <a:custGeom>
            <a:avLst/>
            <a:gdLst/>
            <a:ahLst/>
            <a:cxnLst/>
            <a:rect l="l" t="t" r="r" b="b"/>
            <a:pathLst>
              <a:path w="1098500" h="627207">
                <a:moveTo>
                  <a:pt x="0" y="0"/>
                </a:moveTo>
                <a:lnTo>
                  <a:pt x="1098500" y="0"/>
                </a:lnTo>
                <a:lnTo>
                  <a:pt x="1098500" y="627207"/>
                </a:lnTo>
                <a:lnTo>
                  <a:pt x="0" y="627207"/>
                </a:lnTo>
                <a:lnTo>
                  <a:pt x="0" y="0"/>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TotalTime>
  <Words>2178</Words>
  <Application>Microsoft Office PowerPoint</Application>
  <PresentationFormat>Custom</PresentationFormat>
  <Paragraphs>180</Paragraphs>
  <Slides>20</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vt:i4>
      </vt:variant>
    </vt:vector>
  </HeadingPairs>
  <TitlesOfParts>
    <vt:vector size="32" baseType="lpstr">
      <vt:lpstr>Noto Sans Bold</vt:lpstr>
      <vt:lpstr>Muli Bold</vt:lpstr>
      <vt:lpstr>Noto Sans</vt:lpstr>
      <vt:lpstr>Muli</vt:lpstr>
      <vt:lpstr>Calibri</vt:lpstr>
      <vt:lpstr>Cambria Math</vt:lpstr>
      <vt:lpstr>Muli Light</vt:lpstr>
      <vt:lpstr>Aptos</vt:lpstr>
      <vt:lpstr>Muli Semi-Bold</vt:lpstr>
      <vt:lpstr>Arial</vt:lpstr>
      <vt:lpstr>Muli Ultra-Bold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thuyết trình trình bày ý tưởng Phát triển ứng dụng Khởi nghiệp, Tông màu Xanh dương và Tím, Phong cách Doanh nghiệp</dc:title>
  <cp:lastModifiedBy>Trung Nguyen Trung Nguyen</cp:lastModifiedBy>
  <cp:revision>6</cp:revision>
  <dcterms:created xsi:type="dcterms:W3CDTF">2006-08-16T00:00:00Z</dcterms:created>
  <dcterms:modified xsi:type="dcterms:W3CDTF">2025-12-19T16:43:43Z</dcterms:modified>
  <dc:identifier>DAG6pHAK_KE</dc:identifier>
</cp:coreProperties>
</file>